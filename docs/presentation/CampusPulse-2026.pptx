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051a359-2bbd-e3b1-b16d-c4f5cfc7d40a}">
          <p14:sldIdLst>
            <p14:sldId id="256"/>
            <p14:sldId id="257"/>
            <p14:sldId id="258"/>
          </p14:sldIdLst>
        </p14:section>
        <p14:section name="Architecture" id="{4d4982ca-0a8b-c0ed-e045-81b7a0350fa6}">
          <p14:sldIdLst>
            <p14:sldId id="259"/>
            <p14:sldId id="260"/>
            <p14:sldId id="261"/>
          </p14:sldIdLst>
        </p14:section>
        <p14:section name="Security" id="{d2f5af26-d3ae-ced1-8520-46b3bd8c12b4}">
          <p14:sldIdLst>
            <p14:sldId id="262"/>
            <p14:sldId id="263"/>
            <p14:sldId id="264"/>
          </p14:sldIdLst>
        </p14:section>
        <p14:section name="Operations" id="{d7b4c8d8-a7a1-95ec-8995-b2aa3860fef2}">
          <p14:sldIdLst>
            <p14:sldId id="265"/>
            <p14:sldId id="266"/>
            <p14:sldId id="267"/>
          </p14:sldIdLst>
        </p14:section>
        <p14:section name="Evidence" id="{bc7b6531-3d43-7e8d-da11-c00ee2dbaaef}">
          <p14:sldIdLst>
            <p14:sldId id="268"/>
            <p14:sldId id="269"/>
            <p14:sldId id="270"/>
          </p14:sldIdLst>
        </p14:section>
        <p14:section name="Closing" id="{967557fc-6c25-3d55-36f5-d6ac97d76124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Introduce the team and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The signal is buried in the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These four questions come straight from the brief and frame everything after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Walk left to right, then the three cross-cutting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The NAT Gateway number is the one that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Pause on the override — it is the strongest single idea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Meha. 401 is 'we do not know you'. 403 is 'we know you and the answer is no'.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Meha. The two red cells are the two-role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Meha. A flaw in the exposed function yields 'can add junk', not 'can read everything'.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MD. The bucket holds the page, not the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MD. The fourth alarm watches the budget, not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MD. A cost budget that includes credits reads zero until the credits are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Madhavan. Volunteer the ceiling before anyone asks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Madhavan. Two of these are design guarantees rather than ordinary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Madhavan. One attempt, then the video. Never debug on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Four lessons, then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Somitha. Hand over to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 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CampusPulse 2026 · EPITA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4748B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CampusPulse 2026 · EPITA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4748B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CampusPulse 2026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cloud-native smart campus operations platform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NorthBridge University   ·   Big Data &amp; Cloud Computing   ·   EPITA 2025-2026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86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Somitha Gudivada   ·   Meha   ·   Madhavan   ·   MD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FINAL PROJECT S2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Thousands of readings. Three that matter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21.4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47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18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312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22.1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58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44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19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23.0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51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20.8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33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8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289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21.9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12</a:t>
            </a:r>
            <a:endParaRPr lang="en-US" sz="2400" dirty="0"/>
          </a:p>
        </p:txBody>
      </p:sp>
      <p:sp>
        <p:nvSpPr>
          <p:cNvPr id="21" name="problem"/>
          <p:cNvSpPr/>
          <p:nvPr/>
        </p:nvSpPr>
        <p:spPr>
          <a:xfrm>
            <a:off x="7863840" y="160020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13816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2258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Individually, almost none of these readings matters. The few that do are buried among the ones that do not.</a:t>
            </a:r>
            <a:endParaRPr lang="en-US" sz="1400" dirty="0"/>
          </a:p>
        </p:txBody>
      </p:sp>
      <p:sp>
        <p:nvSpPr>
          <p:cNvPr id="24" name="nobody"/>
          <p:cNvSpPr/>
          <p:nvPr/>
        </p:nvSpPr>
        <p:spPr>
          <a:xfrm>
            <a:off x="7863840" y="32461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38160" y="3447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Nobody can watch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3904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member of staff can scan thousands of values to find the handful that need action now.</a:t>
            </a:r>
            <a:endParaRPr lang="en-US" sz="1400" dirty="0"/>
          </a:p>
        </p:txBody>
      </p:sp>
      <p:sp>
        <p:nvSpPr>
          <p:cNvPr id="28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What the operations team needs to know</a:t>
            </a:r>
            <a:endParaRPr lang="en-US" sz="3800" dirty="0"/>
          </a:p>
        </p:txBody>
      </p:sp>
      <p:sp>
        <p:nvSpPr>
          <p:cNvPr id="3" name="q0"/>
          <p:cNvSpPr/>
          <p:nvPr/>
        </p:nvSpPr>
        <p:spPr>
          <a:xfrm>
            <a:off x="640080" y="16002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801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Which rooms are overloaded?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585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Occupancy against the room's real capacity</a:t>
            </a:r>
            <a:endParaRPr lang="en-US" sz="1400" dirty="0"/>
          </a:p>
        </p:txBody>
      </p:sp>
      <p:sp>
        <p:nvSpPr>
          <p:cNvPr id="6" name="q1"/>
          <p:cNvSpPr/>
          <p:nvPr/>
        </p:nvSpPr>
        <p:spPr>
          <a:xfrm>
            <a:off x="6217920" y="16002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801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Which buildings burn the most energy?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585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Consumption against each building's baseline</a:t>
            </a:r>
            <a:endParaRPr lang="en-US" sz="1400" dirty="0"/>
          </a:p>
        </p:txBody>
      </p:sp>
      <p:sp>
        <p:nvSpPr>
          <p:cNvPr id="9" name="q2"/>
          <p:cNvSpPr/>
          <p:nvPr/>
        </p:nvSpPr>
        <p:spPr>
          <a:xfrm>
            <a:off x="640080" y="352044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7216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is abnormal right now?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788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Temperature, humidity, equipment failures</a:t>
            </a:r>
            <a:endParaRPr lang="en-US" sz="1400" dirty="0"/>
          </a:p>
        </p:txBody>
      </p:sp>
      <p:sp>
        <p:nvSpPr>
          <p:cNvPr id="12" name="q3"/>
          <p:cNvSpPr/>
          <p:nvPr/>
        </p:nvSpPr>
        <p:spPr>
          <a:xfrm>
            <a:off x="6217920" y="352044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7216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Which student requests are urgent?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1788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 set by the person who raised it</a:t>
            </a:r>
            <a:endParaRPr lang="en-US" sz="1400" dirty="0"/>
          </a:p>
        </p:txBody>
      </p:sp>
      <p:sp>
        <p:nvSpPr>
          <p:cNvPr id="16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Architecture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13232" y="224942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615184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campus IoT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834640" y="21031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07792" y="224942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2615184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HTTPS + JWT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02352" y="224942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Lambda ×5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02352" y="2615184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validate, classify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223760" y="21031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96912" y="224942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DynamoDB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2615184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+2 indexes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418320" y="21031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491472" y="224942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91472" y="2615184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S3 static site</a:t>
            </a:r>
            <a:endParaRPr lang="en-US" sz="1000" dirty="0"/>
          </a:p>
        </p:txBody>
      </p:sp>
      <p:sp>
        <p:nvSpPr>
          <p:cNvPr id="22" name="cross0"/>
          <p:cNvSpPr/>
          <p:nvPr/>
        </p:nvSpPr>
        <p:spPr>
          <a:xfrm>
            <a:off x="640080" y="37490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3950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Cognito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407408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identity and roles</a:t>
            </a:r>
            <a:endParaRPr lang="en-US" sz="1400" dirty="0"/>
          </a:p>
        </p:txBody>
      </p:sp>
      <p:sp>
        <p:nvSpPr>
          <p:cNvPr id="25" name="cross1"/>
          <p:cNvSpPr/>
          <p:nvPr/>
        </p:nvSpPr>
        <p:spPr>
          <a:xfrm>
            <a:off x="4389120" y="37490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63440" y="3950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CloudWatch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407408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logs, metrics, 4 alarms</a:t>
            </a:r>
            <a:endParaRPr lang="en-US" sz="1400" dirty="0"/>
          </a:p>
        </p:txBody>
      </p:sp>
      <p:sp>
        <p:nvSpPr>
          <p:cNvPr id="28" name="cross2"/>
          <p:cNvSpPr/>
          <p:nvPr/>
        </p:nvSpPr>
        <p:spPr>
          <a:xfrm>
            <a:off x="8138160" y="37490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0" y="3950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IAM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407408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role per function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Fully serverless  ·  no EC2, no VPC, no NAT Gateway  ·  eu-west-3 (Paris)  ·  nothing bills by the hour</a:t>
            </a:r>
            <a:endParaRPr lang="en-US" sz="1500" dirty="0"/>
          </a:p>
        </p:txBody>
      </p:sp>
      <p:sp>
        <p:nvSpPr>
          <p:cNvPr id="33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Why serverless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Server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</a:rPr>
                        <a:t>Serverless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Cost while idle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03B3B"/>
                          </a:solidFill>
                        </a:rPr>
                        <a:t>full hourly rate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zero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Scaling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you configure 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automatic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You manage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OS, patches, scaling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your function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73736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Bursty workload — idle most of the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100 credits, non-renewable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NAT Gateway alone would cost ~$32/month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 to us: cold starts of 1-3 seconds</a:t>
            </a:r>
            <a:endParaRPr lang="en-US" sz="1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>
            <p:ph idx="103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One event, end to end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1323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26771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2219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JWT check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37667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D03B3B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3115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Classify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8563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DynamoDB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66960" y="173736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4011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7" name="claimed"/>
          <p:cNvSpPr/>
          <p:nvPr/>
        </p:nvSpPr>
        <p:spPr>
          <a:xfrm>
            <a:off x="640080" y="2926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31272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The device said: normal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5844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58 people reported in Library-A / A203, tagged "severity": "normal" by the sensor.</a:t>
            </a:r>
            <a:endParaRPr lang="en-US" sz="1400" dirty="0"/>
          </a:p>
        </p:txBody>
      </p:sp>
      <p:sp>
        <p:nvSpPr>
          <p:cNvPr id="20" name="actual"/>
          <p:cNvSpPr/>
          <p:nvPr/>
        </p:nvSpPr>
        <p:spPr>
          <a:xfrm>
            <a:off x="6126480" y="2926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31272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The server says: critical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5844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A203 holds 45. 58 is 129% of capacity. The client's severity is discarded and recomputed.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1295C"/>
                </a:solidFill>
              </a:rPr>
              <a:t>A sensor must never be able to declare itself normal</a:t>
            </a:r>
            <a:endParaRPr lang="en-US" sz="1700" dirty="0"/>
          </a:p>
        </p:txBody>
      </p:sp>
      <p:sp>
        <p:nvSpPr>
          <p:cNvPr id="25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Security: three independent layers</a:t>
            </a:r>
            <a:endParaRPr lang="en-US" sz="3800" dirty="0"/>
          </a:p>
        </p:txBody>
      </p:sp>
      <p:sp>
        <p:nvSpPr>
          <p:cNvPr id="3" name="layer1"/>
          <p:cNvSpPr/>
          <p:nvPr/>
        </p:nvSpPr>
        <p:spPr>
          <a:xfrm>
            <a:off x="64008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JWT authorizer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we know who you are?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401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Runs before any of our code</a:t>
            </a:r>
            <a:endParaRPr lang="en-US" sz="1200" dirty="0"/>
          </a:p>
        </p:txBody>
      </p:sp>
      <p:sp>
        <p:nvSpPr>
          <p:cNvPr id="10" name="layer2"/>
          <p:cNvSpPr/>
          <p:nvPr/>
        </p:nvSpPr>
        <p:spPr>
          <a:xfrm>
            <a:off x="438912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Group check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May your role do this?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403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Inside the function</a:t>
            </a:r>
            <a:endParaRPr lang="en-US" sz="1200" dirty="0"/>
          </a:p>
        </p:txBody>
      </p:sp>
      <p:sp>
        <p:nvSpPr>
          <p:cNvPr id="17" name="layer3"/>
          <p:cNvSpPr/>
          <p:nvPr/>
        </p:nvSpPr>
        <p:spPr>
          <a:xfrm>
            <a:off x="813816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IAM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May this function touch this?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AccessDenied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Enforced by AWS itself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Each layer is independently sufficient. Defeating one leaves the other two standing.</a:t>
            </a:r>
            <a:endParaRPr lang="en-US" sz="1500" dirty="0"/>
          </a:p>
        </p:txBody>
      </p:sp>
      <p:sp>
        <p:nvSpPr>
          <p:cNvPr id="26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Two roles, genuinely different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</a:rPr>
                        <a:t>ops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staff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Submit sensor events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B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Read alerts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B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Read events and statistics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B"/>
                          </a:solidFill>
                        </a:rPr>
                        <a:t>Raise a service request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A30C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ive"/>
          <p:cNvSpPr/>
          <p:nvPr/>
        </p:nvSpPr>
        <p:spPr>
          <a:xfrm>
            <a:off x="7772400" y="169164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46720" y="1892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Shown live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35000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Slide 15: the same token gets 403 on /alerts and 200 on /events. Demonstrated, not claimed.</a:t>
            </a:r>
            <a:endParaRPr lang="en-US" sz="1400" dirty="0"/>
          </a:p>
        </p:txBody>
      </p:sp>
      <p:sp>
        <p:nvSpPr>
          <p:cNvPr id="7" name="uicontrol"/>
          <p:cNvSpPr/>
          <p:nvPr/>
        </p:nvSpPr>
        <p:spPr>
          <a:xfrm>
            <a:off x="7772400" y="40233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42245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The UI is not the control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6817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Hiding the panel is a convenience. The 403 is the control.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Least privilege, concretely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03B3B"/>
                          </a:solidFill>
                        </a:rPr>
                        <a:t>Cannot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B"/>
                          </a:solidFill>
                        </a:rPr>
                        <a:t>cp-ingest  (internet-facing)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write one 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B"/>
                          </a:solidFill>
                        </a:rPr>
                        <a:t>read anything at 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cp-query, cp-stats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read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B"/>
                          </a:solidFill>
                        </a:rPr>
                        <a:t>write or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cp-auth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call Cognito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touch the database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cp-health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nothing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B"/>
                          </a:solidFill>
                        </a:rPr>
                        <a:t>everything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audit"/>
          <p:cNvSpPr/>
          <p:nvPr/>
        </p:nvSpPr>
        <p:spPr>
          <a:xfrm>
            <a:off x="7772400" y="169164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46720" y="1892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Audited, not assumed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35000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AWS call in the code compared against every permission granted: exact match, no excess, no gaps.</a:t>
            </a:r>
            <a:endParaRPr lang="en-US" sz="1400" dirty="0"/>
          </a:p>
        </p:txBody>
      </p:sp>
      <p:sp>
        <p:nvSpPr>
          <p:cNvPr id="7" name="nocreds"/>
          <p:cNvSpPr/>
          <p:nvPr/>
        </p:nvSpPr>
        <p:spPr>
          <a:xfrm>
            <a:off x="7772400" y="42062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4407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No credentials anywhere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8646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Functions assume roles and receive temporary keys.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The dashboard</a:t>
            </a:r>
            <a:endParaRPr lang="en-US" sz="3800" dirty="0"/>
          </a:p>
        </p:txBody>
      </p:sp>
      <p:sp>
        <p:nvSpPr>
          <p:cNvPr id="3" name="screenshot-slot"/>
          <p:cNvSpPr/>
          <p:nvPr/>
        </p:nvSpPr>
        <p:spPr>
          <a:xfrm>
            <a:off x="640080" y="1600200"/>
            <a:ext cx="722376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31089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[ INSERT DASHBOARD SCREENSHOT 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with a red critical alert visible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7373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KPI tiles, alerts, occupancy, energy, recent events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Refreshes every 10 seconds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Holds no data of its own — everything comes from the API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Polling pauses when hidden: a cost control, not a feature</a:t>
            </a:r>
            <a:endParaRPr lang="en-US" sz="1500" dirty="0"/>
          </a:p>
        </p:txBody>
      </p:sp>
      <p:sp>
        <p:nvSpPr>
          <p:cNvPr id="7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Observability</a:t>
            </a:r>
            <a:endParaRPr lang="en-US" sz="3800" dirty="0"/>
          </a:p>
        </p:txBody>
      </p:sp>
      <p:sp>
        <p:nvSpPr>
          <p:cNvPr id="3" name="alarm0"/>
          <p:cNvSpPr/>
          <p:nvPr/>
        </p:nvSpPr>
        <p:spPr>
          <a:xfrm>
            <a:off x="640080" y="16002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64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ingest-errors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≥1 Lambda error / 5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watches the system</a:t>
            </a:r>
            <a:endParaRPr lang="en-US" sz="1200" dirty="0"/>
          </a:p>
        </p:txBody>
      </p:sp>
      <p:sp>
        <p:nvSpPr>
          <p:cNvPr id="7" name="alarm1"/>
          <p:cNvSpPr/>
          <p:nvPr/>
        </p:nvSpPr>
        <p:spPr>
          <a:xfrm>
            <a:off x="6217920" y="16002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764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api-5xx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≥1 server error / 5 min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watches the front door</a:t>
            </a:r>
            <a:endParaRPr lang="en-US" sz="1200" dirty="0"/>
          </a:p>
        </p:txBody>
      </p:sp>
      <p:sp>
        <p:nvSpPr>
          <p:cNvPr id="11" name="alarm2"/>
          <p:cNvSpPr/>
          <p:nvPr/>
        </p:nvSpPr>
        <p:spPr>
          <a:xfrm>
            <a:off x="640080" y="29718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B219"/>
                </a:solidFill>
              </a:rPr>
              <a:t>alert-burst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≥20 alerts / 5 min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watches the campus</a:t>
            </a:r>
            <a:endParaRPr lang="en-US" sz="1200" dirty="0"/>
          </a:p>
        </p:txBody>
      </p:sp>
      <p:sp>
        <p:nvSpPr>
          <p:cNvPr id="15" name="alarm3"/>
          <p:cNvSpPr/>
          <p:nvPr/>
        </p:nvSpPr>
        <p:spPr>
          <a:xfrm>
            <a:off x="6217920" y="29718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3B3B"/>
                </a:solidFill>
              </a:rPr>
              <a:t>invocation-ceiling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≥2000 calls / 5 min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watches the budget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Structured JSON logs — one request_id ties response, function log and gateway log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Metrics via EMF: the log line is the metric, no extra API call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7-day log retention, set explicitly — the default is never expire</a:t>
            </a:r>
            <a:endParaRPr lang="en-US" sz="1400" dirty="0"/>
          </a:p>
        </p:txBody>
      </p:sp>
      <p:sp>
        <p:nvSpPr>
          <p:cNvPr id="21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Cost control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CA30C"/>
                </a:solidFill>
              </a:rPr>
              <a:t>&lt; $5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estimated, of 100 credits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</a:rPr>
              <a:t>$0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billed per hour — nothing 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7373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03B3B"/>
                </a:solidFill>
              </a:rPr>
              <a:t>~$32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per month avoided: no NAT Gateway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661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EC2, no RDS, no load balancer, no NAT Gateway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 retention 7 days; events expire after 30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Cognito Essentials — the Plus tier has no free tier at all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Budget alert excludes credits, so it tracks real usage rather than reading $0.00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Actual spend: [INSERT]</a:t>
            </a:r>
            <a:endParaRPr lang="en-US" sz="1500" dirty="0"/>
          </a:p>
        </p:txBody>
      </p:sp>
      <p:sp>
        <p:nvSpPr>
          <p:cNvPr id="11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How it scales — and where it breaks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Today: one partition per day</a:t>
            </a:r>
            <a:endParaRPr lang="en-US" sz="1500" dirty="0"/>
          </a:p>
        </p:txBody>
      </p:sp>
      <p:sp>
        <p:nvSpPr>
          <p:cNvPr id="4" name="one-partition"/>
          <p:cNvSpPr/>
          <p:nvPr/>
        </p:nvSpPr>
        <p:spPr>
          <a:xfrm>
            <a:off x="640080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03B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DAY#2026-10-05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3B3B"/>
                </a:solidFill>
              </a:rPr>
              <a:t>~1,000 writes/sec ceiling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The fix: shard the key across ten</a:t>
            </a:r>
            <a:endParaRPr lang="en-US" sz="1500" dirty="0"/>
          </a:p>
        </p:txBody>
      </p:sp>
      <p:sp>
        <p:nvSpPr>
          <p:cNvPr id="8" name="shard0"/>
          <p:cNvSpPr/>
          <p:nvPr/>
        </p:nvSpPr>
        <p:spPr>
          <a:xfrm>
            <a:off x="6400800" y="21031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0CA3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#0</a:t>
            </a:r>
            <a:endParaRPr lang="en-US" sz="1300" dirty="0"/>
          </a:p>
        </p:txBody>
      </p:sp>
      <p:sp>
        <p:nvSpPr>
          <p:cNvPr id="10" name="shard1"/>
          <p:cNvSpPr/>
          <p:nvPr/>
        </p:nvSpPr>
        <p:spPr>
          <a:xfrm>
            <a:off x="7452360" y="21031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0CA3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12" name="shard2"/>
          <p:cNvSpPr/>
          <p:nvPr/>
        </p:nvSpPr>
        <p:spPr>
          <a:xfrm>
            <a:off x="8503920" y="21031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0CA3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14" name="shard3"/>
          <p:cNvSpPr/>
          <p:nvPr/>
        </p:nvSpPr>
        <p:spPr>
          <a:xfrm>
            <a:off x="9555480" y="21031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0CA3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554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16" name="shard4"/>
          <p:cNvSpPr/>
          <p:nvPr/>
        </p:nvSpPr>
        <p:spPr>
          <a:xfrm>
            <a:off x="10607040" y="21031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0CA30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070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…and five more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490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Lambda and DynamoDB scale horizontally, automatically — we configure nothing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shard change touches two files: keys.py and queries.py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 designed it and did not build it — our prototype is nowhere near that volume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1295C"/>
                </a:solidFill>
              </a:rPr>
              <a:t>Knowing where your design breaks is worth more than pretending it does not</a:t>
            </a:r>
            <a:endParaRPr lang="en-US" sz="1600" dirty="0"/>
          </a:p>
        </p:txBody>
      </p:sp>
      <p:sp>
        <p:nvSpPr>
          <p:cNvPr id="22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Testing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131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unit tests · ~1 second · no AWS needed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</a:rPr>
              <a:t>45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API checks against the deployed system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CA30C"/>
                </a:solidFill>
              </a:rPr>
              <a:t>1000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generated events through the real validator</a:t>
            </a:r>
            <a:endParaRPr lang="en-US" sz="1400" dirty="0"/>
          </a:p>
        </p:txBody>
      </p:sp>
      <p:sp>
        <p:nvSpPr>
          <p:cNvPr id="9" name="noscan"/>
          <p:cNvSpPr/>
          <p:nvPr/>
        </p:nvSpPr>
        <p:spPr>
          <a:xfrm>
            <a:off x="640080" y="36576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858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No query can become a Scan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15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Enforced three ways: by the key design, by a unit test, and by IAM — the permission is granted to nobody.</a:t>
            </a:r>
            <a:endParaRPr lang="en-US" sz="1400" dirty="0"/>
          </a:p>
        </p:txBody>
      </p:sp>
      <p:sp>
        <p:nvSpPr>
          <p:cNvPr id="12" name="simvalid"/>
          <p:cNvSpPr/>
          <p:nvPr/>
        </p:nvSpPr>
        <p:spPr>
          <a:xfrm>
            <a:off x="6126480" y="36576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3858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simulator cannot break the demo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315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1000 generated events run through the backend's real validator. Not one is rejected.</a:t>
            </a:r>
            <a:endParaRPr lang="en-US" sz="1400" dirty="0"/>
          </a:p>
        </p:txBody>
      </p:sp>
      <p:sp>
        <p:nvSpPr>
          <p:cNvPr id="16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Live demo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Four minutes · dashboard, simulator, one forced alert, two roles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932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Dashboard, signed in as 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07792" y="4617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07792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50932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Start the simulator — events appear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75504" y="4617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75504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50932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Force an alert — a red row appears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43216" y="4617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43216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50932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Trace it: database, then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10928" y="4617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10928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10928" y="50932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Sign in as staff — the panel is gone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What we learned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</a:rPr>
              <a:t>Deploy earlier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57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Permissions, CORS and token wiring only appear once it is really deployed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97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</a:rPr>
              <a:t>Some bugs only exist visually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08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Our login form rendered under the dashboard. No test would have caught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49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</a:rPr>
              <a:t>Verify numbers, do not quote plausible ones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60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Pricing figures we could not confirm are marked unverified in the report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00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</a:rPr>
              <a:t>Explainable beats clever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12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"58 exceeds 120% of capacity 45" is actionable. "Anomaly score 0.87" is not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2" hasCustomPrompt="1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working cloud-native platform — ingestion, storage, processing, two roles, a dashboard, monitoring, backup and cost control</a:t>
            </a:r>
            <a:endParaRPr lang="en-US" sz="1800" dirty="0"/>
          </a:p>
        </p:txBody>
      </p:sp>
      <p:sp>
        <p:nvSpPr>
          <p:cNvPr id="4" name="closer0"/>
          <p:cNvSpPr/>
          <p:nvPr/>
        </p:nvSpPr>
        <p:spPr>
          <a:xfrm>
            <a:off x="640080" y="49834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084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Secure by design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D4"/>
                </a:solidFill>
              </a:rPr>
              <a:t>not by addition</a:t>
            </a:r>
            <a:endParaRPr lang="en-US" sz="1300" dirty="0"/>
          </a:p>
        </p:txBody>
      </p:sp>
      <p:sp>
        <p:nvSpPr>
          <p:cNvPr id="7" name="closer1"/>
          <p:cNvSpPr/>
          <p:nvPr/>
        </p:nvSpPr>
        <p:spPr>
          <a:xfrm>
            <a:off x="4389120" y="49834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5084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Under $5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D4"/>
                </a:solidFill>
              </a:rPr>
              <a:t>of 100 credits</a:t>
            </a:r>
            <a:endParaRPr lang="en-US" sz="1300" dirty="0"/>
          </a:p>
        </p:txBody>
      </p:sp>
      <p:sp>
        <p:nvSpPr>
          <p:cNvPr id="10" name="closer2"/>
          <p:cNvSpPr/>
          <p:nvPr/>
        </p:nvSpPr>
        <p:spPr>
          <a:xfrm>
            <a:off x="8138160" y="49834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5084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Honest about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D4"/>
                </a:solidFill>
              </a:rPr>
              <a:t>its own limits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Pulse">
  <a:themeElements>
    <a:clrScheme name="CampusPulse">
      <a:dk1>
        <a:srgbClr val="11182B"/>
      </a:dk1>
      <a:lt1>
        <a:srgbClr val="FFFFFF"/>
      </a:lt1>
      <a:dk2>
        <a:srgbClr val="21295C"/>
      </a:dk2>
      <a:lt2>
        <a:srgbClr val="F1F5F9"/>
      </a:lt2>
      <a:accent1>
        <a:srgbClr val="065A82"/>
      </a:accent1>
      <a:accent2>
        <a:srgbClr val="1C7293"/>
      </a:accent2>
      <a:accent3>
        <a:srgbClr val="D03B3B"/>
      </a:accent3>
      <a:accent4>
        <a:srgbClr val="FAB219"/>
      </a:accent4>
      <a:accent5>
        <a:srgbClr val="0CA30C"/>
      </a:accent5>
      <a:accent6>
        <a:srgbClr val="64748B"/>
      </a:accent6>
      <a:hlink>
        <a:srgbClr val="065A82"/>
      </a:hlink>
      <a:folHlink>
        <a:srgbClr val="1C7293"/>
      </a:folHlink>
    </a:clrScheme>
    <a:fontScheme name="Campus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EPITA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2026</dc:title>
  <dc:subject>Cloud Native Smart Campus Operations Platform</dc:subject>
  <dc:creator>Somitha Gudivada, Meha, Madhavan, MD</dc:creator>
  <cp:lastModifiedBy>Somitha Gudivada, Meha, Madhavan, MD</cp:lastModifiedBy>
  <cp:revision>1</cp:revision>
  <dcterms:created xsi:type="dcterms:W3CDTF">2026-10-05T10:14:27Z</dcterms:created>
  <dcterms:modified xsi:type="dcterms:W3CDTF">2026-10-05T10:14:27Z</dcterms:modified>
</cp:coreProperties>
</file>