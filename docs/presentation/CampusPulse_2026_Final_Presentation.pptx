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6"/>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0521FEF-840E-E363-0BBC-7542C6F0857C}">
          <p14:sldIdLst>
            <p14:sldId id="256"/>
          </p14:sldIdLst>
        </p14:section>
        <p14:section name="Somitha — architecture &amp; ingestion" id="{18460401-D658-CA1B-298E-72D5E68D536F}">
          <p14:sldIdLst>
            <p14:sldId id="257"/>
            <p14:sldId id="258"/>
            <p14:sldId id="259"/>
          </p14:sldIdLst>
        </p14:section>
        <p14:section name="Meha — identity &amp; security" id="{33182E09-CBAA-2CF0-13ED-FE7C5064E0AE}">
          <p14:sldIdLst>
            <p14:sldId id="260"/>
            <p14:sldId id="261"/>
            <p14:sldId id="262"/>
          </p14:sldIdLst>
        </p14:section>
        <p14:section name="Madhavan — simulator, testing &amp; demo" id="{0BF90410-152D-B36A-B42C-B3AA5DE64554}">
          <p14:sldIdLst>
            <p14:sldId id="263"/>
            <p14:sldId id="264"/>
            <p14:sldId id="265"/>
          </p14:sldIdLst>
        </p14:section>
        <p14:section name="MD — dashboard, monitoring &amp; cost" id="{54D629F8-A81E-C407-4242-F7DA0C6D5B52}">
          <p14:sldIdLst>
            <p14:sldId id="266"/>
            <p14:sldId id="267"/>
            <p14:sldId id="268"/>
          </p14:sldIdLst>
        </p14:section>
        <p14:section name="Close — everyone" id="{F9F674D9-17A2-9DC9-441E-724AC6C6458B}">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8" d="100"/>
          <a:sy n="68" d="100"/>
        </p:scale>
        <p:origin x="59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6041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SOMITHA (about 15 s): Good morning. We are Team 4, and this is CampusPulse 2026, a platform that monitors a university campus in real time. It is deployed on AWS in Paris, and every number today comes from the running system. Each of us built one part and will present it: I cover architecture and ingestion, Meha security, Madhavan the simulator, tests and demo, and MD the dashboard, monitoring and cost.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SOMITHA (about 30 s): A campus produces thousands of readings a day. Individually they mean nothing; the operations team only needs answers to the four questions on the left. CampusPulse answers them automatically. We delivered a working system: seven API endpoints, five Lambda functions, sixty-one AWS resources in Terraform, and a hundred and seventy-six automated checks, all passing, on a simulated campus of five buildings and eleven rooms.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SOMITHA (about 45 s): This is the deployed system. Users load the dashboard from S3 (1). All API calls, from the browser (2) or the simulator (3), enter through API Gateway, whose JWT authorizer checks the token against Cognito before our code runs (4). Each route goes to one of five small Lambdas (5). cp-ingest writes to DynamoDB (6), query and stats only read (7), and cp-auth talks to Cognito (8). Everything logs to CloudWatch (9). We chose serverless because our load is bursty and our budget fixed: an idle Lambda costs nothing, while a private network would need a NAT Gateway at about thirty-two dollars a month.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SOMITHA (about 45 s): Here is one real event. The simulator reports fifty-eight people in room A203 and labels it normal. cp-ingest validates every field, then discards the client's severity and recomputes it: the room holds forty-five, fifty-eight is a hundred and twenty-nine per cent, above the hundred-and-twenty threshold, so it is stored as critical. A sensor must never be able to declare itself normal. On the right, the data model: one table keyed by day and time, a building index, and a sparse index that contains only alerts. There is no Scan anywhere. Meha will explain who is allowed to send that event.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MEHA (about 40 s): Thank you. Identity is handled by Amazon Cognito. A user, or the simulator, sends an email and password to POST /login. My function, cp-auth, passes them to Cognito, which checks the password, so our code never stores one. Cognito returns a JWT valid for sixty minutes that carries the user's group. Deliberate choices: users are created by an admin only; a wrong password and an unknown user get the same error, so nobody can probe which emails exist; and we chose the Essentials tier because it has ten thousand free monthly users, while Plus has none.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MEHA (about 50 s): Every request passes three independent layers. First, the JWT authorizer: a missing or forged token gets a 401 before any Lambda runs, so fake tokens cost us nothing. Second, the function checks the group in the token: the wrong role gets a 403. 401 means we do not know you; 403 means we know you and the answer is still no. Third, IAM limits what each function can touch. The table shows the two roles really differ: staff cannot submit events or read alerts. On the right is real output from our deployed API: 401 without a token, 403 for staff on alerts, 200 on events.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MEHA (about 40 s): Least privilege in practice: five functions, five roles. cp-ingest, the one facing the internet, can write to one table and cannot read anything; the query functions read but never write; cp-auth only calls Cognito. We audited it: every AWS call in the code against every permission granted, an exact match. Nobody may Scan, and there are no AWS keys in the code. On the right, the IAM policy simulator on the deployed ingest role: PutItem allowed, everything else denied. Madhavan will now show where the events come from.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MADHAVAN (about 40 s): Thank you. With no real sensors, I built a simulator that plays the campus devices. It logs in through Cognito like a user, keeps its token fresh, and sends readings for all five buildings and eleven rooms, with a controllable share of anomalies. It uses only the Python standard library, so nothing can fail to install on demo day, and it refuses to send faster than every half second, to protect our budget. One real bug: force-alert used a range that straddled the critical threshold, so a forced alert sometimes arrived as a warning. We fixed the range and verified it over three hundred events.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MADHAVAN (about 45 s): We test in two layers. A hundred and thirty-one unit tests run in about a second with no AWS account, because the business logic contains no cloud code. Two are design guarantees: no query we build can become a table scan, and a thousand simulated events pass through the real validator. Then forty-five API checks run against the live system for what unit tests cannot see: routing, permissions and tokens. All passed on the fifth of October. The key ones: staff gets 403 on alerts, and an over-capacity event comes back critical even when the client says normal.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MADHAVAN (about 55 s, mostly the demo): [1] The dashboard is open, signed in as ops. [2] I start the simulator; readings stream in and the tiles update within ten seconds. [3] Now I force one alert: the simulator sends one reading pushed well past the critical threshold, while the client still labels it normal. A red critical row appears with the reason in plain words. [4] I sign in as staff: the alerts panel disappears, and the API returns 403 on that route. Hiding the panel is convenience; the 403 is the control. If the network fails, we switch to the backup video. MD, over to you.</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MD (about 40 s): Thank you. This is the dashboard the operations team uses, with real data from our deployment: five tiles, active alerts with their reasons, occupancy against capacity, and energy by building. It is plain HTML, CSS and JavaScript. It polls every ten seconds but stops when the tab is hidden or idle for fifteen minutes, because a forgotten tab would make about seventeen thousand paid requests a day. The page holds no data, so it can sit in a public S3 bucket safely. One lesson: the login form once rendered under the dashboard; every test passed, and we only found it by looking.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MD (about 40 s): To watch the system itself we use CloudWatch. Every function writes structured JSON logs with a request id that also appears in the API access log, so one id ties an error to its whole story. Our metrics come straight out of those log lines with Embedded Metric Format, with no extra API calls. Under simulator load, p95 latency was 133 milliseconds. Four alarms: two watch the system, one watches the campus for a burst of alerts, and one watches the budget, because a runaway loop is a spending problem before it is a technical one.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MD (about 45 s): Cost, with real numbers from the billing console. This month our budget shows a dollar ninety-eight billed against a ten-dollar limit. The credits page shows about fourteen dollars of estimated usage out of a hundred and sixty; that covers the whole account, which also holds other coursework. The forecast alert has already fired, so we know the alarm works. The biggest saving is architectural: no VPC means no NAT Gateway, about thirty-two dollars a month avoided. Nothing in this design bills by the hour. To close, one lesson from each of us.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(about 40 s, in order). SOMITHA: A careful data model shapes every query after it; our partition key and TTL decided our speed and our cost. MEHA: Authentication working is not authorization being correct; we audited every route. MADHAVAN: Testing against the live API found three validation gaps unit tests missed. MD: Some bugs only exist visually; we found one by looking at the page. SOMITHA: Our limits are stated: one region, a write ceiling with a designed fix, threshold rules rather than machine learning. Thank you,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(about 40 s, in order). SOMITHA: A careful data model shapes every query after it; our partition key and TTL decided our speed and our cost. MEHA: Authentication working is not authorization being correct; we audited every route. MADHAVAN: Testing against the live API found three validation gaps unit tests missed. MD: Some bugs only exist visually; we found one by looking at the page. SOMITHA: Our limits are stated: one region, a write ceiling with a designed fix, threshold rules rather than machine learning. Thank you,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136694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5F6F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595360" cy="685800"/>
          </a:xfrm>
          <a:prstGeom prst="rect">
            <a:avLst/>
          </a:prstGeom>
          <a:noFill/>
          <a:ln/>
        </p:spPr>
        <p:txBody>
          <a:bodyPr wrap="square" rtlCol="0"/>
          <a:lstStyle>
            <a:lvl1pPr marL="0" indent="0" algn="l">
              <a:buNone/>
              <a:defRPr lang="en-US" sz="3200" b="1" dirty="0">
                <a:solidFill>
                  <a:srgbClr val="2A7A4A"/>
                </a:solidFill>
                <a:latin typeface="Cambria" pitchFamily="34" charset="0"/>
                <a:ea typeface="Cambria" pitchFamily="34" charset="-122"/>
                <a:cs typeface="Cambria" pitchFamily="34" charset="-120"/>
              </a:defRPr>
            </a:lvl1pPr>
          </a:lstStyle>
          <a:p>
            <a:pPr marL="0" indent="0" algn="l">
              <a:buNone/>
            </a:pPr>
            <a:endParaRPr lang="en-US" sz="32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1000" dirty="0">
                <a:solidFill>
                  <a:srgbClr val="5E6E5E"/>
                </a:solidFill>
                <a:latin typeface="Calibri" pitchFamily="34" charset="0"/>
                <a:ea typeface="Calibri" pitchFamily="34" charset="-122"/>
                <a:cs typeface="Calibri" pitchFamily="34" charset="-120"/>
              </a:rPr>
              <a:t>CampusPulse 2026 · NorthBridge University · Team 4</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E6E5E"/>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E1B"/>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E6E5E"/>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8.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22.png"/><Relationship Id="rId5" Type="http://schemas.openxmlformats.org/officeDocument/2006/relationships/image" Target="../media/image11.png"/><Relationship Id="rId10" Type="http://schemas.openxmlformats.org/officeDocument/2006/relationships/image" Target="../media/image21.png"/><Relationship Id="rId4" Type="http://schemas.openxmlformats.org/officeDocument/2006/relationships/image" Target="../media/image10.pn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778240" y="-1463040"/>
            <a:ext cx="4937760" cy="4937760"/>
          </a:xfrm>
          <a:prstGeom prst="ellipse">
            <a:avLst/>
          </a:prstGeom>
          <a:solidFill>
            <a:srgbClr val="2A7A4A">
              <a:alpha val="45000"/>
            </a:srgbClr>
          </a:solidFill>
          <a:ln w="12700">
            <a:solidFill>
              <a:srgbClr val="2A7A4A">
                <a:alpha val="0"/>
              </a:srgbClr>
            </a:solidFill>
            <a:prstDash val="solid"/>
          </a:ln>
        </p:spPr>
      </p:sp>
      <p:pic>
        <p:nvPicPr>
          <p:cNvPr id="3" name="Image 0" descr="preencoded.png"/>
          <p:cNvPicPr>
            <a:picLocks noChangeAspect="1"/>
          </p:cNvPicPr>
          <p:nvPr/>
        </p:nvPicPr>
        <p:blipFill>
          <a:blip r:embed="rId3"/>
          <a:stretch>
            <a:fillRect/>
          </a:stretch>
        </p:blipFill>
        <p:spPr>
          <a:xfrm>
            <a:off x="731520" y="640080"/>
            <a:ext cx="548640" cy="548640"/>
          </a:xfrm>
          <a:prstGeom prst="rect">
            <a:avLst/>
          </a:prstGeom>
        </p:spPr>
      </p:pic>
      <p:sp>
        <p:nvSpPr>
          <p:cNvPr id="4" name="Text 1"/>
          <p:cNvSpPr txBox="1"/>
          <p:nvPr/>
        </p:nvSpPr>
        <p:spPr>
          <a:xfrm>
            <a:off x="1417320" y="685800"/>
            <a:ext cx="5486400" cy="457200"/>
          </a:xfrm>
          <a:prstGeom prst="rect">
            <a:avLst/>
          </a:prstGeom>
          <a:noFill/>
          <a:ln/>
        </p:spPr>
        <p:txBody>
          <a:bodyPr wrap="square" lIns="0" tIns="0" rIns="0" bIns="0" rtlCol="0" anchor="ctr"/>
          <a:lstStyle/>
          <a:p>
            <a:pPr marL="0" indent="0">
              <a:buNone/>
            </a:pPr>
            <a:r>
              <a:rPr lang="en-US" sz="1500" b="1" kern="0" spc="400" dirty="0">
                <a:solidFill>
                  <a:srgbClr val="A8D5B8"/>
                </a:solidFill>
                <a:latin typeface="Calibri" pitchFamily="34" charset="0"/>
                <a:ea typeface="Calibri" pitchFamily="34" charset="-122"/>
                <a:cs typeface="Calibri" pitchFamily="34" charset="-120"/>
              </a:rPr>
              <a:t>CAMPUSPULSE 2026</a:t>
            </a:r>
            <a:endParaRPr lang="en-US" sz="1500" dirty="0"/>
          </a:p>
        </p:txBody>
      </p:sp>
      <p:sp>
        <p:nvSpPr>
          <p:cNvPr id="5" name="Text 2"/>
          <p:cNvSpPr txBox="1"/>
          <p:nvPr/>
        </p:nvSpPr>
        <p:spPr>
          <a:xfrm>
            <a:off x="731520" y="1463040"/>
            <a:ext cx="8229600" cy="1463040"/>
          </a:xfrm>
          <a:prstGeom prst="rect">
            <a:avLst/>
          </a:prstGeom>
          <a:noFill/>
          <a:ln/>
        </p:spPr>
        <p:txBody>
          <a:bodyPr wrap="square" lIns="0" tIns="0" rIns="0" bIns="0" rtlCol="0" anchor="ctr"/>
          <a:lstStyle/>
          <a:p>
            <a:pPr marL="0" indent="0">
              <a:buNone/>
            </a:pPr>
            <a:r>
              <a:rPr lang="en-US" sz="4000" b="1" dirty="0">
                <a:solidFill>
                  <a:srgbClr val="F2F7F2"/>
                </a:solidFill>
                <a:latin typeface="Cambria" pitchFamily="34" charset="0"/>
                <a:ea typeface="Cambria" pitchFamily="34" charset="-122"/>
                <a:cs typeface="Cambria" pitchFamily="34" charset="-120"/>
              </a:rPr>
              <a:t>A cloud-native smart campus operations platform</a:t>
            </a:r>
            <a:endParaRPr lang="en-US" sz="4000" dirty="0"/>
          </a:p>
        </p:txBody>
      </p:sp>
      <p:sp>
        <p:nvSpPr>
          <p:cNvPr id="6" name="Text 3"/>
          <p:cNvSpPr txBox="1"/>
          <p:nvPr/>
        </p:nvSpPr>
        <p:spPr>
          <a:xfrm>
            <a:off x="731520" y="2926080"/>
            <a:ext cx="8229600" cy="411480"/>
          </a:xfrm>
          <a:prstGeom prst="rect">
            <a:avLst/>
          </a:prstGeom>
          <a:noFill/>
          <a:ln/>
        </p:spPr>
        <p:txBody>
          <a:bodyPr wrap="square" lIns="0" tIns="0" rIns="0" bIns="0" rtlCol="0" anchor="ctr"/>
          <a:lstStyle/>
          <a:p>
            <a:pPr marL="0" indent="0">
              <a:buNone/>
            </a:pPr>
            <a:r>
              <a:rPr lang="en-US" sz="1800" i="1" dirty="0">
                <a:solidFill>
                  <a:srgbClr val="E8C08A"/>
                </a:solidFill>
                <a:latin typeface="Calibri" pitchFamily="34" charset="0"/>
                <a:ea typeface="Calibri" pitchFamily="34" charset="-122"/>
                <a:cs typeface="Calibri" pitchFamily="34" charset="-120"/>
              </a:rPr>
              <a:t>Built, deployed and tested on AWS — eu-west-3 (Paris)</a:t>
            </a:r>
            <a:endParaRPr lang="en-US" sz="1800" dirty="0"/>
          </a:p>
        </p:txBody>
      </p:sp>
      <p:sp>
        <p:nvSpPr>
          <p:cNvPr id="7" name="Text 4"/>
          <p:cNvSpPr txBox="1"/>
          <p:nvPr/>
        </p:nvSpPr>
        <p:spPr>
          <a:xfrm>
            <a:off x="731520" y="3383280"/>
            <a:ext cx="8229600" cy="320040"/>
          </a:xfrm>
          <a:prstGeom prst="rect">
            <a:avLst/>
          </a:prstGeom>
          <a:noFill/>
          <a:ln/>
        </p:spPr>
        <p:txBody>
          <a:bodyPr wrap="square" lIns="0" tIns="0" rIns="0" bIns="0" rtlCol="0" anchor="ctr"/>
          <a:lstStyle/>
          <a:p>
            <a:pPr marL="0" indent="0">
              <a:buNone/>
            </a:pPr>
            <a:r>
              <a:rPr lang="en-US" sz="1400" dirty="0" smtClean="0">
                <a:solidFill>
                  <a:srgbClr val="C9DCC9"/>
                </a:solidFill>
                <a:latin typeface="Calibri" pitchFamily="34" charset="0"/>
                <a:ea typeface="Calibri" pitchFamily="34" charset="-122"/>
                <a:cs typeface="Calibri" pitchFamily="34" charset="-120"/>
              </a:rPr>
              <a:t>Big Data Infrastructure </a:t>
            </a:r>
            <a:r>
              <a:rPr lang="en-US" sz="1400" dirty="0">
                <a:solidFill>
                  <a:srgbClr val="C9DCC9"/>
                </a:solidFill>
                <a:latin typeface="Calibri" pitchFamily="34" charset="0"/>
                <a:ea typeface="Calibri" pitchFamily="34" charset="-122"/>
                <a:cs typeface="Calibri" pitchFamily="34" charset="-120"/>
              </a:rPr>
              <a:t>&amp; Cloud </a:t>
            </a:r>
            <a:r>
              <a:rPr lang="en-US" sz="1400" dirty="0" smtClean="0">
                <a:solidFill>
                  <a:srgbClr val="C9DCC9"/>
                </a:solidFill>
                <a:latin typeface="Calibri" pitchFamily="34" charset="0"/>
                <a:ea typeface="Calibri" pitchFamily="34" charset="-122"/>
                <a:cs typeface="Calibri" pitchFamily="34" charset="-120"/>
              </a:rPr>
              <a:t>Computing</a:t>
            </a:r>
            <a:endParaRPr lang="en-US" sz="1400" dirty="0"/>
          </a:p>
        </p:txBody>
      </p:sp>
      <p:sp>
        <p:nvSpPr>
          <p:cNvPr id="8" name="Shape 5"/>
          <p:cNvSpPr/>
          <p:nvPr/>
        </p:nvSpPr>
        <p:spPr>
          <a:xfrm>
            <a:off x="731520" y="4343400"/>
            <a:ext cx="2560320" cy="1600200"/>
          </a:xfrm>
          <a:prstGeom prst="roundRect">
            <a:avLst>
              <a:gd name="adj" fmla="val 4571"/>
            </a:avLst>
          </a:prstGeom>
          <a:solidFill>
            <a:srgbClr val="263D26"/>
          </a:solidFill>
          <a:ln w="12700">
            <a:solidFill>
              <a:srgbClr val="4A7A4A"/>
            </a:solidFill>
            <a:prstDash val="solid"/>
          </a:ln>
        </p:spPr>
      </p:sp>
      <p:sp>
        <p:nvSpPr>
          <p:cNvPr id="9" name="Shape 6"/>
          <p:cNvSpPr/>
          <p:nvPr/>
        </p:nvSpPr>
        <p:spPr>
          <a:xfrm>
            <a:off x="914400" y="4526280"/>
            <a:ext cx="457200" cy="457200"/>
          </a:xfrm>
          <a:prstGeom prst="ellipse">
            <a:avLst/>
          </a:prstGeom>
          <a:solidFill>
            <a:srgbClr val="2A7A4A"/>
          </a:solidFill>
          <a:ln w="12700">
            <a:solidFill>
              <a:srgbClr val="F2F7F2"/>
            </a:solidFill>
            <a:prstDash val="solid"/>
          </a:ln>
        </p:spPr>
      </p:sp>
      <p:sp>
        <p:nvSpPr>
          <p:cNvPr id="10" name="Text 7"/>
          <p:cNvSpPr txBox="1"/>
          <p:nvPr/>
        </p:nvSpPr>
        <p:spPr>
          <a:xfrm>
            <a:off x="914400" y="452628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SG</a:t>
            </a:r>
            <a:endParaRPr lang="en-US" sz="1200" dirty="0"/>
          </a:p>
        </p:txBody>
      </p:sp>
      <p:sp>
        <p:nvSpPr>
          <p:cNvPr id="11" name="Text 8"/>
          <p:cNvSpPr txBox="1"/>
          <p:nvPr/>
        </p:nvSpPr>
        <p:spPr>
          <a:xfrm>
            <a:off x="1508760" y="4553712"/>
            <a:ext cx="1691640" cy="411480"/>
          </a:xfrm>
          <a:prstGeom prst="rect">
            <a:avLst/>
          </a:prstGeom>
          <a:noFill/>
          <a:ln/>
        </p:spPr>
        <p:txBody>
          <a:bodyPr wrap="square" lIns="0" tIns="0" rIns="0" bIns="0" rtlCol="0" anchor="ctr"/>
          <a:lstStyle/>
          <a:p>
            <a:pPr marL="0" indent="0">
              <a:buNone/>
            </a:pPr>
            <a:r>
              <a:rPr lang="en-US" sz="1500" b="1" dirty="0">
                <a:solidFill>
                  <a:srgbClr val="F2F7F2"/>
                </a:solidFill>
                <a:latin typeface="Calibri" pitchFamily="34" charset="0"/>
                <a:ea typeface="Calibri" pitchFamily="34" charset="-122"/>
                <a:cs typeface="Calibri" pitchFamily="34" charset="-120"/>
              </a:rPr>
              <a:t>Somitha Gudivada</a:t>
            </a:r>
            <a:endParaRPr lang="en-US" sz="1500" dirty="0"/>
          </a:p>
        </p:txBody>
      </p:sp>
      <p:sp>
        <p:nvSpPr>
          <p:cNvPr id="12" name="Text 9"/>
          <p:cNvSpPr txBox="1"/>
          <p:nvPr/>
        </p:nvSpPr>
        <p:spPr>
          <a:xfrm>
            <a:off x="914400" y="5120640"/>
            <a:ext cx="2240280" cy="320040"/>
          </a:xfrm>
          <a:prstGeom prst="rect">
            <a:avLst/>
          </a:prstGeom>
          <a:noFill/>
          <a:ln/>
        </p:spPr>
        <p:txBody>
          <a:bodyPr wrap="square" lIns="0" tIns="0" rIns="0" bIns="0" rtlCol="0" anchor="ctr"/>
          <a:lstStyle/>
          <a:p>
            <a:pPr marL="0" indent="0">
              <a:buNone/>
            </a:pPr>
            <a:r>
              <a:rPr lang="en-US" sz="1300" dirty="0">
                <a:solidFill>
                  <a:srgbClr val="C9DCC9"/>
                </a:solidFill>
                <a:latin typeface="Calibri" pitchFamily="34" charset="0"/>
                <a:ea typeface="Calibri" pitchFamily="34" charset="-122"/>
                <a:cs typeface="Calibri" pitchFamily="34" charset="-120"/>
              </a:rPr>
              <a:t>Architecture &amp; ingestion</a:t>
            </a:r>
            <a:endParaRPr lang="en-US" sz="1300" dirty="0"/>
          </a:p>
        </p:txBody>
      </p:sp>
      <p:sp>
        <p:nvSpPr>
          <p:cNvPr id="14" name="Shape 11"/>
          <p:cNvSpPr/>
          <p:nvPr/>
        </p:nvSpPr>
        <p:spPr>
          <a:xfrm>
            <a:off x="3474720" y="4343400"/>
            <a:ext cx="2560320" cy="1600200"/>
          </a:xfrm>
          <a:prstGeom prst="roundRect">
            <a:avLst>
              <a:gd name="adj" fmla="val 4571"/>
            </a:avLst>
          </a:prstGeom>
          <a:solidFill>
            <a:srgbClr val="263D26"/>
          </a:solidFill>
          <a:ln w="12700">
            <a:solidFill>
              <a:srgbClr val="4A7A4A"/>
            </a:solidFill>
            <a:prstDash val="solid"/>
          </a:ln>
        </p:spPr>
      </p:sp>
      <p:sp>
        <p:nvSpPr>
          <p:cNvPr id="15" name="Shape 12"/>
          <p:cNvSpPr/>
          <p:nvPr/>
        </p:nvSpPr>
        <p:spPr>
          <a:xfrm>
            <a:off x="3657600" y="4526280"/>
            <a:ext cx="457200" cy="457200"/>
          </a:xfrm>
          <a:prstGeom prst="ellipse">
            <a:avLst/>
          </a:prstGeom>
          <a:solidFill>
            <a:srgbClr val="6A4898"/>
          </a:solidFill>
          <a:ln w="12700">
            <a:solidFill>
              <a:srgbClr val="F2F7F2"/>
            </a:solidFill>
            <a:prstDash val="solid"/>
          </a:ln>
        </p:spPr>
      </p:sp>
      <p:sp>
        <p:nvSpPr>
          <p:cNvPr id="16" name="Text 13"/>
          <p:cNvSpPr txBox="1"/>
          <p:nvPr/>
        </p:nvSpPr>
        <p:spPr>
          <a:xfrm>
            <a:off x="3657600" y="452628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ME</a:t>
            </a:r>
            <a:endParaRPr lang="en-US" sz="1200" dirty="0"/>
          </a:p>
        </p:txBody>
      </p:sp>
      <p:sp>
        <p:nvSpPr>
          <p:cNvPr id="17" name="Text 14"/>
          <p:cNvSpPr txBox="1"/>
          <p:nvPr/>
        </p:nvSpPr>
        <p:spPr>
          <a:xfrm>
            <a:off x="4251960" y="4553712"/>
            <a:ext cx="1691640" cy="411480"/>
          </a:xfrm>
          <a:prstGeom prst="rect">
            <a:avLst/>
          </a:prstGeom>
          <a:noFill/>
          <a:ln/>
        </p:spPr>
        <p:txBody>
          <a:bodyPr wrap="square" lIns="0" tIns="0" rIns="0" bIns="0" rtlCol="0" anchor="ctr"/>
          <a:lstStyle/>
          <a:p>
            <a:pPr marL="0" indent="0">
              <a:buNone/>
            </a:pPr>
            <a:r>
              <a:rPr lang="en-US" sz="1500" b="1" dirty="0">
                <a:solidFill>
                  <a:srgbClr val="F2F7F2"/>
                </a:solidFill>
                <a:latin typeface="Calibri" pitchFamily="34" charset="0"/>
                <a:ea typeface="Calibri" pitchFamily="34" charset="-122"/>
                <a:cs typeface="Calibri" pitchFamily="34" charset="-120"/>
              </a:rPr>
              <a:t>Meha</a:t>
            </a:r>
            <a:endParaRPr lang="en-US" sz="1500" dirty="0"/>
          </a:p>
        </p:txBody>
      </p:sp>
      <p:sp>
        <p:nvSpPr>
          <p:cNvPr id="18" name="Text 15"/>
          <p:cNvSpPr txBox="1"/>
          <p:nvPr/>
        </p:nvSpPr>
        <p:spPr>
          <a:xfrm>
            <a:off x="3657600" y="5120640"/>
            <a:ext cx="2240280" cy="320040"/>
          </a:xfrm>
          <a:prstGeom prst="rect">
            <a:avLst/>
          </a:prstGeom>
          <a:noFill/>
          <a:ln/>
        </p:spPr>
        <p:txBody>
          <a:bodyPr wrap="square" lIns="0" tIns="0" rIns="0" bIns="0" rtlCol="0" anchor="ctr"/>
          <a:lstStyle/>
          <a:p>
            <a:pPr marL="0" indent="0">
              <a:buNone/>
            </a:pPr>
            <a:r>
              <a:rPr lang="en-US" sz="1300" dirty="0">
                <a:solidFill>
                  <a:srgbClr val="C9DCC9"/>
                </a:solidFill>
                <a:latin typeface="Calibri" pitchFamily="34" charset="0"/>
                <a:ea typeface="Calibri" pitchFamily="34" charset="-122"/>
                <a:cs typeface="Calibri" pitchFamily="34" charset="-120"/>
              </a:rPr>
              <a:t>Identity &amp; security</a:t>
            </a:r>
            <a:endParaRPr lang="en-US" sz="1300" dirty="0"/>
          </a:p>
        </p:txBody>
      </p:sp>
      <p:sp>
        <p:nvSpPr>
          <p:cNvPr id="20" name="Shape 17"/>
          <p:cNvSpPr/>
          <p:nvPr/>
        </p:nvSpPr>
        <p:spPr>
          <a:xfrm>
            <a:off x="6217920" y="4343400"/>
            <a:ext cx="2560320" cy="1600200"/>
          </a:xfrm>
          <a:prstGeom prst="roundRect">
            <a:avLst>
              <a:gd name="adj" fmla="val 4571"/>
            </a:avLst>
          </a:prstGeom>
          <a:solidFill>
            <a:srgbClr val="263D26"/>
          </a:solidFill>
          <a:ln w="12700">
            <a:solidFill>
              <a:srgbClr val="4A7A4A"/>
            </a:solidFill>
            <a:prstDash val="solid"/>
          </a:ln>
        </p:spPr>
      </p:sp>
      <p:sp>
        <p:nvSpPr>
          <p:cNvPr id="21" name="Shape 18"/>
          <p:cNvSpPr/>
          <p:nvPr/>
        </p:nvSpPr>
        <p:spPr>
          <a:xfrm>
            <a:off x="6400800" y="4526280"/>
            <a:ext cx="457200" cy="457200"/>
          </a:xfrm>
          <a:prstGeom prst="ellipse">
            <a:avLst/>
          </a:prstGeom>
          <a:solidFill>
            <a:srgbClr val="3A6888"/>
          </a:solidFill>
          <a:ln w="12700">
            <a:solidFill>
              <a:srgbClr val="F2F7F2"/>
            </a:solidFill>
            <a:prstDash val="solid"/>
          </a:ln>
        </p:spPr>
      </p:sp>
      <p:sp>
        <p:nvSpPr>
          <p:cNvPr id="22" name="Text 19"/>
          <p:cNvSpPr txBox="1"/>
          <p:nvPr/>
        </p:nvSpPr>
        <p:spPr>
          <a:xfrm>
            <a:off x="6400800" y="452628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MA</a:t>
            </a:r>
            <a:endParaRPr lang="en-US" sz="1200" dirty="0"/>
          </a:p>
        </p:txBody>
      </p:sp>
      <p:sp>
        <p:nvSpPr>
          <p:cNvPr id="23" name="Text 20"/>
          <p:cNvSpPr txBox="1"/>
          <p:nvPr/>
        </p:nvSpPr>
        <p:spPr>
          <a:xfrm>
            <a:off x="6995160" y="4553712"/>
            <a:ext cx="1691640" cy="411480"/>
          </a:xfrm>
          <a:prstGeom prst="rect">
            <a:avLst/>
          </a:prstGeom>
          <a:noFill/>
          <a:ln/>
        </p:spPr>
        <p:txBody>
          <a:bodyPr wrap="square" lIns="0" tIns="0" rIns="0" bIns="0" rtlCol="0" anchor="ctr"/>
          <a:lstStyle/>
          <a:p>
            <a:pPr marL="0" indent="0">
              <a:buNone/>
            </a:pPr>
            <a:r>
              <a:rPr lang="en-US" sz="1500" b="1" dirty="0">
                <a:solidFill>
                  <a:srgbClr val="F2F7F2"/>
                </a:solidFill>
                <a:latin typeface="Calibri" pitchFamily="34" charset="0"/>
                <a:ea typeface="Calibri" pitchFamily="34" charset="-122"/>
                <a:cs typeface="Calibri" pitchFamily="34" charset="-120"/>
              </a:rPr>
              <a:t>Madhavan</a:t>
            </a:r>
            <a:endParaRPr lang="en-US" sz="1500" dirty="0"/>
          </a:p>
        </p:txBody>
      </p:sp>
      <p:sp>
        <p:nvSpPr>
          <p:cNvPr id="24" name="Text 21"/>
          <p:cNvSpPr txBox="1"/>
          <p:nvPr/>
        </p:nvSpPr>
        <p:spPr>
          <a:xfrm>
            <a:off x="6400800" y="5120640"/>
            <a:ext cx="2240280" cy="320040"/>
          </a:xfrm>
          <a:prstGeom prst="rect">
            <a:avLst/>
          </a:prstGeom>
          <a:noFill/>
          <a:ln/>
        </p:spPr>
        <p:txBody>
          <a:bodyPr wrap="square" lIns="0" tIns="0" rIns="0" bIns="0" rtlCol="0" anchor="ctr"/>
          <a:lstStyle/>
          <a:p>
            <a:pPr marL="0" indent="0">
              <a:buNone/>
            </a:pPr>
            <a:r>
              <a:rPr lang="en-US" sz="1300" dirty="0">
                <a:solidFill>
                  <a:srgbClr val="C9DCC9"/>
                </a:solidFill>
                <a:latin typeface="Calibri" pitchFamily="34" charset="0"/>
                <a:ea typeface="Calibri" pitchFamily="34" charset="-122"/>
                <a:cs typeface="Calibri" pitchFamily="34" charset="-120"/>
              </a:rPr>
              <a:t>Simulator, testing &amp; demo</a:t>
            </a:r>
            <a:endParaRPr lang="en-US" sz="1300" dirty="0"/>
          </a:p>
        </p:txBody>
      </p:sp>
      <p:sp>
        <p:nvSpPr>
          <p:cNvPr id="26" name="Shape 23"/>
          <p:cNvSpPr/>
          <p:nvPr/>
        </p:nvSpPr>
        <p:spPr>
          <a:xfrm>
            <a:off x="8961120" y="4343400"/>
            <a:ext cx="2560320" cy="1600200"/>
          </a:xfrm>
          <a:prstGeom prst="roundRect">
            <a:avLst>
              <a:gd name="adj" fmla="val 4571"/>
            </a:avLst>
          </a:prstGeom>
          <a:solidFill>
            <a:srgbClr val="263D26"/>
          </a:solidFill>
          <a:ln w="12700">
            <a:solidFill>
              <a:srgbClr val="4A7A4A"/>
            </a:solidFill>
            <a:prstDash val="solid"/>
          </a:ln>
        </p:spPr>
      </p:sp>
      <p:sp>
        <p:nvSpPr>
          <p:cNvPr id="27" name="Shape 24"/>
          <p:cNvSpPr/>
          <p:nvPr/>
        </p:nvSpPr>
        <p:spPr>
          <a:xfrm>
            <a:off x="9144000" y="4526280"/>
            <a:ext cx="457200" cy="457200"/>
          </a:xfrm>
          <a:prstGeom prst="ellipse">
            <a:avLst/>
          </a:prstGeom>
          <a:solidFill>
            <a:srgbClr val="B05E10"/>
          </a:solidFill>
          <a:ln w="12700">
            <a:solidFill>
              <a:srgbClr val="F2F7F2"/>
            </a:solidFill>
            <a:prstDash val="solid"/>
          </a:ln>
        </p:spPr>
      </p:sp>
      <p:sp>
        <p:nvSpPr>
          <p:cNvPr id="28" name="Text 25"/>
          <p:cNvSpPr txBox="1"/>
          <p:nvPr/>
        </p:nvSpPr>
        <p:spPr>
          <a:xfrm>
            <a:off x="9144000" y="452628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MD</a:t>
            </a:r>
            <a:endParaRPr lang="en-US" sz="1200" dirty="0"/>
          </a:p>
        </p:txBody>
      </p:sp>
      <p:sp>
        <p:nvSpPr>
          <p:cNvPr id="29" name="Text 26"/>
          <p:cNvSpPr txBox="1"/>
          <p:nvPr/>
        </p:nvSpPr>
        <p:spPr>
          <a:xfrm>
            <a:off x="9738360" y="4553712"/>
            <a:ext cx="1691640" cy="411480"/>
          </a:xfrm>
          <a:prstGeom prst="rect">
            <a:avLst/>
          </a:prstGeom>
          <a:noFill/>
          <a:ln/>
        </p:spPr>
        <p:txBody>
          <a:bodyPr wrap="square" lIns="0" tIns="0" rIns="0" bIns="0" rtlCol="0" anchor="ctr"/>
          <a:lstStyle/>
          <a:p>
            <a:pPr marL="0" indent="0">
              <a:buNone/>
            </a:pPr>
            <a:r>
              <a:rPr lang="en-US" sz="1500" b="1" dirty="0">
                <a:solidFill>
                  <a:srgbClr val="F2F7F2"/>
                </a:solidFill>
                <a:latin typeface="Calibri" pitchFamily="34" charset="0"/>
                <a:ea typeface="Calibri" pitchFamily="34" charset="-122"/>
                <a:cs typeface="Calibri" pitchFamily="34" charset="-120"/>
              </a:rPr>
              <a:t>MD</a:t>
            </a:r>
            <a:endParaRPr lang="en-US" sz="1500" dirty="0"/>
          </a:p>
        </p:txBody>
      </p:sp>
      <p:sp>
        <p:nvSpPr>
          <p:cNvPr id="30" name="Text 27"/>
          <p:cNvSpPr txBox="1"/>
          <p:nvPr/>
        </p:nvSpPr>
        <p:spPr>
          <a:xfrm>
            <a:off x="9144000" y="5120640"/>
            <a:ext cx="2240280" cy="320040"/>
          </a:xfrm>
          <a:prstGeom prst="rect">
            <a:avLst/>
          </a:prstGeom>
          <a:noFill/>
          <a:ln/>
        </p:spPr>
        <p:txBody>
          <a:bodyPr wrap="square" lIns="0" tIns="0" rIns="0" bIns="0" rtlCol="0" anchor="ctr"/>
          <a:lstStyle/>
          <a:p>
            <a:pPr marL="0" indent="0">
              <a:buNone/>
            </a:pPr>
            <a:r>
              <a:rPr lang="en-US" sz="1300" dirty="0">
                <a:solidFill>
                  <a:srgbClr val="C9DCC9"/>
                </a:solidFill>
                <a:latin typeface="Calibri" pitchFamily="34" charset="0"/>
                <a:ea typeface="Calibri" pitchFamily="34" charset="-122"/>
                <a:cs typeface="Calibri" pitchFamily="34" charset="-120"/>
              </a:rPr>
              <a:t>Dashboard, monitoring &amp; cost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595360" cy="685800"/>
          </a:xfrm>
          <a:prstGeom prst="rect">
            <a:avLst/>
          </a:prstGeom>
          <a:noFill/>
          <a:ln/>
        </p:spPr>
        <p:txBody>
          <a:bodyPr wrap="square" lIns="0" tIns="0" rIns="0" bIns="0" rtlCol="0" anchor="ctr"/>
          <a:lstStyle/>
          <a:p>
            <a:pPr marL="0" indent="0" algn="l">
              <a:buNone/>
            </a:pPr>
            <a:r>
              <a:rPr lang="en-US" sz="3200" b="1" dirty="0">
                <a:solidFill>
                  <a:srgbClr val="2A7A4A"/>
                </a:solidFill>
                <a:latin typeface="Cambria" pitchFamily="34" charset="0"/>
                <a:ea typeface="Cambria" pitchFamily="34" charset="-122"/>
                <a:cs typeface="Cambria" pitchFamily="34" charset="-120"/>
              </a:rPr>
              <a:t>The problem and what we delivered</a:t>
            </a:r>
            <a:endParaRPr lang="en-US" sz="3200" dirty="0"/>
          </a:p>
        </p:txBody>
      </p:sp>
      <p:sp>
        <p:nvSpPr>
          <p:cNvPr id="3" name="Shape 1"/>
          <p:cNvSpPr/>
          <p:nvPr/>
        </p:nvSpPr>
        <p:spPr>
          <a:xfrm>
            <a:off x="9281160" y="429768"/>
            <a:ext cx="2377440" cy="457200"/>
          </a:xfrm>
          <a:prstGeom prst="roundRect">
            <a:avLst>
              <a:gd name="adj" fmla="val 50000"/>
            </a:avLst>
          </a:prstGeom>
          <a:solidFill>
            <a:srgbClr val="FFFFFF"/>
          </a:solidFill>
          <a:ln w="15875">
            <a:solidFill>
              <a:srgbClr val="2A7A4A"/>
            </a:solidFill>
            <a:prstDash val="solid"/>
          </a:ln>
        </p:spPr>
      </p:sp>
      <p:sp>
        <p:nvSpPr>
          <p:cNvPr id="4" name="Shape 2"/>
          <p:cNvSpPr/>
          <p:nvPr/>
        </p:nvSpPr>
        <p:spPr>
          <a:xfrm>
            <a:off x="9326880" y="475488"/>
            <a:ext cx="365760" cy="365760"/>
          </a:xfrm>
          <a:prstGeom prst="ellipse">
            <a:avLst/>
          </a:prstGeom>
          <a:solidFill>
            <a:srgbClr val="2A7A4A"/>
          </a:solidFill>
          <a:ln w="12700">
            <a:solidFill>
              <a:srgbClr val="2A7A4A"/>
            </a:solidFill>
            <a:prstDash val="solid"/>
          </a:ln>
        </p:spPr>
      </p:sp>
      <p:sp>
        <p:nvSpPr>
          <p:cNvPr id="5" name="Text 3"/>
          <p:cNvSpPr txBox="1"/>
          <p:nvPr/>
        </p:nvSpPr>
        <p:spPr>
          <a:xfrm>
            <a:off x="9326880" y="475488"/>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SG</a:t>
            </a:r>
            <a:endParaRPr lang="en-US" sz="1000" dirty="0"/>
          </a:p>
        </p:txBody>
      </p:sp>
      <p:sp>
        <p:nvSpPr>
          <p:cNvPr id="6" name="Text 4"/>
          <p:cNvSpPr txBox="1"/>
          <p:nvPr/>
        </p:nvSpPr>
        <p:spPr>
          <a:xfrm>
            <a:off x="9784080" y="457200"/>
            <a:ext cx="1737360" cy="402336"/>
          </a:xfrm>
          <a:prstGeom prst="rect">
            <a:avLst/>
          </a:prstGeom>
          <a:noFill/>
          <a:ln/>
        </p:spPr>
        <p:txBody>
          <a:bodyPr wrap="square" lIns="0" tIns="0" rIns="0" bIns="0" rtlCol="0" anchor="ctr"/>
          <a:lstStyle/>
          <a:p>
            <a:pPr marL="0" indent="0">
              <a:buNone/>
            </a:pPr>
            <a:r>
              <a:rPr lang="en-US" sz="1200" b="1" dirty="0" smtClean="0">
                <a:solidFill>
                  <a:srgbClr val="2A7A4A"/>
                </a:solidFill>
                <a:latin typeface="Calibri" pitchFamily="34" charset="0"/>
                <a:ea typeface="Calibri" pitchFamily="34" charset="-122"/>
                <a:cs typeface="Calibri" pitchFamily="34" charset="-120"/>
              </a:rPr>
              <a:t>Somitha</a:t>
            </a:r>
            <a:endParaRPr lang="en-US" sz="1200" dirty="0"/>
          </a:p>
        </p:txBody>
      </p:sp>
      <p:sp>
        <p:nvSpPr>
          <p:cNvPr id="7" name="Shape 5"/>
          <p:cNvSpPr/>
          <p:nvPr/>
        </p:nvSpPr>
        <p:spPr>
          <a:xfrm>
            <a:off x="548640" y="1234440"/>
            <a:ext cx="5303520" cy="3840480"/>
          </a:xfrm>
          <a:prstGeom prst="roundRect">
            <a:avLst>
              <a:gd name="adj" fmla="val 1905"/>
            </a:avLst>
          </a:prstGeom>
          <a:solidFill>
            <a:srgbClr val="FFFFFF"/>
          </a:solidFill>
          <a:ln w="12700">
            <a:solidFill>
              <a:srgbClr val="C8D5C8"/>
            </a:solidFill>
            <a:prstDash val="solid"/>
          </a:ln>
        </p:spPr>
      </p:sp>
      <p:sp>
        <p:nvSpPr>
          <p:cNvPr id="8" name="Text 6"/>
          <p:cNvSpPr txBox="1"/>
          <p:nvPr/>
        </p:nvSpPr>
        <p:spPr>
          <a:xfrm>
            <a:off x="822960" y="1417320"/>
            <a:ext cx="4846320" cy="365760"/>
          </a:xfrm>
          <a:prstGeom prst="rect">
            <a:avLst/>
          </a:prstGeom>
          <a:noFill/>
          <a:ln/>
        </p:spPr>
        <p:txBody>
          <a:bodyPr wrap="square" lIns="0" tIns="0" rIns="0" bIns="0" rtlCol="0" anchor="ctr"/>
          <a:lstStyle/>
          <a:p>
            <a:pPr marL="0" indent="0">
              <a:buNone/>
            </a:pPr>
            <a:r>
              <a:rPr lang="en-US" sz="1800" b="1" dirty="0">
                <a:solidFill>
                  <a:srgbClr val="8A2A2A"/>
                </a:solidFill>
                <a:latin typeface="Cambria" pitchFamily="34" charset="0"/>
                <a:ea typeface="Cambria" pitchFamily="34" charset="-122"/>
                <a:cs typeface="Cambria" pitchFamily="34" charset="-120"/>
              </a:rPr>
              <a:t>Questions the operations team asks</a:t>
            </a:r>
            <a:endParaRPr lang="en-US" sz="1800" dirty="0"/>
          </a:p>
        </p:txBody>
      </p:sp>
      <p:sp>
        <p:nvSpPr>
          <p:cNvPr id="9" name="Shape 7"/>
          <p:cNvSpPr/>
          <p:nvPr/>
        </p:nvSpPr>
        <p:spPr>
          <a:xfrm>
            <a:off x="822960" y="1965960"/>
            <a:ext cx="457200" cy="457200"/>
          </a:xfrm>
          <a:prstGeom prst="ellipse">
            <a:avLst/>
          </a:prstGeom>
          <a:solidFill>
            <a:srgbClr val="F6E3E3"/>
          </a:solidFill>
          <a:ln w="12700">
            <a:solidFill>
              <a:srgbClr val="F6E3E3"/>
            </a:solidFill>
            <a:prstDash val="solid"/>
          </a:ln>
        </p:spPr>
      </p:sp>
      <p:pic>
        <p:nvPicPr>
          <p:cNvPr id="10" name="Image 0" descr="preencoded.png"/>
          <p:cNvPicPr>
            <a:picLocks noChangeAspect="1"/>
          </p:cNvPicPr>
          <p:nvPr/>
        </p:nvPicPr>
        <p:blipFill>
          <a:blip r:embed="rId3"/>
          <a:stretch>
            <a:fillRect/>
          </a:stretch>
        </p:blipFill>
        <p:spPr>
          <a:xfrm>
            <a:off x="923544" y="2066544"/>
            <a:ext cx="256032" cy="256032"/>
          </a:xfrm>
          <a:prstGeom prst="rect">
            <a:avLst/>
          </a:prstGeom>
        </p:spPr>
      </p:pic>
      <p:sp>
        <p:nvSpPr>
          <p:cNvPr id="11" name="Text 8"/>
          <p:cNvSpPr txBox="1"/>
          <p:nvPr/>
        </p:nvSpPr>
        <p:spPr>
          <a:xfrm>
            <a:off x="1463040" y="1965960"/>
            <a:ext cx="4206240" cy="457200"/>
          </a:xfrm>
          <a:prstGeom prst="rect">
            <a:avLst/>
          </a:prstGeom>
          <a:noFill/>
          <a:ln/>
        </p:spPr>
        <p:txBody>
          <a:bodyPr wrap="square" lIns="0" tIns="0" rIns="0" bIns="0" rtlCol="0" anchor="ctr"/>
          <a:lstStyle/>
          <a:p>
            <a:pPr marL="0" indent="0">
              <a:buNone/>
            </a:pPr>
            <a:r>
              <a:rPr lang="en-US" sz="1500" dirty="0">
                <a:solidFill>
                  <a:srgbClr val="1B2E1B"/>
                </a:solidFill>
                <a:latin typeface="Calibri" pitchFamily="34" charset="0"/>
                <a:ea typeface="Calibri" pitchFamily="34" charset="-122"/>
                <a:cs typeface="Calibri" pitchFamily="34" charset="-120"/>
              </a:rPr>
              <a:t>Which rooms are overloaded right now?</a:t>
            </a:r>
            <a:endParaRPr lang="en-US" sz="1500" dirty="0"/>
          </a:p>
        </p:txBody>
      </p:sp>
      <p:sp>
        <p:nvSpPr>
          <p:cNvPr id="12" name="Shape 9"/>
          <p:cNvSpPr/>
          <p:nvPr/>
        </p:nvSpPr>
        <p:spPr>
          <a:xfrm>
            <a:off x="822960" y="2697480"/>
            <a:ext cx="457200" cy="457200"/>
          </a:xfrm>
          <a:prstGeom prst="ellipse">
            <a:avLst/>
          </a:prstGeom>
          <a:solidFill>
            <a:srgbClr val="F6E3E3"/>
          </a:solidFill>
          <a:ln w="12700">
            <a:solidFill>
              <a:srgbClr val="F6E3E3"/>
            </a:solidFill>
            <a:prstDash val="solid"/>
          </a:ln>
        </p:spPr>
      </p:sp>
      <p:pic>
        <p:nvPicPr>
          <p:cNvPr id="13" name="Image 1" descr="preencoded.png"/>
          <p:cNvPicPr>
            <a:picLocks noChangeAspect="1"/>
          </p:cNvPicPr>
          <p:nvPr/>
        </p:nvPicPr>
        <p:blipFill>
          <a:blip r:embed="rId4"/>
          <a:stretch>
            <a:fillRect/>
          </a:stretch>
        </p:blipFill>
        <p:spPr>
          <a:xfrm>
            <a:off x="923544" y="2798064"/>
            <a:ext cx="256032" cy="256032"/>
          </a:xfrm>
          <a:prstGeom prst="rect">
            <a:avLst/>
          </a:prstGeom>
        </p:spPr>
      </p:pic>
      <p:sp>
        <p:nvSpPr>
          <p:cNvPr id="14" name="Text 10"/>
          <p:cNvSpPr txBox="1"/>
          <p:nvPr/>
        </p:nvSpPr>
        <p:spPr>
          <a:xfrm>
            <a:off x="1463040" y="2697480"/>
            <a:ext cx="4206240" cy="457200"/>
          </a:xfrm>
          <a:prstGeom prst="rect">
            <a:avLst/>
          </a:prstGeom>
          <a:noFill/>
          <a:ln/>
        </p:spPr>
        <p:txBody>
          <a:bodyPr wrap="square" lIns="0" tIns="0" rIns="0" bIns="0" rtlCol="0" anchor="ctr"/>
          <a:lstStyle/>
          <a:p>
            <a:pPr marL="0" indent="0">
              <a:buNone/>
            </a:pPr>
            <a:r>
              <a:rPr lang="en-US" sz="1500" dirty="0">
                <a:solidFill>
                  <a:srgbClr val="1B2E1B"/>
                </a:solidFill>
                <a:latin typeface="Calibri" pitchFamily="34" charset="0"/>
                <a:ea typeface="Calibri" pitchFamily="34" charset="-122"/>
                <a:cs typeface="Calibri" pitchFamily="34" charset="-120"/>
              </a:rPr>
              <a:t>Which buildings use the most energy?</a:t>
            </a:r>
            <a:endParaRPr lang="en-US" sz="1500" dirty="0"/>
          </a:p>
        </p:txBody>
      </p:sp>
      <p:sp>
        <p:nvSpPr>
          <p:cNvPr id="15" name="Shape 11"/>
          <p:cNvSpPr/>
          <p:nvPr/>
        </p:nvSpPr>
        <p:spPr>
          <a:xfrm>
            <a:off x="822960" y="3429000"/>
            <a:ext cx="457200" cy="457200"/>
          </a:xfrm>
          <a:prstGeom prst="ellipse">
            <a:avLst/>
          </a:prstGeom>
          <a:solidFill>
            <a:srgbClr val="F6E3E3"/>
          </a:solidFill>
          <a:ln w="12700">
            <a:solidFill>
              <a:srgbClr val="F6E3E3"/>
            </a:solidFill>
            <a:prstDash val="solid"/>
          </a:ln>
        </p:spPr>
      </p:sp>
      <p:pic>
        <p:nvPicPr>
          <p:cNvPr id="16" name="Image 2" descr="preencoded.png"/>
          <p:cNvPicPr>
            <a:picLocks noChangeAspect="1"/>
          </p:cNvPicPr>
          <p:nvPr/>
        </p:nvPicPr>
        <p:blipFill>
          <a:blip r:embed="rId5"/>
          <a:stretch>
            <a:fillRect/>
          </a:stretch>
        </p:blipFill>
        <p:spPr>
          <a:xfrm>
            <a:off x="923544" y="3529584"/>
            <a:ext cx="256032" cy="256032"/>
          </a:xfrm>
          <a:prstGeom prst="rect">
            <a:avLst/>
          </a:prstGeom>
        </p:spPr>
      </p:pic>
      <p:sp>
        <p:nvSpPr>
          <p:cNvPr id="17" name="Text 12"/>
          <p:cNvSpPr txBox="1"/>
          <p:nvPr/>
        </p:nvSpPr>
        <p:spPr>
          <a:xfrm>
            <a:off x="1463040" y="3429000"/>
            <a:ext cx="4206240" cy="457200"/>
          </a:xfrm>
          <a:prstGeom prst="rect">
            <a:avLst/>
          </a:prstGeom>
          <a:noFill/>
          <a:ln/>
        </p:spPr>
        <p:txBody>
          <a:bodyPr wrap="square" lIns="0" tIns="0" rIns="0" bIns="0" rtlCol="0" anchor="ctr"/>
          <a:lstStyle/>
          <a:p>
            <a:pPr marL="0" indent="0">
              <a:buNone/>
            </a:pPr>
            <a:r>
              <a:rPr lang="en-US" sz="1500" dirty="0">
                <a:solidFill>
                  <a:srgbClr val="1B2E1B"/>
                </a:solidFill>
                <a:latin typeface="Calibri" pitchFamily="34" charset="0"/>
                <a:ea typeface="Calibri" pitchFamily="34" charset="-122"/>
                <a:cs typeface="Calibri" pitchFamily="34" charset="-120"/>
              </a:rPr>
              <a:t>Is anything abnormal: temperature, humidity, equipment?</a:t>
            </a:r>
            <a:endParaRPr lang="en-US" sz="1500" dirty="0"/>
          </a:p>
        </p:txBody>
      </p:sp>
      <p:sp>
        <p:nvSpPr>
          <p:cNvPr id="18" name="Shape 13"/>
          <p:cNvSpPr/>
          <p:nvPr/>
        </p:nvSpPr>
        <p:spPr>
          <a:xfrm>
            <a:off x="822960" y="4160520"/>
            <a:ext cx="457200" cy="457200"/>
          </a:xfrm>
          <a:prstGeom prst="ellipse">
            <a:avLst/>
          </a:prstGeom>
          <a:solidFill>
            <a:srgbClr val="F6E3E3"/>
          </a:solidFill>
          <a:ln w="12700">
            <a:solidFill>
              <a:srgbClr val="F6E3E3"/>
            </a:solidFill>
            <a:prstDash val="solid"/>
          </a:ln>
        </p:spPr>
      </p:sp>
      <p:pic>
        <p:nvPicPr>
          <p:cNvPr id="19" name="Image 3" descr="preencoded.png"/>
          <p:cNvPicPr>
            <a:picLocks noChangeAspect="1"/>
          </p:cNvPicPr>
          <p:nvPr/>
        </p:nvPicPr>
        <p:blipFill>
          <a:blip r:embed="rId6"/>
          <a:stretch>
            <a:fillRect/>
          </a:stretch>
        </p:blipFill>
        <p:spPr>
          <a:xfrm>
            <a:off x="923544" y="4261104"/>
            <a:ext cx="256032" cy="256032"/>
          </a:xfrm>
          <a:prstGeom prst="rect">
            <a:avLst/>
          </a:prstGeom>
        </p:spPr>
      </p:pic>
      <p:sp>
        <p:nvSpPr>
          <p:cNvPr id="20" name="Text 14"/>
          <p:cNvSpPr txBox="1"/>
          <p:nvPr/>
        </p:nvSpPr>
        <p:spPr>
          <a:xfrm>
            <a:off x="1463040" y="4160520"/>
            <a:ext cx="4206240" cy="457200"/>
          </a:xfrm>
          <a:prstGeom prst="rect">
            <a:avLst/>
          </a:prstGeom>
          <a:noFill/>
          <a:ln/>
        </p:spPr>
        <p:txBody>
          <a:bodyPr wrap="square" lIns="0" tIns="0" rIns="0" bIns="0" rtlCol="0" anchor="ctr"/>
          <a:lstStyle/>
          <a:p>
            <a:pPr marL="0" indent="0">
              <a:buNone/>
            </a:pPr>
            <a:r>
              <a:rPr lang="en-US" sz="1500" dirty="0">
                <a:solidFill>
                  <a:srgbClr val="1B2E1B"/>
                </a:solidFill>
                <a:latin typeface="Calibri" pitchFamily="34" charset="0"/>
                <a:ea typeface="Calibri" pitchFamily="34" charset="-122"/>
                <a:cs typeface="Calibri" pitchFamily="34" charset="-120"/>
              </a:rPr>
              <a:t>Which student requests are urgent?</a:t>
            </a:r>
            <a:endParaRPr lang="en-US" sz="1500" dirty="0"/>
          </a:p>
        </p:txBody>
      </p:sp>
      <p:sp>
        <p:nvSpPr>
          <p:cNvPr id="21" name="Text 15"/>
          <p:cNvSpPr txBox="1"/>
          <p:nvPr/>
        </p:nvSpPr>
        <p:spPr>
          <a:xfrm>
            <a:off x="822960" y="4572000"/>
            <a:ext cx="4846320" cy="320040"/>
          </a:xfrm>
          <a:prstGeom prst="rect">
            <a:avLst/>
          </a:prstGeom>
          <a:noFill/>
          <a:ln/>
        </p:spPr>
        <p:txBody>
          <a:bodyPr wrap="square" lIns="0" tIns="0" rIns="0" bIns="0" rtlCol="0" anchor="ctr"/>
          <a:lstStyle/>
          <a:p>
            <a:pPr marL="0" indent="0">
              <a:buNone/>
            </a:pPr>
            <a:r>
              <a:rPr lang="en-US" sz="1300" i="1" dirty="0">
                <a:solidFill>
                  <a:srgbClr val="5E6E5E"/>
                </a:solidFill>
                <a:latin typeface="Calibri" pitchFamily="34" charset="0"/>
                <a:ea typeface="Calibri" pitchFamily="34" charset="-122"/>
                <a:cs typeface="Calibri" pitchFamily="34" charset="-120"/>
              </a:rPr>
              <a:t>Thousands of readings a day; nobody can watch them all.</a:t>
            </a:r>
            <a:endParaRPr lang="en-US" sz="1300" dirty="0"/>
          </a:p>
        </p:txBody>
      </p:sp>
      <p:sp>
        <p:nvSpPr>
          <p:cNvPr id="22" name="Shape 16"/>
          <p:cNvSpPr/>
          <p:nvPr/>
        </p:nvSpPr>
        <p:spPr>
          <a:xfrm>
            <a:off x="6217920" y="1234440"/>
            <a:ext cx="5394960" cy="3840480"/>
          </a:xfrm>
          <a:prstGeom prst="roundRect">
            <a:avLst>
              <a:gd name="adj" fmla="val 1905"/>
            </a:avLst>
          </a:prstGeom>
          <a:solidFill>
            <a:srgbClr val="FFFFFF"/>
          </a:solidFill>
          <a:ln w="12700">
            <a:solidFill>
              <a:srgbClr val="C8D5C8"/>
            </a:solidFill>
            <a:prstDash val="solid"/>
          </a:ln>
        </p:spPr>
      </p:sp>
      <p:sp>
        <p:nvSpPr>
          <p:cNvPr id="23" name="Text 17"/>
          <p:cNvSpPr txBox="1"/>
          <p:nvPr/>
        </p:nvSpPr>
        <p:spPr>
          <a:xfrm>
            <a:off x="6492240" y="1417320"/>
            <a:ext cx="4846320" cy="365760"/>
          </a:xfrm>
          <a:prstGeom prst="rect">
            <a:avLst/>
          </a:prstGeom>
          <a:noFill/>
          <a:ln/>
        </p:spPr>
        <p:txBody>
          <a:bodyPr wrap="square" lIns="0" tIns="0" rIns="0" bIns="0" rtlCol="0" anchor="ctr"/>
          <a:lstStyle/>
          <a:p>
            <a:pPr marL="0" indent="0">
              <a:buNone/>
            </a:pPr>
            <a:r>
              <a:rPr lang="en-US" sz="1800" b="1" dirty="0">
                <a:solidFill>
                  <a:srgbClr val="2A7A4A"/>
                </a:solidFill>
                <a:latin typeface="Cambria" pitchFamily="34" charset="0"/>
                <a:ea typeface="Cambria" pitchFamily="34" charset="-122"/>
                <a:cs typeface="Cambria" pitchFamily="34" charset="-120"/>
              </a:rPr>
              <a:t>What we delivered</a:t>
            </a:r>
            <a:endParaRPr lang="en-US" sz="1800" dirty="0"/>
          </a:p>
        </p:txBody>
      </p:sp>
      <p:sp>
        <p:nvSpPr>
          <p:cNvPr id="24" name="Text 18"/>
          <p:cNvSpPr txBox="1"/>
          <p:nvPr/>
        </p:nvSpPr>
        <p:spPr>
          <a:xfrm>
            <a:off x="6492240" y="1965960"/>
            <a:ext cx="2377440" cy="685800"/>
          </a:xfrm>
          <a:prstGeom prst="rect">
            <a:avLst/>
          </a:prstGeom>
          <a:noFill/>
          <a:ln/>
        </p:spPr>
        <p:txBody>
          <a:bodyPr wrap="square" lIns="0" tIns="0" rIns="0" bIns="0" rtlCol="0" anchor="ctr"/>
          <a:lstStyle/>
          <a:p>
            <a:pPr marL="0" indent="0">
              <a:buNone/>
            </a:pPr>
            <a:r>
              <a:rPr lang="en-US" sz="4000" b="1" dirty="0">
                <a:solidFill>
                  <a:srgbClr val="2A7A4A"/>
                </a:solidFill>
                <a:latin typeface="Cambria" pitchFamily="34" charset="0"/>
                <a:ea typeface="Cambria" pitchFamily="34" charset="-122"/>
                <a:cs typeface="Cambria" pitchFamily="34" charset="-120"/>
              </a:rPr>
              <a:t>7</a:t>
            </a:r>
            <a:endParaRPr lang="en-US" sz="4000" dirty="0"/>
          </a:p>
        </p:txBody>
      </p:sp>
      <p:sp>
        <p:nvSpPr>
          <p:cNvPr id="25" name="Text 19"/>
          <p:cNvSpPr txBox="1"/>
          <p:nvPr/>
        </p:nvSpPr>
        <p:spPr>
          <a:xfrm>
            <a:off x="6492240" y="2679192"/>
            <a:ext cx="2377440" cy="457200"/>
          </a:xfrm>
          <a:prstGeom prst="rect">
            <a:avLst/>
          </a:prstGeom>
          <a:noFill/>
          <a:ln/>
        </p:spPr>
        <p:txBody>
          <a:bodyPr wrap="square" lIns="0" tIns="0" rIns="0" bIns="0" rtlCol="0" anchor="t"/>
          <a:lstStyle/>
          <a:p>
            <a:pPr marL="0" indent="0">
              <a:buNone/>
            </a:pPr>
            <a:r>
              <a:rPr lang="en-US" sz="1200" dirty="0">
                <a:solidFill>
                  <a:srgbClr val="3E4E3E"/>
                </a:solidFill>
                <a:latin typeface="Calibri" pitchFamily="34" charset="0"/>
                <a:ea typeface="Calibri" pitchFamily="34" charset="-122"/>
                <a:cs typeface="Calibri" pitchFamily="34" charset="-120"/>
              </a:rPr>
              <a:t>REST endpoints behind one HTTPS API</a:t>
            </a:r>
            <a:endParaRPr lang="en-US" sz="1200" dirty="0"/>
          </a:p>
        </p:txBody>
      </p:sp>
      <p:sp>
        <p:nvSpPr>
          <p:cNvPr id="26" name="Text 20"/>
          <p:cNvSpPr txBox="1"/>
          <p:nvPr/>
        </p:nvSpPr>
        <p:spPr>
          <a:xfrm>
            <a:off x="9052560" y="1965960"/>
            <a:ext cx="2377440" cy="685800"/>
          </a:xfrm>
          <a:prstGeom prst="rect">
            <a:avLst/>
          </a:prstGeom>
          <a:noFill/>
          <a:ln/>
        </p:spPr>
        <p:txBody>
          <a:bodyPr wrap="square" lIns="0" tIns="0" rIns="0" bIns="0" rtlCol="0" anchor="ctr"/>
          <a:lstStyle/>
          <a:p>
            <a:pPr marL="0" indent="0">
              <a:buNone/>
            </a:pPr>
            <a:r>
              <a:rPr lang="en-US" sz="4000" b="1" dirty="0">
                <a:solidFill>
                  <a:srgbClr val="2A7A4A"/>
                </a:solidFill>
                <a:latin typeface="Cambria" pitchFamily="34" charset="0"/>
                <a:ea typeface="Cambria" pitchFamily="34" charset="-122"/>
                <a:cs typeface="Cambria" pitchFamily="34" charset="-120"/>
              </a:rPr>
              <a:t>5</a:t>
            </a:r>
            <a:endParaRPr lang="en-US" sz="4000" dirty="0"/>
          </a:p>
        </p:txBody>
      </p:sp>
      <p:sp>
        <p:nvSpPr>
          <p:cNvPr id="27" name="Text 21"/>
          <p:cNvSpPr txBox="1"/>
          <p:nvPr/>
        </p:nvSpPr>
        <p:spPr>
          <a:xfrm>
            <a:off x="9052560" y="2679192"/>
            <a:ext cx="2377440" cy="457200"/>
          </a:xfrm>
          <a:prstGeom prst="rect">
            <a:avLst/>
          </a:prstGeom>
          <a:noFill/>
          <a:ln/>
        </p:spPr>
        <p:txBody>
          <a:bodyPr wrap="square" lIns="0" tIns="0" rIns="0" bIns="0" rtlCol="0" anchor="t"/>
          <a:lstStyle/>
          <a:p>
            <a:pPr marL="0" indent="0">
              <a:buNone/>
            </a:pPr>
            <a:r>
              <a:rPr lang="en-US" sz="1200" dirty="0">
                <a:solidFill>
                  <a:srgbClr val="3E4E3E"/>
                </a:solidFill>
                <a:latin typeface="Calibri" pitchFamily="34" charset="0"/>
                <a:ea typeface="Calibri" pitchFamily="34" charset="-122"/>
                <a:cs typeface="Calibri" pitchFamily="34" charset="-120"/>
              </a:rPr>
              <a:t>Lambda functions, one IAM role each</a:t>
            </a:r>
            <a:endParaRPr lang="en-US" sz="1200" dirty="0"/>
          </a:p>
        </p:txBody>
      </p:sp>
      <p:sp>
        <p:nvSpPr>
          <p:cNvPr id="28" name="Text 22"/>
          <p:cNvSpPr txBox="1"/>
          <p:nvPr/>
        </p:nvSpPr>
        <p:spPr>
          <a:xfrm>
            <a:off x="6492240" y="3474720"/>
            <a:ext cx="2377440" cy="685800"/>
          </a:xfrm>
          <a:prstGeom prst="rect">
            <a:avLst/>
          </a:prstGeom>
          <a:noFill/>
          <a:ln/>
        </p:spPr>
        <p:txBody>
          <a:bodyPr wrap="square" lIns="0" tIns="0" rIns="0" bIns="0" rtlCol="0" anchor="ctr"/>
          <a:lstStyle/>
          <a:p>
            <a:pPr marL="0" indent="0">
              <a:buNone/>
            </a:pPr>
            <a:r>
              <a:rPr lang="en-US" sz="4000" b="1" dirty="0">
                <a:solidFill>
                  <a:srgbClr val="2A7A4A"/>
                </a:solidFill>
                <a:latin typeface="Cambria" pitchFamily="34" charset="0"/>
                <a:ea typeface="Cambria" pitchFamily="34" charset="-122"/>
                <a:cs typeface="Cambria" pitchFamily="34" charset="-120"/>
              </a:rPr>
              <a:t>61</a:t>
            </a:r>
            <a:endParaRPr lang="en-US" sz="4000" dirty="0"/>
          </a:p>
        </p:txBody>
      </p:sp>
      <p:sp>
        <p:nvSpPr>
          <p:cNvPr id="29" name="Text 23"/>
          <p:cNvSpPr txBox="1"/>
          <p:nvPr/>
        </p:nvSpPr>
        <p:spPr>
          <a:xfrm>
            <a:off x="6492240" y="4187952"/>
            <a:ext cx="2377440" cy="457200"/>
          </a:xfrm>
          <a:prstGeom prst="rect">
            <a:avLst/>
          </a:prstGeom>
          <a:noFill/>
          <a:ln/>
        </p:spPr>
        <p:txBody>
          <a:bodyPr wrap="square" lIns="0" tIns="0" rIns="0" bIns="0" rtlCol="0" anchor="t"/>
          <a:lstStyle/>
          <a:p>
            <a:pPr marL="0" indent="0">
              <a:buNone/>
            </a:pPr>
            <a:r>
              <a:rPr lang="en-US" sz="1200" dirty="0">
                <a:solidFill>
                  <a:srgbClr val="3E4E3E"/>
                </a:solidFill>
                <a:latin typeface="Calibri" pitchFamily="34" charset="0"/>
                <a:ea typeface="Calibri" pitchFamily="34" charset="-122"/>
                <a:cs typeface="Calibri" pitchFamily="34" charset="-120"/>
              </a:rPr>
              <a:t>AWS resources, all in Terraform</a:t>
            </a:r>
            <a:endParaRPr lang="en-US" sz="1200" dirty="0"/>
          </a:p>
        </p:txBody>
      </p:sp>
      <p:sp>
        <p:nvSpPr>
          <p:cNvPr id="30" name="Text 24"/>
          <p:cNvSpPr txBox="1"/>
          <p:nvPr/>
        </p:nvSpPr>
        <p:spPr>
          <a:xfrm>
            <a:off x="9052560" y="3474720"/>
            <a:ext cx="2377440" cy="685800"/>
          </a:xfrm>
          <a:prstGeom prst="rect">
            <a:avLst/>
          </a:prstGeom>
          <a:noFill/>
          <a:ln/>
        </p:spPr>
        <p:txBody>
          <a:bodyPr wrap="square" lIns="0" tIns="0" rIns="0" bIns="0" rtlCol="0" anchor="ctr"/>
          <a:lstStyle/>
          <a:p>
            <a:pPr marL="0" indent="0">
              <a:buNone/>
            </a:pPr>
            <a:r>
              <a:rPr lang="en-US" sz="4000" b="1" dirty="0">
                <a:solidFill>
                  <a:srgbClr val="2A7A4A"/>
                </a:solidFill>
                <a:latin typeface="Cambria" pitchFamily="34" charset="0"/>
                <a:ea typeface="Cambria" pitchFamily="34" charset="-122"/>
                <a:cs typeface="Cambria" pitchFamily="34" charset="-120"/>
              </a:rPr>
              <a:t>176</a:t>
            </a:r>
            <a:endParaRPr lang="en-US" sz="4000" dirty="0"/>
          </a:p>
        </p:txBody>
      </p:sp>
      <p:sp>
        <p:nvSpPr>
          <p:cNvPr id="31" name="Text 25"/>
          <p:cNvSpPr txBox="1"/>
          <p:nvPr/>
        </p:nvSpPr>
        <p:spPr>
          <a:xfrm>
            <a:off x="9052560" y="4187952"/>
            <a:ext cx="2377440" cy="457200"/>
          </a:xfrm>
          <a:prstGeom prst="rect">
            <a:avLst/>
          </a:prstGeom>
          <a:noFill/>
          <a:ln/>
        </p:spPr>
        <p:txBody>
          <a:bodyPr wrap="square" lIns="0" tIns="0" rIns="0" bIns="0" rtlCol="0" anchor="t"/>
          <a:lstStyle/>
          <a:p>
            <a:pPr marL="0" indent="0">
              <a:buNone/>
            </a:pPr>
            <a:r>
              <a:rPr lang="en-US" sz="1200" dirty="0">
                <a:solidFill>
                  <a:srgbClr val="3E4E3E"/>
                </a:solidFill>
                <a:latin typeface="Calibri" pitchFamily="34" charset="0"/>
                <a:ea typeface="Calibri" pitchFamily="34" charset="-122"/>
                <a:cs typeface="Calibri" pitchFamily="34" charset="-120"/>
              </a:rPr>
              <a:t>automated checks, 0 failures</a:t>
            </a:r>
            <a:endParaRPr lang="en-US" sz="1200" dirty="0"/>
          </a:p>
        </p:txBody>
      </p:sp>
      <p:sp>
        <p:nvSpPr>
          <p:cNvPr id="32" name="Shape 26"/>
          <p:cNvSpPr/>
          <p:nvPr/>
        </p:nvSpPr>
        <p:spPr>
          <a:xfrm>
            <a:off x="548640" y="5303520"/>
            <a:ext cx="2606040" cy="777240"/>
          </a:xfrm>
          <a:prstGeom prst="roundRect">
            <a:avLst>
              <a:gd name="adj" fmla="val 9412"/>
            </a:avLst>
          </a:prstGeom>
          <a:solidFill>
            <a:srgbClr val="E8F3EC"/>
          </a:solidFill>
          <a:ln w="12700">
            <a:solidFill>
              <a:srgbClr val="E8F3EC"/>
            </a:solidFill>
            <a:prstDash val="solid"/>
          </a:ln>
        </p:spPr>
      </p:sp>
      <p:sp>
        <p:nvSpPr>
          <p:cNvPr id="33" name="Text 27"/>
          <p:cNvSpPr txBox="1"/>
          <p:nvPr/>
        </p:nvSpPr>
        <p:spPr>
          <a:xfrm>
            <a:off x="777240" y="5303520"/>
            <a:ext cx="2286000" cy="777240"/>
          </a:xfrm>
          <a:prstGeom prst="rect">
            <a:avLst/>
          </a:prstGeom>
          <a:noFill/>
          <a:ln/>
        </p:spPr>
        <p:txBody>
          <a:bodyPr wrap="square" lIns="0" tIns="0" rIns="0" bIns="0" rtlCol="0" anchor="ctr"/>
          <a:lstStyle/>
          <a:p>
            <a:pPr marL="0" indent="0">
              <a:buNone/>
            </a:pPr>
            <a:r>
              <a:rPr lang="en-US" sz="2200" b="1" dirty="0">
                <a:solidFill>
                  <a:srgbClr val="2A7A4A"/>
                </a:solidFill>
                <a:latin typeface="Cambria" pitchFamily="34" charset="0"/>
                <a:ea typeface="Cambria" pitchFamily="34" charset="-122"/>
                <a:cs typeface="Cambria" pitchFamily="34" charset="-120"/>
              </a:rPr>
              <a:t>5  </a:t>
            </a:r>
            <a:r>
              <a:rPr lang="en-US" sz="1400" dirty="0">
                <a:solidFill>
                  <a:srgbClr val="1B2E1B"/>
                </a:solidFill>
                <a:latin typeface="Calibri" pitchFamily="34" charset="0"/>
                <a:ea typeface="Calibri" pitchFamily="34" charset="-122"/>
                <a:cs typeface="Calibri" pitchFamily="34" charset="-120"/>
              </a:rPr>
              <a:t>buildings</a:t>
            </a:r>
            <a:endParaRPr lang="en-US" sz="2200" dirty="0"/>
          </a:p>
        </p:txBody>
      </p:sp>
      <p:sp>
        <p:nvSpPr>
          <p:cNvPr id="34" name="Shape 28"/>
          <p:cNvSpPr/>
          <p:nvPr/>
        </p:nvSpPr>
        <p:spPr>
          <a:xfrm>
            <a:off x="3337560" y="5303520"/>
            <a:ext cx="2606040" cy="777240"/>
          </a:xfrm>
          <a:prstGeom prst="roundRect">
            <a:avLst>
              <a:gd name="adj" fmla="val 9412"/>
            </a:avLst>
          </a:prstGeom>
          <a:solidFill>
            <a:srgbClr val="E8F3EC"/>
          </a:solidFill>
          <a:ln w="12700">
            <a:solidFill>
              <a:srgbClr val="E8F3EC"/>
            </a:solidFill>
            <a:prstDash val="solid"/>
          </a:ln>
        </p:spPr>
      </p:sp>
      <p:sp>
        <p:nvSpPr>
          <p:cNvPr id="35" name="Text 29"/>
          <p:cNvSpPr txBox="1"/>
          <p:nvPr/>
        </p:nvSpPr>
        <p:spPr>
          <a:xfrm>
            <a:off x="3566160" y="5303520"/>
            <a:ext cx="2286000" cy="777240"/>
          </a:xfrm>
          <a:prstGeom prst="rect">
            <a:avLst/>
          </a:prstGeom>
          <a:noFill/>
          <a:ln/>
        </p:spPr>
        <p:txBody>
          <a:bodyPr wrap="square" lIns="0" tIns="0" rIns="0" bIns="0" rtlCol="0" anchor="ctr"/>
          <a:lstStyle/>
          <a:p>
            <a:pPr marL="0" indent="0">
              <a:buNone/>
            </a:pPr>
            <a:r>
              <a:rPr lang="en-US" sz="2200" b="1" dirty="0">
                <a:solidFill>
                  <a:srgbClr val="2A7A4A"/>
                </a:solidFill>
                <a:latin typeface="Cambria" pitchFamily="34" charset="0"/>
                <a:ea typeface="Cambria" pitchFamily="34" charset="-122"/>
                <a:cs typeface="Cambria" pitchFamily="34" charset="-120"/>
              </a:rPr>
              <a:t>11  </a:t>
            </a:r>
            <a:r>
              <a:rPr lang="en-US" sz="1400" dirty="0">
                <a:solidFill>
                  <a:srgbClr val="1B2E1B"/>
                </a:solidFill>
                <a:latin typeface="Calibri" pitchFamily="34" charset="0"/>
                <a:ea typeface="Calibri" pitchFamily="34" charset="-122"/>
                <a:cs typeface="Calibri" pitchFamily="34" charset="-120"/>
              </a:rPr>
              <a:t>rooms</a:t>
            </a:r>
            <a:endParaRPr lang="en-US" sz="2200" dirty="0"/>
          </a:p>
        </p:txBody>
      </p:sp>
      <p:sp>
        <p:nvSpPr>
          <p:cNvPr id="36" name="Shape 30"/>
          <p:cNvSpPr/>
          <p:nvPr/>
        </p:nvSpPr>
        <p:spPr>
          <a:xfrm>
            <a:off x="6126480" y="5303520"/>
            <a:ext cx="2606040" cy="777240"/>
          </a:xfrm>
          <a:prstGeom prst="roundRect">
            <a:avLst>
              <a:gd name="adj" fmla="val 9412"/>
            </a:avLst>
          </a:prstGeom>
          <a:solidFill>
            <a:srgbClr val="E8F3EC"/>
          </a:solidFill>
          <a:ln w="12700">
            <a:solidFill>
              <a:srgbClr val="E8F3EC"/>
            </a:solidFill>
            <a:prstDash val="solid"/>
          </a:ln>
        </p:spPr>
      </p:sp>
      <p:sp>
        <p:nvSpPr>
          <p:cNvPr id="37" name="Text 31"/>
          <p:cNvSpPr txBox="1"/>
          <p:nvPr/>
        </p:nvSpPr>
        <p:spPr>
          <a:xfrm>
            <a:off x="6355080" y="5303520"/>
            <a:ext cx="2286000" cy="777240"/>
          </a:xfrm>
          <a:prstGeom prst="rect">
            <a:avLst/>
          </a:prstGeom>
          <a:noFill/>
          <a:ln/>
        </p:spPr>
        <p:txBody>
          <a:bodyPr wrap="square" lIns="0" tIns="0" rIns="0" bIns="0" rtlCol="0" anchor="ctr"/>
          <a:lstStyle/>
          <a:p>
            <a:pPr marL="0" indent="0">
              <a:buNone/>
            </a:pPr>
            <a:r>
              <a:rPr lang="en-US" sz="2200" b="1" dirty="0">
                <a:solidFill>
                  <a:srgbClr val="2A7A4A"/>
                </a:solidFill>
                <a:latin typeface="Cambria" pitchFamily="34" charset="0"/>
                <a:ea typeface="Cambria" pitchFamily="34" charset="-122"/>
                <a:cs typeface="Cambria" pitchFamily="34" charset="-120"/>
              </a:rPr>
              <a:t>6  </a:t>
            </a:r>
            <a:r>
              <a:rPr lang="en-US" sz="1400" dirty="0">
                <a:solidFill>
                  <a:srgbClr val="1B2E1B"/>
                </a:solidFill>
                <a:latin typeface="Calibri" pitchFamily="34" charset="0"/>
                <a:ea typeface="Calibri" pitchFamily="34" charset="-122"/>
                <a:cs typeface="Calibri" pitchFamily="34" charset="-120"/>
              </a:rPr>
              <a:t>event types</a:t>
            </a:r>
            <a:endParaRPr lang="en-US" sz="2200" dirty="0"/>
          </a:p>
        </p:txBody>
      </p:sp>
      <p:sp>
        <p:nvSpPr>
          <p:cNvPr id="38" name="Shape 32"/>
          <p:cNvSpPr/>
          <p:nvPr/>
        </p:nvSpPr>
        <p:spPr>
          <a:xfrm>
            <a:off x="8915400" y="5303520"/>
            <a:ext cx="2606040" cy="777240"/>
          </a:xfrm>
          <a:prstGeom prst="roundRect">
            <a:avLst>
              <a:gd name="adj" fmla="val 9412"/>
            </a:avLst>
          </a:prstGeom>
          <a:solidFill>
            <a:srgbClr val="E8F3EC"/>
          </a:solidFill>
          <a:ln w="12700">
            <a:solidFill>
              <a:srgbClr val="E8F3EC"/>
            </a:solidFill>
            <a:prstDash val="solid"/>
          </a:ln>
        </p:spPr>
      </p:sp>
      <p:sp>
        <p:nvSpPr>
          <p:cNvPr id="39" name="Text 33"/>
          <p:cNvSpPr txBox="1"/>
          <p:nvPr/>
        </p:nvSpPr>
        <p:spPr>
          <a:xfrm>
            <a:off x="9144000" y="5303520"/>
            <a:ext cx="2286000" cy="777240"/>
          </a:xfrm>
          <a:prstGeom prst="rect">
            <a:avLst/>
          </a:prstGeom>
          <a:noFill/>
          <a:ln/>
        </p:spPr>
        <p:txBody>
          <a:bodyPr wrap="square" lIns="0" tIns="0" rIns="0" bIns="0" rtlCol="0" anchor="ctr"/>
          <a:lstStyle/>
          <a:p>
            <a:pPr marL="0" indent="0">
              <a:buNone/>
            </a:pPr>
            <a:r>
              <a:rPr lang="en-US" sz="2200" b="1" dirty="0">
                <a:solidFill>
                  <a:srgbClr val="2A7A4A"/>
                </a:solidFill>
                <a:latin typeface="Cambria" pitchFamily="34" charset="0"/>
                <a:ea typeface="Cambria" pitchFamily="34" charset="-122"/>
                <a:cs typeface="Cambria" pitchFamily="34" charset="-120"/>
              </a:rPr>
              <a:t>3  </a:t>
            </a:r>
            <a:r>
              <a:rPr lang="en-US" sz="1400" dirty="0">
                <a:solidFill>
                  <a:srgbClr val="1B2E1B"/>
                </a:solidFill>
                <a:latin typeface="Calibri" pitchFamily="34" charset="0"/>
                <a:ea typeface="Calibri" pitchFamily="34" charset="-122"/>
                <a:cs typeface="Calibri" pitchFamily="34" charset="-120"/>
              </a:rPr>
              <a:t>severity levels</a:t>
            </a:r>
            <a:endParaRPr lang="en-US" sz="2200" dirty="0"/>
          </a:p>
        </p:txBody>
      </p:sp>
      <p:sp>
        <p:nvSpPr>
          <p:cNvPr id="40"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E6E5E"/>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595360" cy="685800"/>
          </a:xfrm>
          <a:prstGeom prst="rect">
            <a:avLst/>
          </a:prstGeom>
          <a:noFill/>
          <a:ln/>
        </p:spPr>
        <p:txBody>
          <a:bodyPr wrap="square" lIns="0" tIns="0" rIns="0" bIns="0" rtlCol="0" anchor="ctr"/>
          <a:lstStyle/>
          <a:p>
            <a:pPr marL="0" indent="0" algn="l">
              <a:buNone/>
            </a:pPr>
            <a:r>
              <a:rPr lang="en-US" sz="3200" b="1" dirty="0">
                <a:solidFill>
                  <a:srgbClr val="2A7A4A"/>
                </a:solidFill>
                <a:latin typeface="Cambria" pitchFamily="34" charset="0"/>
                <a:ea typeface="Cambria" pitchFamily="34" charset="-122"/>
                <a:cs typeface="Cambria" pitchFamily="34" charset="-120"/>
              </a:rPr>
              <a:t>Solution architecture</a:t>
            </a:r>
            <a:endParaRPr lang="en-US" sz="3200" dirty="0"/>
          </a:p>
        </p:txBody>
      </p:sp>
      <p:sp>
        <p:nvSpPr>
          <p:cNvPr id="7" name="Shape 5"/>
          <p:cNvSpPr/>
          <p:nvPr/>
        </p:nvSpPr>
        <p:spPr>
          <a:xfrm>
            <a:off x="2057400" y="1143000"/>
            <a:ext cx="9829800" cy="5166360"/>
          </a:xfrm>
          <a:prstGeom prst="rect">
            <a:avLst/>
          </a:prstGeom>
          <a:solidFill>
            <a:srgbClr val="FFFFFF"/>
          </a:solidFill>
          <a:ln w="15875">
            <a:solidFill>
              <a:srgbClr val="232F3E"/>
            </a:solidFill>
            <a:prstDash val="solid"/>
          </a:ln>
        </p:spPr>
      </p:sp>
      <p:sp>
        <p:nvSpPr>
          <p:cNvPr id="8" name="Shape 6"/>
          <p:cNvSpPr/>
          <p:nvPr/>
        </p:nvSpPr>
        <p:spPr>
          <a:xfrm>
            <a:off x="2057400" y="1143000"/>
            <a:ext cx="310896" cy="274320"/>
          </a:xfrm>
          <a:prstGeom prst="rect">
            <a:avLst/>
          </a:prstGeom>
          <a:solidFill>
            <a:srgbClr val="232F3E"/>
          </a:solidFill>
          <a:ln w="12700">
            <a:solidFill>
              <a:srgbClr val="232F3E"/>
            </a:solidFill>
            <a:prstDash val="solid"/>
          </a:ln>
        </p:spPr>
      </p:sp>
      <p:pic>
        <p:nvPicPr>
          <p:cNvPr id="9" name="Image 0" descr="preencoded.png"/>
          <p:cNvPicPr>
            <a:picLocks noChangeAspect="1"/>
          </p:cNvPicPr>
          <p:nvPr/>
        </p:nvPicPr>
        <p:blipFill>
          <a:blip r:embed="rId3"/>
          <a:stretch>
            <a:fillRect/>
          </a:stretch>
        </p:blipFill>
        <p:spPr>
          <a:xfrm>
            <a:off x="2093976" y="1161288"/>
            <a:ext cx="237744" cy="237744"/>
          </a:xfrm>
          <a:prstGeom prst="rect">
            <a:avLst/>
          </a:prstGeom>
        </p:spPr>
      </p:pic>
      <p:sp>
        <p:nvSpPr>
          <p:cNvPr id="10" name="Text 7"/>
          <p:cNvSpPr txBox="1"/>
          <p:nvPr/>
        </p:nvSpPr>
        <p:spPr>
          <a:xfrm>
            <a:off x="2450592" y="1161288"/>
            <a:ext cx="2743200" cy="237744"/>
          </a:xfrm>
          <a:prstGeom prst="rect">
            <a:avLst/>
          </a:prstGeom>
          <a:noFill/>
          <a:ln/>
        </p:spPr>
        <p:txBody>
          <a:bodyPr wrap="square" lIns="0" tIns="0" rIns="0" bIns="0" rtlCol="0" anchor="ctr"/>
          <a:lstStyle/>
          <a:p>
            <a:pPr marL="0" indent="0">
              <a:buNone/>
            </a:pPr>
            <a:r>
              <a:rPr lang="en-US" sz="1100" b="1" dirty="0">
                <a:solidFill>
                  <a:srgbClr val="232F3E"/>
                </a:solidFill>
                <a:latin typeface="Calibri" pitchFamily="34" charset="0"/>
                <a:ea typeface="Calibri" pitchFamily="34" charset="-122"/>
                <a:cs typeface="Calibri" pitchFamily="34" charset="-120"/>
              </a:rPr>
              <a:t>AWS Cloud · eu-west-3 (Paris)</a:t>
            </a:r>
            <a:endParaRPr lang="en-US" sz="1100" dirty="0"/>
          </a:p>
        </p:txBody>
      </p:sp>
      <p:sp>
        <p:nvSpPr>
          <p:cNvPr id="11" name="Text 8"/>
          <p:cNvSpPr txBox="1"/>
          <p:nvPr/>
        </p:nvSpPr>
        <p:spPr>
          <a:xfrm>
            <a:off x="320040" y="1188720"/>
            <a:ext cx="1463040" cy="228600"/>
          </a:xfrm>
          <a:prstGeom prst="rect">
            <a:avLst/>
          </a:prstGeom>
          <a:noFill/>
          <a:ln/>
        </p:spPr>
        <p:txBody>
          <a:bodyPr wrap="square" lIns="0" tIns="0" rIns="0" bIns="0" rtlCol="0" anchor="ctr"/>
          <a:lstStyle/>
          <a:p>
            <a:pPr marL="0" indent="0" algn="ctr">
              <a:buNone/>
            </a:pPr>
            <a:r>
              <a:rPr lang="en-US" sz="1000" b="1" dirty="0">
                <a:solidFill>
                  <a:srgbClr val="5E6E5E"/>
                </a:solidFill>
                <a:latin typeface="Calibri" pitchFamily="34" charset="0"/>
                <a:ea typeface="Calibri" pitchFamily="34" charset="-122"/>
                <a:cs typeface="Calibri" pitchFamily="34" charset="-120"/>
              </a:rPr>
              <a:t>Users &amp; devices</a:t>
            </a:r>
            <a:endParaRPr lang="en-US" sz="1000" dirty="0"/>
          </a:p>
        </p:txBody>
      </p:sp>
      <p:sp>
        <p:nvSpPr>
          <p:cNvPr id="12" name="Shape 9"/>
          <p:cNvSpPr/>
          <p:nvPr/>
        </p:nvSpPr>
        <p:spPr>
          <a:xfrm>
            <a:off x="2331720" y="1481328"/>
            <a:ext cx="1463040" cy="1417320"/>
          </a:xfrm>
          <a:prstGeom prst="roundRect">
            <a:avLst>
              <a:gd name="adj" fmla="val 3871"/>
            </a:avLst>
          </a:prstGeom>
          <a:solidFill>
            <a:srgbClr val="FFFFFF">
              <a:alpha val="0"/>
            </a:srgbClr>
          </a:solidFill>
          <a:ln w="15875">
            <a:solidFill>
              <a:srgbClr val="4A88CC"/>
            </a:solidFill>
            <a:prstDash val="dash"/>
          </a:ln>
        </p:spPr>
      </p:sp>
      <p:sp>
        <p:nvSpPr>
          <p:cNvPr id="13" name="Text 10"/>
          <p:cNvSpPr txBox="1"/>
          <p:nvPr/>
        </p:nvSpPr>
        <p:spPr>
          <a:xfrm>
            <a:off x="2423160" y="1536192"/>
            <a:ext cx="1280160" cy="201168"/>
          </a:xfrm>
          <a:prstGeom prst="rect">
            <a:avLst/>
          </a:prstGeom>
          <a:noFill/>
          <a:ln/>
        </p:spPr>
        <p:txBody>
          <a:bodyPr wrap="square" lIns="0" tIns="0" rIns="0" bIns="0" rtlCol="0" anchor="ctr"/>
          <a:lstStyle/>
          <a:p>
            <a:pPr marL="0" indent="0">
              <a:buNone/>
            </a:pPr>
            <a:r>
              <a:rPr lang="en-US" sz="1000" b="1" dirty="0">
                <a:solidFill>
                  <a:srgbClr val="4A88CC"/>
                </a:solidFill>
                <a:latin typeface="Calibri" pitchFamily="34" charset="0"/>
                <a:ea typeface="Calibri" pitchFamily="34" charset="-122"/>
                <a:cs typeface="Calibri" pitchFamily="34" charset="-120"/>
              </a:rPr>
              <a:t>Frontend hosting</a:t>
            </a:r>
            <a:endParaRPr lang="en-US" sz="1000" dirty="0"/>
          </a:p>
        </p:txBody>
      </p:sp>
      <p:sp>
        <p:nvSpPr>
          <p:cNvPr id="14" name="Shape 11"/>
          <p:cNvSpPr/>
          <p:nvPr/>
        </p:nvSpPr>
        <p:spPr>
          <a:xfrm>
            <a:off x="2331720" y="3063240"/>
            <a:ext cx="1463040" cy="1554480"/>
          </a:xfrm>
          <a:prstGeom prst="roundRect">
            <a:avLst>
              <a:gd name="adj" fmla="val 3750"/>
            </a:avLst>
          </a:prstGeom>
          <a:solidFill>
            <a:srgbClr val="FFFFFF">
              <a:alpha val="0"/>
            </a:srgbClr>
          </a:solidFill>
          <a:ln w="15875">
            <a:solidFill>
              <a:srgbClr val="E7157B"/>
            </a:solidFill>
            <a:prstDash val="dash"/>
          </a:ln>
        </p:spPr>
      </p:sp>
      <p:sp>
        <p:nvSpPr>
          <p:cNvPr id="15" name="Text 12"/>
          <p:cNvSpPr txBox="1"/>
          <p:nvPr/>
        </p:nvSpPr>
        <p:spPr>
          <a:xfrm>
            <a:off x="2423160" y="3118104"/>
            <a:ext cx="1280160" cy="201168"/>
          </a:xfrm>
          <a:prstGeom prst="rect">
            <a:avLst/>
          </a:prstGeom>
          <a:noFill/>
          <a:ln/>
        </p:spPr>
        <p:txBody>
          <a:bodyPr wrap="square" lIns="0" tIns="0" rIns="0" bIns="0" rtlCol="0" anchor="ctr"/>
          <a:lstStyle/>
          <a:p>
            <a:pPr marL="0" indent="0">
              <a:buNone/>
            </a:pPr>
            <a:r>
              <a:rPr lang="en-US" sz="1000" b="1" dirty="0">
                <a:solidFill>
                  <a:srgbClr val="E7157B"/>
                </a:solidFill>
                <a:latin typeface="Calibri" pitchFamily="34" charset="0"/>
                <a:ea typeface="Calibri" pitchFamily="34" charset="-122"/>
                <a:cs typeface="Calibri" pitchFamily="34" charset="-120"/>
              </a:rPr>
              <a:t>Public edge</a:t>
            </a:r>
            <a:endParaRPr lang="en-US" sz="1000" dirty="0"/>
          </a:p>
        </p:txBody>
      </p:sp>
      <p:sp>
        <p:nvSpPr>
          <p:cNvPr id="16" name="Shape 13"/>
          <p:cNvSpPr/>
          <p:nvPr/>
        </p:nvSpPr>
        <p:spPr>
          <a:xfrm>
            <a:off x="4663440" y="1481328"/>
            <a:ext cx="2103120" cy="4416552"/>
          </a:xfrm>
          <a:prstGeom prst="roundRect">
            <a:avLst>
              <a:gd name="adj" fmla="val 2609"/>
            </a:avLst>
          </a:prstGeom>
          <a:solidFill>
            <a:srgbClr val="FFFFFF">
              <a:alpha val="0"/>
            </a:srgbClr>
          </a:solidFill>
          <a:ln w="15875">
            <a:solidFill>
              <a:srgbClr val="2A7A4A"/>
            </a:solidFill>
            <a:prstDash val="dash"/>
          </a:ln>
        </p:spPr>
      </p:sp>
      <p:sp>
        <p:nvSpPr>
          <p:cNvPr id="17" name="Text 14"/>
          <p:cNvSpPr txBox="1"/>
          <p:nvPr/>
        </p:nvSpPr>
        <p:spPr>
          <a:xfrm>
            <a:off x="4754880" y="1536192"/>
            <a:ext cx="1920240" cy="201168"/>
          </a:xfrm>
          <a:prstGeom prst="rect">
            <a:avLst/>
          </a:prstGeom>
          <a:noFill/>
          <a:ln/>
        </p:spPr>
        <p:txBody>
          <a:bodyPr wrap="square" lIns="0" tIns="0" rIns="0" bIns="0" rtlCol="0" anchor="ctr"/>
          <a:lstStyle/>
          <a:p>
            <a:pPr marL="0" indent="0">
              <a:buNone/>
            </a:pPr>
            <a:r>
              <a:rPr lang="en-US" sz="1000" b="1" dirty="0">
                <a:solidFill>
                  <a:srgbClr val="2A7A4A"/>
                </a:solidFill>
                <a:latin typeface="Calibri" pitchFamily="34" charset="0"/>
                <a:ea typeface="Calibri" pitchFamily="34" charset="-122"/>
                <a:cs typeface="Calibri" pitchFamily="34" charset="-120"/>
              </a:rPr>
              <a:t>Compute · Lambda</a:t>
            </a:r>
            <a:endParaRPr lang="en-US" sz="1000" dirty="0"/>
          </a:p>
        </p:txBody>
      </p:sp>
      <p:sp>
        <p:nvSpPr>
          <p:cNvPr id="18" name="Shape 15"/>
          <p:cNvSpPr/>
          <p:nvPr/>
        </p:nvSpPr>
        <p:spPr>
          <a:xfrm>
            <a:off x="7726680" y="1481328"/>
            <a:ext cx="1463040" cy="2221992"/>
          </a:xfrm>
          <a:prstGeom prst="roundRect">
            <a:avLst>
              <a:gd name="adj" fmla="val 3750"/>
            </a:avLst>
          </a:prstGeom>
          <a:solidFill>
            <a:srgbClr val="FFFFFF">
              <a:alpha val="0"/>
            </a:srgbClr>
          </a:solidFill>
          <a:ln w="15875">
            <a:solidFill>
              <a:srgbClr val="3B48CC"/>
            </a:solidFill>
            <a:prstDash val="dash"/>
          </a:ln>
        </p:spPr>
      </p:sp>
      <p:sp>
        <p:nvSpPr>
          <p:cNvPr id="19" name="Text 16"/>
          <p:cNvSpPr txBox="1"/>
          <p:nvPr/>
        </p:nvSpPr>
        <p:spPr>
          <a:xfrm>
            <a:off x="7818120" y="1536192"/>
            <a:ext cx="1280160" cy="201168"/>
          </a:xfrm>
          <a:prstGeom prst="rect">
            <a:avLst/>
          </a:prstGeom>
          <a:noFill/>
          <a:ln/>
        </p:spPr>
        <p:txBody>
          <a:bodyPr wrap="square" lIns="0" tIns="0" rIns="0" bIns="0" rtlCol="0" anchor="ctr"/>
          <a:lstStyle/>
          <a:p>
            <a:pPr marL="0" indent="0">
              <a:buNone/>
            </a:pPr>
            <a:r>
              <a:rPr lang="en-US" sz="1000" b="1" dirty="0">
                <a:solidFill>
                  <a:srgbClr val="3B48CC"/>
                </a:solidFill>
                <a:latin typeface="Calibri" pitchFamily="34" charset="0"/>
                <a:ea typeface="Calibri" pitchFamily="34" charset="-122"/>
                <a:cs typeface="Calibri" pitchFamily="34" charset="-120"/>
              </a:rPr>
              <a:t>Data</a:t>
            </a:r>
            <a:endParaRPr lang="en-US" sz="1000" dirty="0"/>
          </a:p>
        </p:txBody>
      </p:sp>
      <p:sp>
        <p:nvSpPr>
          <p:cNvPr id="20" name="Shape 17"/>
          <p:cNvSpPr/>
          <p:nvPr/>
        </p:nvSpPr>
        <p:spPr>
          <a:xfrm>
            <a:off x="7726680" y="3886200"/>
            <a:ext cx="1463040" cy="1554480"/>
          </a:xfrm>
          <a:prstGeom prst="roundRect">
            <a:avLst>
              <a:gd name="adj" fmla="val 3750"/>
            </a:avLst>
          </a:prstGeom>
          <a:solidFill>
            <a:srgbClr val="FFFFFF">
              <a:alpha val="0"/>
            </a:srgbClr>
          </a:solidFill>
          <a:ln w="15875">
            <a:solidFill>
              <a:srgbClr val="DD344C"/>
            </a:solidFill>
            <a:prstDash val="dash"/>
          </a:ln>
        </p:spPr>
      </p:sp>
      <p:sp>
        <p:nvSpPr>
          <p:cNvPr id="21" name="Text 18"/>
          <p:cNvSpPr txBox="1"/>
          <p:nvPr/>
        </p:nvSpPr>
        <p:spPr>
          <a:xfrm>
            <a:off x="7818120" y="3941064"/>
            <a:ext cx="1280160" cy="201168"/>
          </a:xfrm>
          <a:prstGeom prst="rect">
            <a:avLst/>
          </a:prstGeom>
          <a:noFill/>
          <a:ln/>
        </p:spPr>
        <p:txBody>
          <a:bodyPr wrap="square" lIns="0" tIns="0" rIns="0" bIns="0" rtlCol="0" anchor="ctr"/>
          <a:lstStyle/>
          <a:p>
            <a:pPr marL="0" indent="0">
              <a:buNone/>
            </a:pPr>
            <a:r>
              <a:rPr lang="en-US" sz="1000" b="1" dirty="0">
                <a:solidFill>
                  <a:srgbClr val="DD344C"/>
                </a:solidFill>
                <a:latin typeface="Calibri" pitchFamily="34" charset="0"/>
                <a:ea typeface="Calibri" pitchFamily="34" charset="-122"/>
                <a:cs typeface="Calibri" pitchFamily="34" charset="-120"/>
              </a:rPr>
              <a:t>Identity</a:t>
            </a:r>
            <a:endParaRPr lang="en-US" sz="1000" dirty="0"/>
          </a:p>
        </p:txBody>
      </p:sp>
      <p:sp>
        <p:nvSpPr>
          <p:cNvPr id="22" name="Shape 19"/>
          <p:cNvSpPr/>
          <p:nvPr/>
        </p:nvSpPr>
        <p:spPr>
          <a:xfrm>
            <a:off x="9509760" y="1481328"/>
            <a:ext cx="2194560" cy="4389120"/>
          </a:xfrm>
          <a:prstGeom prst="roundRect">
            <a:avLst>
              <a:gd name="adj" fmla="val 2500"/>
            </a:avLst>
          </a:prstGeom>
          <a:solidFill>
            <a:srgbClr val="FFFFFF">
              <a:alpha val="0"/>
            </a:srgbClr>
          </a:solidFill>
          <a:ln w="15875">
            <a:solidFill>
              <a:srgbClr val="B05E10"/>
            </a:solidFill>
            <a:prstDash val="dash"/>
          </a:ln>
        </p:spPr>
      </p:sp>
      <p:sp>
        <p:nvSpPr>
          <p:cNvPr id="23" name="Text 20"/>
          <p:cNvSpPr txBox="1"/>
          <p:nvPr/>
        </p:nvSpPr>
        <p:spPr>
          <a:xfrm>
            <a:off x="9601200" y="1536192"/>
            <a:ext cx="2011680" cy="201168"/>
          </a:xfrm>
          <a:prstGeom prst="rect">
            <a:avLst/>
          </a:prstGeom>
          <a:noFill/>
          <a:ln/>
        </p:spPr>
        <p:txBody>
          <a:bodyPr wrap="square" lIns="0" tIns="0" rIns="0" bIns="0" rtlCol="0" anchor="ctr"/>
          <a:lstStyle/>
          <a:p>
            <a:pPr marL="0" indent="0">
              <a:buNone/>
            </a:pPr>
            <a:r>
              <a:rPr lang="en-US" sz="1000" b="1" dirty="0">
                <a:solidFill>
                  <a:srgbClr val="B05E10"/>
                </a:solidFill>
                <a:latin typeface="Calibri" pitchFamily="34" charset="0"/>
                <a:ea typeface="Calibri" pitchFamily="34" charset="-122"/>
                <a:cs typeface="Calibri" pitchFamily="34" charset="-120"/>
              </a:rPr>
              <a:t>Operations &amp; governance</a:t>
            </a:r>
            <a:endParaRPr lang="en-US" sz="1000" dirty="0"/>
          </a:p>
        </p:txBody>
      </p:sp>
      <p:sp>
        <p:nvSpPr>
          <p:cNvPr id="24" name="Shape 21"/>
          <p:cNvSpPr/>
          <p:nvPr/>
        </p:nvSpPr>
        <p:spPr>
          <a:xfrm>
            <a:off x="1325880" y="2057400"/>
            <a:ext cx="1417320" cy="0"/>
          </a:xfrm>
          <a:prstGeom prst="line">
            <a:avLst/>
          </a:prstGeom>
          <a:noFill/>
          <a:ln w="19050">
            <a:solidFill>
              <a:srgbClr val="7A8A7A"/>
            </a:solidFill>
            <a:prstDash val="solid"/>
            <a:tailEnd type="triangle"/>
          </a:ln>
        </p:spPr>
      </p:sp>
      <p:sp>
        <p:nvSpPr>
          <p:cNvPr id="25" name="Shape 22"/>
          <p:cNvSpPr/>
          <p:nvPr/>
        </p:nvSpPr>
        <p:spPr>
          <a:xfrm>
            <a:off x="1005840" y="2880360"/>
            <a:ext cx="0" cy="685800"/>
          </a:xfrm>
          <a:prstGeom prst="line">
            <a:avLst/>
          </a:prstGeom>
          <a:noFill/>
          <a:ln w="19050">
            <a:solidFill>
              <a:srgbClr val="E7157B"/>
            </a:solidFill>
            <a:prstDash val="solid"/>
          </a:ln>
        </p:spPr>
      </p:sp>
      <p:sp>
        <p:nvSpPr>
          <p:cNvPr id="26" name="Shape 23"/>
          <p:cNvSpPr/>
          <p:nvPr/>
        </p:nvSpPr>
        <p:spPr>
          <a:xfrm>
            <a:off x="1005840" y="3566160"/>
            <a:ext cx="1737360" cy="0"/>
          </a:xfrm>
          <a:prstGeom prst="line">
            <a:avLst/>
          </a:prstGeom>
          <a:noFill/>
          <a:ln w="19050">
            <a:solidFill>
              <a:srgbClr val="E7157B"/>
            </a:solidFill>
            <a:prstDash val="solid"/>
            <a:tailEnd type="triangle"/>
          </a:ln>
        </p:spPr>
      </p:sp>
      <p:sp>
        <p:nvSpPr>
          <p:cNvPr id="27" name="Shape 24"/>
          <p:cNvSpPr/>
          <p:nvPr/>
        </p:nvSpPr>
        <p:spPr>
          <a:xfrm flipV="1">
            <a:off x="1005840" y="3977640"/>
            <a:ext cx="0" cy="777240"/>
          </a:xfrm>
          <a:prstGeom prst="line">
            <a:avLst/>
          </a:prstGeom>
          <a:noFill/>
          <a:ln w="19050">
            <a:solidFill>
              <a:srgbClr val="E7157B"/>
            </a:solidFill>
            <a:prstDash val="solid"/>
          </a:ln>
        </p:spPr>
      </p:sp>
      <p:sp>
        <p:nvSpPr>
          <p:cNvPr id="28" name="Shape 25"/>
          <p:cNvSpPr/>
          <p:nvPr/>
        </p:nvSpPr>
        <p:spPr>
          <a:xfrm>
            <a:off x="1005840" y="3977640"/>
            <a:ext cx="1737360" cy="0"/>
          </a:xfrm>
          <a:prstGeom prst="line">
            <a:avLst/>
          </a:prstGeom>
          <a:noFill/>
          <a:ln w="19050">
            <a:solidFill>
              <a:srgbClr val="E7157B"/>
            </a:solidFill>
            <a:prstDash val="solid"/>
            <a:tailEnd type="triangle"/>
          </a:ln>
        </p:spPr>
      </p:sp>
      <p:sp>
        <p:nvSpPr>
          <p:cNvPr id="29" name="Shape 26"/>
          <p:cNvSpPr/>
          <p:nvPr/>
        </p:nvSpPr>
        <p:spPr>
          <a:xfrm>
            <a:off x="3063240" y="4572000"/>
            <a:ext cx="0" cy="1536192"/>
          </a:xfrm>
          <a:prstGeom prst="line">
            <a:avLst/>
          </a:prstGeom>
          <a:noFill/>
          <a:ln w="19050">
            <a:solidFill>
              <a:srgbClr val="DD344C"/>
            </a:solidFill>
            <a:prstDash val="dash"/>
          </a:ln>
        </p:spPr>
      </p:sp>
      <p:sp>
        <p:nvSpPr>
          <p:cNvPr id="30" name="Shape 27"/>
          <p:cNvSpPr/>
          <p:nvPr/>
        </p:nvSpPr>
        <p:spPr>
          <a:xfrm>
            <a:off x="3063240" y="6108192"/>
            <a:ext cx="5394960" cy="0"/>
          </a:xfrm>
          <a:prstGeom prst="line">
            <a:avLst/>
          </a:prstGeom>
          <a:noFill/>
          <a:ln w="19050">
            <a:solidFill>
              <a:srgbClr val="DD344C"/>
            </a:solidFill>
            <a:prstDash val="dash"/>
          </a:ln>
        </p:spPr>
      </p:sp>
      <p:sp>
        <p:nvSpPr>
          <p:cNvPr id="31" name="Shape 28"/>
          <p:cNvSpPr/>
          <p:nvPr/>
        </p:nvSpPr>
        <p:spPr>
          <a:xfrm flipV="1">
            <a:off x="8458200" y="5458968"/>
            <a:ext cx="0" cy="649224"/>
          </a:xfrm>
          <a:prstGeom prst="line">
            <a:avLst/>
          </a:prstGeom>
          <a:noFill/>
          <a:ln w="19050">
            <a:solidFill>
              <a:srgbClr val="DD344C"/>
            </a:solidFill>
            <a:prstDash val="dash"/>
            <a:tailEnd type="triangle"/>
          </a:ln>
        </p:spPr>
      </p:sp>
      <p:sp>
        <p:nvSpPr>
          <p:cNvPr id="32" name="Shape 29"/>
          <p:cNvSpPr/>
          <p:nvPr/>
        </p:nvSpPr>
        <p:spPr>
          <a:xfrm>
            <a:off x="3383280" y="3767328"/>
            <a:ext cx="1143000" cy="0"/>
          </a:xfrm>
          <a:prstGeom prst="line">
            <a:avLst/>
          </a:prstGeom>
          <a:noFill/>
          <a:ln w="19050">
            <a:solidFill>
              <a:srgbClr val="2A7A4A"/>
            </a:solidFill>
            <a:prstDash val="solid"/>
          </a:ln>
        </p:spPr>
      </p:sp>
      <p:sp>
        <p:nvSpPr>
          <p:cNvPr id="33" name="Shape 30"/>
          <p:cNvSpPr/>
          <p:nvPr/>
        </p:nvSpPr>
        <p:spPr>
          <a:xfrm>
            <a:off x="4526280" y="1947672"/>
            <a:ext cx="0" cy="3401568"/>
          </a:xfrm>
          <a:prstGeom prst="line">
            <a:avLst/>
          </a:prstGeom>
          <a:noFill/>
          <a:ln w="19050">
            <a:solidFill>
              <a:srgbClr val="2A7A4A"/>
            </a:solidFill>
            <a:prstDash val="solid"/>
          </a:ln>
        </p:spPr>
      </p:sp>
      <p:sp>
        <p:nvSpPr>
          <p:cNvPr id="34" name="Shape 31"/>
          <p:cNvSpPr/>
          <p:nvPr/>
        </p:nvSpPr>
        <p:spPr>
          <a:xfrm>
            <a:off x="4526280" y="1947672"/>
            <a:ext cx="777240" cy="0"/>
          </a:xfrm>
          <a:prstGeom prst="line">
            <a:avLst/>
          </a:prstGeom>
          <a:noFill/>
          <a:ln w="19050">
            <a:solidFill>
              <a:srgbClr val="2A7A4A"/>
            </a:solidFill>
            <a:prstDash val="solid"/>
            <a:tailEnd type="triangle"/>
          </a:ln>
        </p:spPr>
      </p:sp>
      <p:sp>
        <p:nvSpPr>
          <p:cNvPr id="35" name="Shape 32"/>
          <p:cNvSpPr/>
          <p:nvPr/>
        </p:nvSpPr>
        <p:spPr>
          <a:xfrm>
            <a:off x="4526280" y="2798064"/>
            <a:ext cx="777240" cy="0"/>
          </a:xfrm>
          <a:prstGeom prst="line">
            <a:avLst/>
          </a:prstGeom>
          <a:noFill/>
          <a:ln w="19050">
            <a:solidFill>
              <a:srgbClr val="2A7A4A"/>
            </a:solidFill>
            <a:prstDash val="solid"/>
            <a:tailEnd type="triangle"/>
          </a:ln>
        </p:spPr>
      </p:sp>
      <p:sp>
        <p:nvSpPr>
          <p:cNvPr id="36" name="Shape 33"/>
          <p:cNvSpPr/>
          <p:nvPr/>
        </p:nvSpPr>
        <p:spPr>
          <a:xfrm>
            <a:off x="4526280" y="3648456"/>
            <a:ext cx="777240" cy="0"/>
          </a:xfrm>
          <a:prstGeom prst="line">
            <a:avLst/>
          </a:prstGeom>
          <a:noFill/>
          <a:ln w="19050">
            <a:solidFill>
              <a:srgbClr val="2A7A4A"/>
            </a:solidFill>
            <a:prstDash val="solid"/>
            <a:tailEnd type="triangle"/>
          </a:ln>
        </p:spPr>
      </p:sp>
      <p:sp>
        <p:nvSpPr>
          <p:cNvPr id="37" name="Shape 34"/>
          <p:cNvSpPr/>
          <p:nvPr/>
        </p:nvSpPr>
        <p:spPr>
          <a:xfrm>
            <a:off x="4526280" y="4498848"/>
            <a:ext cx="777240" cy="0"/>
          </a:xfrm>
          <a:prstGeom prst="line">
            <a:avLst/>
          </a:prstGeom>
          <a:noFill/>
          <a:ln w="19050">
            <a:solidFill>
              <a:srgbClr val="2A7A4A"/>
            </a:solidFill>
            <a:prstDash val="solid"/>
            <a:tailEnd type="triangle"/>
          </a:ln>
        </p:spPr>
      </p:sp>
      <p:sp>
        <p:nvSpPr>
          <p:cNvPr id="38" name="Shape 35"/>
          <p:cNvSpPr/>
          <p:nvPr/>
        </p:nvSpPr>
        <p:spPr>
          <a:xfrm>
            <a:off x="4526280" y="5349240"/>
            <a:ext cx="777240" cy="0"/>
          </a:xfrm>
          <a:prstGeom prst="line">
            <a:avLst/>
          </a:prstGeom>
          <a:noFill/>
          <a:ln w="19050">
            <a:solidFill>
              <a:srgbClr val="2A7A4A"/>
            </a:solidFill>
            <a:prstDash val="solid"/>
            <a:tailEnd type="triangle"/>
          </a:ln>
        </p:spPr>
      </p:sp>
      <p:sp>
        <p:nvSpPr>
          <p:cNvPr id="39" name="Shape 36"/>
          <p:cNvSpPr/>
          <p:nvPr/>
        </p:nvSpPr>
        <p:spPr>
          <a:xfrm>
            <a:off x="5623560" y="1947672"/>
            <a:ext cx="1645920" cy="0"/>
          </a:xfrm>
          <a:prstGeom prst="line">
            <a:avLst/>
          </a:prstGeom>
          <a:noFill/>
          <a:ln w="19050">
            <a:solidFill>
              <a:srgbClr val="3B48CC"/>
            </a:solidFill>
            <a:prstDash val="solid"/>
          </a:ln>
        </p:spPr>
      </p:sp>
      <p:sp>
        <p:nvSpPr>
          <p:cNvPr id="40" name="Shape 37"/>
          <p:cNvSpPr/>
          <p:nvPr/>
        </p:nvSpPr>
        <p:spPr>
          <a:xfrm>
            <a:off x="7269480" y="1947672"/>
            <a:ext cx="0" cy="685800"/>
          </a:xfrm>
          <a:prstGeom prst="line">
            <a:avLst/>
          </a:prstGeom>
          <a:noFill/>
          <a:ln w="19050">
            <a:solidFill>
              <a:srgbClr val="3B48CC"/>
            </a:solidFill>
            <a:prstDash val="solid"/>
          </a:ln>
        </p:spPr>
      </p:sp>
      <p:sp>
        <p:nvSpPr>
          <p:cNvPr id="41" name="Shape 38"/>
          <p:cNvSpPr/>
          <p:nvPr/>
        </p:nvSpPr>
        <p:spPr>
          <a:xfrm>
            <a:off x="7269480" y="2633472"/>
            <a:ext cx="914400" cy="0"/>
          </a:xfrm>
          <a:prstGeom prst="line">
            <a:avLst/>
          </a:prstGeom>
          <a:noFill/>
          <a:ln w="19050">
            <a:solidFill>
              <a:srgbClr val="3B48CC"/>
            </a:solidFill>
            <a:prstDash val="solid"/>
            <a:tailEnd type="triangle"/>
          </a:ln>
        </p:spPr>
      </p:sp>
      <p:sp>
        <p:nvSpPr>
          <p:cNvPr id="42" name="Shape 39"/>
          <p:cNvSpPr/>
          <p:nvPr/>
        </p:nvSpPr>
        <p:spPr>
          <a:xfrm>
            <a:off x="5623560" y="2798064"/>
            <a:ext cx="2560320" cy="0"/>
          </a:xfrm>
          <a:prstGeom prst="line">
            <a:avLst/>
          </a:prstGeom>
          <a:noFill/>
          <a:ln w="19050">
            <a:solidFill>
              <a:srgbClr val="3B48CC"/>
            </a:solidFill>
            <a:prstDash val="solid"/>
            <a:tailEnd type="triangle"/>
          </a:ln>
        </p:spPr>
      </p:sp>
      <p:sp>
        <p:nvSpPr>
          <p:cNvPr id="43" name="Shape 40"/>
          <p:cNvSpPr/>
          <p:nvPr/>
        </p:nvSpPr>
        <p:spPr>
          <a:xfrm>
            <a:off x="5623560" y="3648456"/>
            <a:ext cx="1463040" cy="0"/>
          </a:xfrm>
          <a:prstGeom prst="line">
            <a:avLst/>
          </a:prstGeom>
          <a:noFill/>
          <a:ln w="19050">
            <a:solidFill>
              <a:srgbClr val="3B48CC"/>
            </a:solidFill>
            <a:prstDash val="solid"/>
          </a:ln>
        </p:spPr>
      </p:sp>
      <p:sp>
        <p:nvSpPr>
          <p:cNvPr id="44" name="Shape 41"/>
          <p:cNvSpPr/>
          <p:nvPr/>
        </p:nvSpPr>
        <p:spPr>
          <a:xfrm flipV="1">
            <a:off x="7086600" y="2962656"/>
            <a:ext cx="0" cy="685800"/>
          </a:xfrm>
          <a:prstGeom prst="line">
            <a:avLst/>
          </a:prstGeom>
          <a:noFill/>
          <a:ln w="19050">
            <a:solidFill>
              <a:srgbClr val="3B48CC"/>
            </a:solidFill>
            <a:prstDash val="solid"/>
          </a:ln>
        </p:spPr>
      </p:sp>
      <p:sp>
        <p:nvSpPr>
          <p:cNvPr id="45" name="Shape 42"/>
          <p:cNvSpPr/>
          <p:nvPr/>
        </p:nvSpPr>
        <p:spPr>
          <a:xfrm>
            <a:off x="7086600" y="2962656"/>
            <a:ext cx="1097280" cy="0"/>
          </a:xfrm>
          <a:prstGeom prst="line">
            <a:avLst/>
          </a:prstGeom>
          <a:noFill/>
          <a:ln w="19050">
            <a:solidFill>
              <a:srgbClr val="3B48CC"/>
            </a:solidFill>
            <a:prstDash val="solid"/>
            <a:tailEnd type="triangle"/>
          </a:ln>
        </p:spPr>
      </p:sp>
      <p:sp>
        <p:nvSpPr>
          <p:cNvPr id="46" name="Shape 43"/>
          <p:cNvSpPr/>
          <p:nvPr/>
        </p:nvSpPr>
        <p:spPr>
          <a:xfrm>
            <a:off x="5623560" y="4498848"/>
            <a:ext cx="2560320" cy="0"/>
          </a:xfrm>
          <a:prstGeom prst="line">
            <a:avLst/>
          </a:prstGeom>
          <a:noFill/>
          <a:ln w="19050">
            <a:solidFill>
              <a:srgbClr val="DD344C"/>
            </a:solidFill>
            <a:prstDash val="solid"/>
            <a:tailEnd type="triangle"/>
          </a:ln>
        </p:spPr>
      </p:sp>
      <p:sp>
        <p:nvSpPr>
          <p:cNvPr id="47" name="Shape 44"/>
          <p:cNvSpPr/>
          <p:nvPr/>
        </p:nvSpPr>
        <p:spPr>
          <a:xfrm flipV="1">
            <a:off x="6492240" y="1298448"/>
            <a:ext cx="0" cy="182880"/>
          </a:xfrm>
          <a:prstGeom prst="line">
            <a:avLst/>
          </a:prstGeom>
          <a:noFill/>
          <a:ln w="19050">
            <a:solidFill>
              <a:srgbClr val="B05E10"/>
            </a:solidFill>
            <a:prstDash val="dash"/>
          </a:ln>
        </p:spPr>
      </p:sp>
      <p:sp>
        <p:nvSpPr>
          <p:cNvPr id="48" name="Shape 45"/>
          <p:cNvSpPr/>
          <p:nvPr/>
        </p:nvSpPr>
        <p:spPr>
          <a:xfrm>
            <a:off x="6492240" y="1298448"/>
            <a:ext cx="4663440" cy="0"/>
          </a:xfrm>
          <a:prstGeom prst="line">
            <a:avLst/>
          </a:prstGeom>
          <a:noFill/>
          <a:ln w="19050">
            <a:solidFill>
              <a:srgbClr val="B05E10"/>
            </a:solidFill>
            <a:prstDash val="dash"/>
          </a:ln>
        </p:spPr>
      </p:sp>
      <p:sp>
        <p:nvSpPr>
          <p:cNvPr id="49" name="Shape 46"/>
          <p:cNvSpPr/>
          <p:nvPr/>
        </p:nvSpPr>
        <p:spPr>
          <a:xfrm>
            <a:off x="11155680" y="1298448"/>
            <a:ext cx="0" cy="438912"/>
          </a:xfrm>
          <a:prstGeom prst="line">
            <a:avLst/>
          </a:prstGeom>
          <a:noFill/>
          <a:ln w="19050">
            <a:solidFill>
              <a:srgbClr val="B05E10"/>
            </a:solidFill>
            <a:prstDash val="dash"/>
            <a:tailEnd type="triangle"/>
          </a:ln>
        </p:spPr>
      </p:sp>
      <p:sp>
        <p:nvSpPr>
          <p:cNvPr id="50" name="Shape 47"/>
          <p:cNvSpPr/>
          <p:nvPr/>
        </p:nvSpPr>
        <p:spPr>
          <a:xfrm>
            <a:off x="685800" y="1737360"/>
            <a:ext cx="640080" cy="640080"/>
          </a:xfrm>
          <a:prstGeom prst="roundRect">
            <a:avLst>
              <a:gd name="adj" fmla="val 14286"/>
            </a:avLst>
          </a:prstGeom>
          <a:solidFill>
            <a:srgbClr val="4A6090"/>
          </a:solidFill>
          <a:ln w="6350">
            <a:solidFill>
              <a:srgbClr val="4A6090"/>
            </a:solidFill>
            <a:prstDash val="solid"/>
          </a:ln>
        </p:spPr>
      </p:sp>
      <p:pic>
        <p:nvPicPr>
          <p:cNvPr id="51" name="Image 1" descr="preencoded.png"/>
          <p:cNvPicPr>
            <a:picLocks noChangeAspect="1"/>
          </p:cNvPicPr>
          <p:nvPr/>
        </p:nvPicPr>
        <p:blipFill>
          <a:blip r:embed="rId4"/>
          <a:stretch>
            <a:fillRect/>
          </a:stretch>
        </p:blipFill>
        <p:spPr>
          <a:xfrm>
            <a:off x="807415" y="1858975"/>
            <a:ext cx="396850" cy="396850"/>
          </a:xfrm>
          <a:prstGeom prst="rect">
            <a:avLst/>
          </a:prstGeom>
        </p:spPr>
      </p:pic>
      <p:sp>
        <p:nvSpPr>
          <p:cNvPr id="52" name="Text 48"/>
          <p:cNvSpPr txBox="1"/>
          <p:nvPr/>
        </p:nvSpPr>
        <p:spPr>
          <a:xfrm>
            <a:off x="228600" y="2423160"/>
            <a:ext cx="1554480" cy="219456"/>
          </a:xfrm>
          <a:prstGeom prst="rect">
            <a:avLst/>
          </a:prstGeom>
          <a:noFill/>
          <a:ln/>
        </p:spPr>
        <p:txBody>
          <a:bodyPr wrap="square" lIns="0" tIns="0" rIns="0" bIns="0" rtlCol="0" anchor="ctr"/>
          <a:lstStyle/>
          <a:p>
            <a:pPr marL="0" indent="0" algn="ctr">
              <a:buNone/>
            </a:pPr>
            <a:r>
              <a:rPr lang="en-US" sz="1100" b="1" dirty="0">
                <a:solidFill>
                  <a:srgbClr val="1B2E1B"/>
                </a:solidFill>
                <a:latin typeface="Calibri" pitchFamily="34" charset="0"/>
                <a:ea typeface="Calibri" pitchFamily="34" charset="-122"/>
                <a:cs typeface="Calibri" pitchFamily="34" charset="-120"/>
              </a:rPr>
              <a:t>Web browser</a:t>
            </a:r>
            <a:endParaRPr lang="en-US" sz="1100" dirty="0"/>
          </a:p>
        </p:txBody>
      </p:sp>
      <p:sp>
        <p:nvSpPr>
          <p:cNvPr id="53" name="Text 49"/>
          <p:cNvSpPr txBox="1"/>
          <p:nvPr/>
        </p:nvSpPr>
        <p:spPr>
          <a:xfrm>
            <a:off x="228600" y="2633472"/>
            <a:ext cx="1554480" cy="201168"/>
          </a:xfrm>
          <a:prstGeom prst="rect">
            <a:avLst/>
          </a:prstGeom>
          <a:noFill/>
          <a:ln/>
        </p:spPr>
        <p:txBody>
          <a:bodyPr wrap="square" lIns="0" tIns="0" rIns="0" bIns="0" rtlCol="0" anchor="ctr"/>
          <a:lstStyle/>
          <a:p>
            <a:pPr marL="0" indent="0" algn="ctr">
              <a:buNone/>
            </a:pPr>
            <a:r>
              <a:rPr lang="en-US" sz="1000" dirty="0">
                <a:solidFill>
                  <a:srgbClr val="5E6E5E"/>
                </a:solidFill>
                <a:latin typeface="Calibri" pitchFamily="34" charset="0"/>
                <a:ea typeface="Calibri" pitchFamily="34" charset="-122"/>
                <a:cs typeface="Calibri" pitchFamily="34" charset="-120"/>
              </a:rPr>
              <a:t>ops / staff users</a:t>
            </a:r>
            <a:endParaRPr lang="en-US" sz="1000" dirty="0"/>
          </a:p>
        </p:txBody>
      </p:sp>
      <p:sp>
        <p:nvSpPr>
          <p:cNvPr id="54" name="Shape 50"/>
          <p:cNvSpPr/>
          <p:nvPr/>
        </p:nvSpPr>
        <p:spPr>
          <a:xfrm>
            <a:off x="685800" y="4754880"/>
            <a:ext cx="640080" cy="640080"/>
          </a:xfrm>
          <a:prstGeom prst="roundRect">
            <a:avLst>
              <a:gd name="adj" fmla="val 14286"/>
            </a:avLst>
          </a:prstGeom>
          <a:solidFill>
            <a:srgbClr val="2A4A6A"/>
          </a:solidFill>
          <a:ln w="6350">
            <a:solidFill>
              <a:srgbClr val="2A4A6A"/>
            </a:solidFill>
            <a:prstDash val="solid"/>
          </a:ln>
        </p:spPr>
      </p:sp>
      <p:pic>
        <p:nvPicPr>
          <p:cNvPr id="55" name="Image 2" descr="preencoded.png"/>
          <p:cNvPicPr>
            <a:picLocks noChangeAspect="1"/>
          </p:cNvPicPr>
          <p:nvPr/>
        </p:nvPicPr>
        <p:blipFill>
          <a:blip r:embed="rId5"/>
          <a:stretch>
            <a:fillRect/>
          </a:stretch>
        </p:blipFill>
        <p:spPr>
          <a:xfrm>
            <a:off x="807415" y="4876495"/>
            <a:ext cx="396850" cy="396850"/>
          </a:xfrm>
          <a:prstGeom prst="rect">
            <a:avLst/>
          </a:prstGeom>
        </p:spPr>
      </p:pic>
      <p:sp>
        <p:nvSpPr>
          <p:cNvPr id="56" name="Text 51"/>
          <p:cNvSpPr txBox="1"/>
          <p:nvPr/>
        </p:nvSpPr>
        <p:spPr>
          <a:xfrm>
            <a:off x="228600" y="5440680"/>
            <a:ext cx="1554480" cy="219456"/>
          </a:xfrm>
          <a:prstGeom prst="rect">
            <a:avLst/>
          </a:prstGeom>
          <a:noFill/>
          <a:ln/>
        </p:spPr>
        <p:txBody>
          <a:bodyPr wrap="square" lIns="0" tIns="0" rIns="0" bIns="0" rtlCol="0" anchor="ctr"/>
          <a:lstStyle/>
          <a:p>
            <a:pPr marL="0" indent="0" algn="ctr">
              <a:buNone/>
            </a:pPr>
            <a:r>
              <a:rPr lang="en-US" sz="1100" b="1" dirty="0">
                <a:solidFill>
                  <a:srgbClr val="1B2E1B"/>
                </a:solidFill>
                <a:latin typeface="Calibri" pitchFamily="34" charset="0"/>
                <a:ea typeface="Calibri" pitchFamily="34" charset="-122"/>
                <a:cs typeface="Calibri" pitchFamily="34" charset="-120"/>
              </a:rPr>
              <a:t>Campus simulator</a:t>
            </a:r>
            <a:endParaRPr lang="en-US" sz="1100" dirty="0"/>
          </a:p>
        </p:txBody>
      </p:sp>
      <p:sp>
        <p:nvSpPr>
          <p:cNvPr id="57" name="Text 52"/>
          <p:cNvSpPr txBox="1"/>
          <p:nvPr/>
        </p:nvSpPr>
        <p:spPr>
          <a:xfrm>
            <a:off x="228600" y="5650992"/>
            <a:ext cx="1554480" cy="201168"/>
          </a:xfrm>
          <a:prstGeom prst="rect">
            <a:avLst/>
          </a:prstGeom>
          <a:noFill/>
          <a:ln/>
        </p:spPr>
        <p:txBody>
          <a:bodyPr wrap="square" lIns="0" tIns="0" rIns="0" bIns="0" rtlCol="0" anchor="ctr"/>
          <a:lstStyle/>
          <a:p>
            <a:pPr marL="0" indent="0" algn="ctr">
              <a:buNone/>
            </a:pPr>
            <a:r>
              <a:rPr lang="en-US" sz="1000" dirty="0">
                <a:solidFill>
                  <a:srgbClr val="5E6E5E"/>
                </a:solidFill>
                <a:latin typeface="Calibri" pitchFamily="34" charset="0"/>
                <a:ea typeface="Calibri" pitchFamily="34" charset="-122"/>
                <a:cs typeface="Calibri" pitchFamily="34" charset="-120"/>
              </a:rPr>
              <a:t>Python, stdlib only</a:t>
            </a:r>
            <a:endParaRPr lang="en-US" sz="1000" dirty="0"/>
          </a:p>
        </p:txBody>
      </p:sp>
      <p:sp>
        <p:nvSpPr>
          <p:cNvPr id="58" name="Shape 53"/>
          <p:cNvSpPr/>
          <p:nvPr/>
        </p:nvSpPr>
        <p:spPr>
          <a:xfrm>
            <a:off x="2743200" y="1737360"/>
            <a:ext cx="640080" cy="640080"/>
          </a:xfrm>
          <a:prstGeom prst="roundRect">
            <a:avLst>
              <a:gd name="adj" fmla="val 14286"/>
            </a:avLst>
          </a:prstGeom>
          <a:solidFill>
            <a:srgbClr val="7AA116"/>
          </a:solidFill>
          <a:ln w="6350">
            <a:solidFill>
              <a:srgbClr val="7AA116"/>
            </a:solidFill>
            <a:prstDash val="solid"/>
          </a:ln>
        </p:spPr>
      </p:sp>
      <p:pic>
        <p:nvPicPr>
          <p:cNvPr id="59" name="Image 3" descr="preencoded.png"/>
          <p:cNvPicPr>
            <a:picLocks noChangeAspect="1"/>
          </p:cNvPicPr>
          <p:nvPr/>
        </p:nvPicPr>
        <p:blipFill>
          <a:blip r:embed="rId6"/>
          <a:stretch>
            <a:fillRect/>
          </a:stretch>
        </p:blipFill>
        <p:spPr>
          <a:xfrm>
            <a:off x="2864815" y="1858975"/>
            <a:ext cx="396850" cy="396850"/>
          </a:xfrm>
          <a:prstGeom prst="rect">
            <a:avLst/>
          </a:prstGeom>
        </p:spPr>
      </p:pic>
      <p:sp>
        <p:nvSpPr>
          <p:cNvPr id="60" name="Text 54"/>
          <p:cNvSpPr txBox="1"/>
          <p:nvPr/>
        </p:nvSpPr>
        <p:spPr>
          <a:xfrm>
            <a:off x="2286000" y="2423160"/>
            <a:ext cx="1554480" cy="219456"/>
          </a:xfrm>
          <a:prstGeom prst="rect">
            <a:avLst/>
          </a:prstGeom>
          <a:noFill/>
          <a:ln/>
        </p:spPr>
        <p:txBody>
          <a:bodyPr wrap="square" lIns="0" tIns="0" rIns="0" bIns="0" rtlCol="0" anchor="ctr"/>
          <a:lstStyle/>
          <a:p>
            <a:pPr marL="0" indent="0" algn="ctr">
              <a:buNone/>
            </a:pPr>
            <a:r>
              <a:rPr lang="en-US" sz="1100" b="1" dirty="0">
                <a:solidFill>
                  <a:srgbClr val="1B2E1B"/>
                </a:solidFill>
                <a:latin typeface="Calibri" pitchFamily="34" charset="0"/>
                <a:ea typeface="Calibri" pitchFamily="34" charset="-122"/>
                <a:cs typeface="Calibri" pitchFamily="34" charset="-120"/>
              </a:rPr>
              <a:t>Amazon S3</a:t>
            </a:r>
            <a:endParaRPr lang="en-US" sz="1100" dirty="0"/>
          </a:p>
        </p:txBody>
      </p:sp>
      <p:sp>
        <p:nvSpPr>
          <p:cNvPr id="61" name="Text 55"/>
          <p:cNvSpPr txBox="1"/>
          <p:nvPr/>
        </p:nvSpPr>
        <p:spPr>
          <a:xfrm>
            <a:off x="2286000" y="2633472"/>
            <a:ext cx="1554480" cy="201168"/>
          </a:xfrm>
          <a:prstGeom prst="rect">
            <a:avLst/>
          </a:prstGeom>
          <a:noFill/>
          <a:ln/>
        </p:spPr>
        <p:txBody>
          <a:bodyPr wrap="square" lIns="0" tIns="0" rIns="0" bIns="0" rtlCol="0" anchor="ctr"/>
          <a:lstStyle/>
          <a:p>
            <a:pPr marL="0" indent="0" algn="ctr">
              <a:buNone/>
            </a:pPr>
            <a:r>
              <a:rPr lang="en-US" sz="1000" dirty="0">
                <a:solidFill>
                  <a:srgbClr val="5E6E5E"/>
                </a:solidFill>
                <a:latin typeface="Calibri" pitchFamily="34" charset="0"/>
                <a:ea typeface="Calibri" pitchFamily="34" charset="-122"/>
                <a:cs typeface="Calibri" pitchFamily="34" charset="-120"/>
              </a:rPr>
              <a:t>Static dashboard</a:t>
            </a:r>
            <a:endParaRPr lang="en-US" sz="1000" dirty="0"/>
          </a:p>
        </p:txBody>
      </p:sp>
      <p:sp>
        <p:nvSpPr>
          <p:cNvPr id="62" name="Shape 56"/>
          <p:cNvSpPr/>
          <p:nvPr/>
        </p:nvSpPr>
        <p:spPr>
          <a:xfrm>
            <a:off x="2743200" y="3447288"/>
            <a:ext cx="640080" cy="640080"/>
          </a:xfrm>
          <a:prstGeom prst="roundRect">
            <a:avLst>
              <a:gd name="adj" fmla="val 14286"/>
            </a:avLst>
          </a:prstGeom>
          <a:solidFill>
            <a:srgbClr val="E7157B"/>
          </a:solidFill>
          <a:ln w="6350">
            <a:solidFill>
              <a:srgbClr val="E7157B"/>
            </a:solidFill>
            <a:prstDash val="solid"/>
          </a:ln>
        </p:spPr>
      </p:sp>
      <p:pic>
        <p:nvPicPr>
          <p:cNvPr id="63" name="Image 4" descr="preencoded.png"/>
          <p:cNvPicPr>
            <a:picLocks noChangeAspect="1"/>
          </p:cNvPicPr>
          <p:nvPr/>
        </p:nvPicPr>
        <p:blipFill>
          <a:blip r:embed="rId7"/>
          <a:stretch>
            <a:fillRect/>
          </a:stretch>
        </p:blipFill>
        <p:spPr>
          <a:xfrm>
            <a:off x="2864815" y="3568903"/>
            <a:ext cx="396850" cy="396850"/>
          </a:xfrm>
          <a:prstGeom prst="rect">
            <a:avLst/>
          </a:prstGeom>
        </p:spPr>
      </p:pic>
      <p:sp>
        <p:nvSpPr>
          <p:cNvPr id="64" name="Text 57"/>
          <p:cNvSpPr txBox="1"/>
          <p:nvPr/>
        </p:nvSpPr>
        <p:spPr>
          <a:xfrm>
            <a:off x="2286000" y="4133088"/>
            <a:ext cx="1554480" cy="219456"/>
          </a:xfrm>
          <a:prstGeom prst="rect">
            <a:avLst/>
          </a:prstGeom>
          <a:noFill/>
          <a:ln/>
        </p:spPr>
        <p:txBody>
          <a:bodyPr wrap="square" lIns="0" tIns="0" rIns="0" bIns="0" rtlCol="0" anchor="ctr"/>
          <a:lstStyle/>
          <a:p>
            <a:pPr marL="0" indent="0" algn="ctr">
              <a:buNone/>
            </a:pPr>
            <a:r>
              <a:rPr lang="en-US" sz="1100" b="1" dirty="0">
                <a:solidFill>
                  <a:srgbClr val="1B2E1B"/>
                </a:solidFill>
                <a:latin typeface="Calibri" pitchFamily="34" charset="0"/>
                <a:ea typeface="Calibri" pitchFamily="34" charset="-122"/>
                <a:cs typeface="Calibri" pitchFamily="34" charset="-120"/>
              </a:rPr>
              <a:t>API Gateway</a:t>
            </a:r>
            <a:endParaRPr lang="en-US" sz="1100" dirty="0"/>
          </a:p>
        </p:txBody>
      </p:sp>
      <p:sp>
        <p:nvSpPr>
          <p:cNvPr id="65" name="Text 58"/>
          <p:cNvSpPr txBox="1"/>
          <p:nvPr/>
        </p:nvSpPr>
        <p:spPr>
          <a:xfrm>
            <a:off x="2286000" y="4343400"/>
            <a:ext cx="1554480" cy="201168"/>
          </a:xfrm>
          <a:prstGeom prst="rect">
            <a:avLst/>
          </a:prstGeom>
          <a:noFill/>
          <a:ln/>
        </p:spPr>
        <p:txBody>
          <a:bodyPr wrap="square" lIns="0" tIns="0" rIns="0" bIns="0" rtlCol="0" anchor="ctr"/>
          <a:lstStyle/>
          <a:p>
            <a:pPr marL="0" indent="0" algn="ctr">
              <a:buNone/>
            </a:pPr>
            <a:r>
              <a:rPr lang="en-US" sz="1000" dirty="0">
                <a:solidFill>
                  <a:srgbClr val="5E6E5E"/>
                </a:solidFill>
                <a:latin typeface="Calibri" pitchFamily="34" charset="0"/>
                <a:ea typeface="Calibri" pitchFamily="34" charset="-122"/>
                <a:cs typeface="Calibri" pitchFamily="34" charset="-120"/>
              </a:rPr>
              <a:t>HTTP API · JWT check</a:t>
            </a:r>
            <a:endParaRPr lang="en-US" sz="1000" dirty="0"/>
          </a:p>
        </p:txBody>
      </p:sp>
      <p:sp>
        <p:nvSpPr>
          <p:cNvPr id="66" name="Shape 59"/>
          <p:cNvSpPr/>
          <p:nvPr/>
        </p:nvSpPr>
        <p:spPr>
          <a:xfrm>
            <a:off x="5239512" y="1719072"/>
            <a:ext cx="457200" cy="457200"/>
          </a:xfrm>
          <a:prstGeom prst="roundRect">
            <a:avLst>
              <a:gd name="adj" fmla="val 20000"/>
            </a:avLst>
          </a:prstGeom>
          <a:solidFill>
            <a:srgbClr val="ED7100"/>
          </a:solidFill>
          <a:ln w="6350">
            <a:solidFill>
              <a:srgbClr val="ED7100"/>
            </a:solidFill>
            <a:prstDash val="solid"/>
          </a:ln>
        </p:spPr>
      </p:sp>
      <p:pic>
        <p:nvPicPr>
          <p:cNvPr id="67" name="Image 5" descr="preencoded.png"/>
          <p:cNvPicPr>
            <a:picLocks noChangeAspect="1"/>
          </p:cNvPicPr>
          <p:nvPr/>
        </p:nvPicPr>
        <p:blipFill>
          <a:blip r:embed="rId8"/>
          <a:stretch>
            <a:fillRect/>
          </a:stretch>
        </p:blipFill>
        <p:spPr>
          <a:xfrm>
            <a:off x="5326380" y="1805940"/>
            <a:ext cx="283464" cy="283464"/>
          </a:xfrm>
          <a:prstGeom prst="rect">
            <a:avLst/>
          </a:prstGeom>
        </p:spPr>
      </p:pic>
      <p:sp>
        <p:nvSpPr>
          <p:cNvPr id="68" name="Text 60"/>
          <p:cNvSpPr txBox="1"/>
          <p:nvPr/>
        </p:nvSpPr>
        <p:spPr>
          <a:xfrm>
            <a:off x="4553712" y="2203704"/>
            <a:ext cx="1828800" cy="201168"/>
          </a:xfrm>
          <a:prstGeom prst="rect">
            <a:avLst/>
          </a:prstGeom>
          <a:noFill/>
          <a:ln/>
        </p:spPr>
        <p:txBody>
          <a:bodyPr wrap="square" lIns="0" tIns="0" rIns="0" bIns="0" rtlCol="0" anchor="ctr"/>
          <a:lstStyle/>
          <a:p>
            <a:pPr marL="0" indent="0" algn="ctr">
              <a:buNone/>
            </a:pPr>
            <a:r>
              <a:rPr lang="en-US" sz="1000" b="1" dirty="0">
                <a:solidFill>
                  <a:srgbClr val="1B2E1B"/>
                </a:solidFill>
                <a:latin typeface="Calibri" pitchFamily="34" charset="0"/>
                <a:ea typeface="Calibri" pitchFamily="34" charset="-122"/>
                <a:cs typeface="Calibri" pitchFamily="34" charset="-120"/>
              </a:rPr>
              <a:t>cp-ingest  </a:t>
            </a:r>
            <a:r>
              <a:rPr lang="en-US" sz="1000" dirty="0">
                <a:solidFill>
                  <a:srgbClr val="5E6E5E"/>
                </a:solidFill>
                <a:latin typeface="Calibri" pitchFamily="34" charset="0"/>
                <a:ea typeface="Calibri" pitchFamily="34" charset="-122"/>
                <a:cs typeface="Calibri" pitchFamily="34" charset="-120"/>
              </a:rPr>
              <a:t>POST /events</a:t>
            </a:r>
            <a:endParaRPr lang="en-US" sz="1000" dirty="0"/>
          </a:p>
        </p:txBody>
      </p:sp>
      <p:sp>
        <p:nvSpPr>
          <p:cNvPr id="69" name="Shape 61"/>
          <p:cNvSpPr/>
          <p:nvPr/>
        </p:nvSpPr>
        <p:spPr>
          <a:xfrm>
            <a:off x="5239512" y="2569464"/>
            <a:ext cx="457200" cy="457200"/>
          </a:xfrm>
          <a:prstGeom prst="roundRect">
            <a:avLst>
              <a:gd name="adj" fmla="val 20000"/>
            </a:avLst>
          </a:prstGeom>
          <a:solidFill>
            <a:srgbClr val="ED7100"/>
          </a:solidFill>
          <a:ln w="6350">
            <a:solidFill>
              <a:srgbClr val="ED7100"/>
            </a:solidFill>
            <a:prstDash val="solid"/>
          </a:ln>
        </p:spPr>
      </p:sp>
      <p:pic>
        <p:nvPicPr>
          <p:cNvPr id="70" name="Image 6" descr="preencoded.png"/>
          <p:cNvPicPr>
            <a:picLocks noChangeAspect="1"/>
          </p:cNvPicPr>
          <p:nvPr/>
        </p:nvPicPr>
        <p:blipFill>
          <a:blip r:embed="rId8"/>
          <a:stretch>
            <a:fillRect/>
          </a:stretch>
        </p:blipFill>
        <p:spPr>
          <a:xfrm>
            <a:off x="5326380" y="2656332"/>
            <a:ext cx="283464" cy="283464"/>
          </a:xfrm>
          <a:prstGeom prst="rect">
            <a:avLst/>
          </a:prstGeom>
        </p:spPr>
      </p:pic>
      <p:sp>
        <p:nvSpPr>
          <p:cNvPr id="71" name="Text 62"/>
          <p:cNvSpPr txBox="1"/>
          <p:nvPr/>
        </p:nvSpPr>
        <p:spPr>
          <a:xfrm>
            <a:off x="4553712" y="3054096"/>
            <a:ext cx="1828800" cy="201168"/>
          </a:xfrm>
          <a:prstGeom prst="rect">
            <a:avLst/>
          </a:prstGeom>
          <a:noFill/>
          <a:ln/>
        </p:spPr>
        <p:txBody>
          <a:bodyPr wrap="square" lIns="0" tIns="0" rIns="0" bIns="0" rtlCol="0" anchor="ctr"/>
          <a:lstStyle/>
          <a:p>
            <a:pPr marL="0" indent="0" algn="ctr">
              <a:buNone/>
            </a:pPr>
            <a:r>
              <a:rPr lang="en-US" sz="1000" b="1" dirty="0">
                <a:solidFill>
                  <a:srgbClr val="1B2E1B"/>
                </a:solidFill>
                <a:latin typeface="Calibri" pitchFamily="34" charset="0"/>
                <a:ea typeface="Calibri" pitchFamily="34" charset="-122"/>
                <a:cs typeface="Calibri" pitchFamily="34" charset="-120"/>
              </a:rPr>
              <a:t>cp-query  </a:t>
            </a:r>
            <a:r>
              <a:rPr lang="en-US" sz="1000" dirty="0">
                <a:solidFill>
                  <a:srgbClr val="5E6E5E"/>
                </a:solidFill>
                <a:latin typeface="Calibri" pitchFamily="34" charset="0"/>
                <a:ea typeface="Calibri" pitchFamily="34" charset="-122"/>
                <a:cs typeface="Calibri" pitchFamily="34" charset="-120"/>
              </a:rPr>
              <a:t>/events /alerts</a:t>
            </a:r>
            <a:endParaRPr lang="en-US" sz="1000" dirty="0"/>
          </a:p>
        </p:txBody>
      </p:sp>
      <p:sp>
        <p:nvSpPr>
          <p:cNvPr id="72" name="Shape 63"/>
          <p:cNvSpPr/>
          <p:nvPr/>
        </p:nvSpPr>
        <p:spPr>
          <a:xfrm>
            <a:off x="5239512" y="3419856"/>
            <a:ext cx="457200" cy="457200"/>
          </a:xfrm>
          <a:prstGeom prst="roundRect">
            <a:avLst>
              <a:gd name="adj" fmla="val 20000"/>
            </a:avLst>
          </a:prstGeom>
          <a:solidFill>
            <a:srgbClr val="ED7100"/>
          </a:solidFill>
          <a:ln w="6350">
            <a:solidFill>
              <a:srgbClr val="ED7100"/>
            </a:solidFill>
            <a:prstDash val="solid"/>
          </a:ln>
        </p:spPr>
      </p:sp>
      <p:pic>
        <p:nvPicPr>
          <p:cNvPr id="73" name="Image 7" descr="preencoded.png"/>
          <p:cNvPicPr>
            <a:picLocks noChangeAspect="1"/>
          </p:cNvPicPr>
          <p:nvPr/>
        </p:nvPicPr>
        <p:blipFill>
          <a:blip r:embed="rId8"/>
          <a:stretch>
            <a:fillRect/>
          </a:stretch>
        </p:blipFill>
        <p:spPr>
          <a:xfrm>
            <a:off x="5326380" y="3506724"/>
            <a:ext cx="283464" cy="283464"/>
          </a:xfrm>
          <a:prstGeom prst="rect">
            <a:avLst/>
          </a:prstGeom>
        </p:spPr>
      </p:pic>
      <p:sp>
        <p:nvSpPr>
          <p:cNvPr id="74" name="Text 64"/>
          <p:cNvSpPr txBox="1"/>
          <p:nvPr/>
        </p:nvSpPr>
        <p:spPr>
          <a:xfrm>
            <a:off x="4553712" y="3904488"/>
            <a:ext cx="1828800" cy="201168"/>
          </a:xfrm>
          <a:prstGeom prst="rect">
            <a:avLst/>
          </a:prstGeom>
          <a:noFill/>
          <a:ln/>
        </p:spPr>
        <p:txBody>
          <a:bodyPr wrap="square" lIns="0" tIns="0" rIns="0" bIns="0" rtlCol="0" anchor="ctr"/>
          <a:lstStyle/>
          <a:p>
            <a:pPr marL="0" indent="0" algn="ctr">
              <a:buNone/>
            </a:pPr>
            <a:r>
              <a:rPr lang="en-US" sz="1000" b="1" dirty="0">
                <a:solidFill>
                  <a:srgbClr val="1B2E1B"/>
                </a:solidFill>
                <a:latin typeface="Calibri" pitchFamily="34" charset="0"/>
                <a:ea typeface="Calibri" pitchFamily="34" charset="-122"/>
                <a:cs typeface="Calibri" pitchFamily="34" charset="-120"/>
              </a:rPr>
              <a:t>cp-stats  </a:t>
            </a:r>
            <a:r>
              <a:rPr lang="en-US" sz="1000" dirty="0">
                <a:solidFill>
                  <a:srgbClr val="5E6E5E"/>
                </a:solidFill>
                <a:latin typeface="Calibri" pitchFamily="34" charset="0"/>
                <a:ea typeface="Calibri" pitchFamily="34" charset="-122"/>
                <a:cs typeface="Calibri" pitchFamily="34" charset="-120"/>
              </a:rPr>
              <a:t>GET /stats</a:t>
            </a:r>
            <a:endParaRPr lang="en-US" sz="1000" dirty="0"/>
          </a:p>
        </p:txBody>
      </p:sp>
      <p:sp>
        <p:nvSpPr>
          <p:cNvPr id="75" name="Shape 65"/>
          <p:cNvSpPr/>
          <p:nvPr/>
        </p:nvSpPr>
        <p:spPr>
          <a:xfrm>
            <a:off x="5239512" y="4270248"/>
            <a:ext cx="457200" cy="457200"/>
          </a:xfrm>
          <a:prstGeom prst="roundRect">
            <a:avLst>
              <a:gd name="adj" fmla="val 20000"/>
            </a:avLst>
          </a:prstGeom>
          <a:solidFill>
            <a:srgbClr val="ED7100"/>
          </a:solidFill>
          <a:ln w="6350">
            <a:solidFill>
              <a:srgbClr val="ED7100"/>
            </a:solidFill>
            <a:prstDash val="solid"/>
          </a:ln>
        </p:spPr>
      </p:sp>
      <p:pic>
        <p:nvPicPr>
          <p:cNvPr id="76" name="Image 8" descr="preencoded.png"/>
          <p:cNvPicPr>
            <a:picLocks noChangeAspect="1"/>
          </p:cNvPicPr>
          <p:nvPr/>
        </p:nvPicPr>
        <p:blipFill>
          <a:blip r:embed="rId8"/>
          <a:stretch>
            <a:fillRect/>
          </a:stretch>
        </p:blipFill>
        <p:spPr>
          <a:xfrm>
            <a:off x="5326380" y="4357116"/>
            <a:ext cx="283464" cy="283464"/>
          </a:xfrm>
          <a:prstGeom prst="rect">
            <a:avLst/>
          </a:prstGeom>
        </p:spPr>
      </p:pic>
      <p:sp>
        <p:nvSpPr>
          <p:cNvPr id="77" name="Text 66"/>
          <p:cNvSpPr txBox="1"/>
          <p:nvPr/>
        </p:nvSpPr>
        <p:spPr>
          <a:xfrm>
            <a:off x="4553712" y="4754880"/>
            <a:ext cx="1828800" cy="201168"/>
          </a:xfrm>
          <a:prstGeom prst="rect">
            <a:avLst/>
          </a:prstGeom>
          <a:noFill/>
          <a:ln/>
        </p:spPr>
        <p:txBody>
          <a:bodyPr wrap="square" lIns="0" tIns="0" rIns="0" bIns="0" rtlCol="0" anchor="ctr"/>
          <a:lstStyle/>
          <a:p>
            <a:pPr marL="0" indent="0" algn="ctr">
              <a:buNone/>
            </a:pPr>
            <a:r>
              <a:rPr lang="en-US" sz="1000" b="1" dirty="0">
                <a:solidFill>
                  <a:srgbClr val="1B2E1B"/>
                </a:solidFill>
                <a:latin typeface="Calibri" pitchFamily="34" charset="0"/>
                <a:ea typeface="Calibri" pitchFamily="34" charset="-122"/>
                <a:cs typeface="Calibri" pitchFamily="34" charset="-120"/>
              </a:rPr>
              <a:t>cp-auth  </a:t>
            </a:r>
            <a:r>
              <a:rPr lang="en-US" sz="1000" dirty="0">
                <a:solidFill>
                  <a:srgbClr val="5E6E5E"/>
                </a:solidFill>
                <a:latin typeface="Calibri" pitchFamily="34" charset="0"/>
                <a:ea typeface="Calibri" pitchFamily="34" charset="-122"/>
                <a:cs typeface="Calibri" pitchFamily="34" charset="-120"/>
              </a:rPr>
              <a:t>POST /login</a:t>
            </a:r>
            <a:endParaRPr lang="en-US" sz="1000" dirty="0"/>
          </a:p>
        </p:txBody>
      </p:sp>
      <p:sp>
        <p:nvSpPr>
          <p:cNvPr id="78" name="Shape 67"/>
          <p:cNvSpPr/>
          <p:nvPr/>
        </p:nvSpPr>
        <p:spPr>
          <a:xfrm>
            <a:off x="5239512" y="5120640"/>
            <a:ext cx="457200" cy="457200"/>
          </a:xfrm>
          <a:prstGeom prst="roundRect">
            <a:avLst>
              <a:gd name="adj" fmla="val 20000"/>
            </a:avLst>
          </a:prstGeom>
          <a:solidFill>
            <a:srgbClr val="ED7100"/>
          </a:solidFill>
          <a:ln w="6350">
            <a:solidFill>
              <a:srgbClr val="ED7100"/>
            </a:solidFill>
            <a:prstDash val="solid"/>
          </a:ln>
        </p:spPr>
      </p:sp>
      <p:pic>
        <p:nvPicPr>
          <p:cNvPr id="79" name="Image 9" descr="preencoded.png"/>
          <p:cNvPicPr>
            <a:picLocks noChangeAspect="1"/>
          </p:cNvPicPr>
          <p:nvPr/>
        </p:nvPicPr>
        <p:blipFill>
          <a:blip r:embed="rId8"/>
          <a:stretch>
            <a:fillRect/>
          </a:stretch>
        </p:blipFill>
        <p:spPr>
          <a:xfrm>
            <a:off x="5326380" y="5207508"/>
            <a:ext cx="283464" cy="283464"/>
          </a:xfrm>
          <a:prstGeom prst="rect">
            <a:avLst/>
          </a:prstGeom>
        </p:spPr>
      </p:pic>
      <p:sp>
        <p:nvSpPr>
          <p:cNvPr id="80" name="Text 68"/>
          <p:cNvSpPr txBox="1"/>
          <p:nvPr/>
        </p:nvSpPr>
        <p:spPr>
          <a:xfrm>
            <a:off x="4553712" y="5605272"/>
            <a:ext cx="1828800" cy="201168"/>
          </a:xfrm>
          <a:prstGeom prst="rect">
            <a:avLst/>
          </a:prstGeom>
          <a:noFill/>
          <a:ln/>
        </p:spPr>
        <p:txBody>
          <a:bodyPr wrap="square" lIns="0" tIns="0" rIns="0" bIns="0" rtlCol="0" anchor="ctr"/>
          <a:lstStyle/>
          <a:p>
            <a:pPr marL="0" indent="0" algn="ctr">
              <a:buNone/>
            </a:pPr>
            <a:r>
              <a:rPr lang="en-US" sz="1000" b="1" dirty="0">
                <a:solidFill>
                  <a:srgbClr val="1B2E1B"/>
                </a:solidFill>
                <a:latin typeface="Calibri" pitchFamily="34" charset="0"/>
                <a:ea typeface="Calibri" pitchFamily="34" charset="-122"/>
                <a:cs typeface="Calibri" pitchFamily="34" charset="-120"/>
              </a:rPr>
              <a:t>cp-health  </a:t>
            </a:r>
            <a:r>
              <a:rPr lang="en-US" sz="1000" dirty="0">
                <a:solidFill>
                  <a:srgbClr val="5E6E5E"/>
                </a:solidFill>
                <a:latin typeface="Calibri" pitchFamily="34" charset="0"/>
                <a:ea typeface="Calibri" pitchFamily="34" charset="-122"/>
                <a:cs typeface="Calibri" pitchFamily="34" charset="-120"/>
              </a:rPr>
              <a:t>GET /health</a:t>
            </a:r>
            <a:endParaRPr lang="en-US" sz="1000" dirty="0"/>
          </a:p>
        </p:txBody>
      </p:sp>
      <p:sp>
        <p:nvSpPr>
          <p:cNvPr id="81" name="Shape 69"/>
          <p:cNvSpPr/>
          <p:nvPr/>
        </p:nvSpPr>
        <p:spPr>
          <a:xfrm>
            <a:off x="8138160" y="2478024"/>
            <a:ext cx="640080" cy="640080"/>
          </a:xfrm>
          <a:prstGeom prst="roundRect">
            <a:avLst>
              <a:gd name="adj" fmla="val 14286"/>
            </a:avLst>
          </a:prstGeom>
          <a:solidFill>
            <a:srgbClr val="3B48CC"/>
          </a:solidFill>
          <a:ln w="6350">
            <a:solidFill>
              <a:srgbClr val="3B48CC"/>
            </a:solidFill>
            <a:prstDash val="solid"/>
          </a:ln>
        </p:spPr>
      </p:sp>
      <p:pic>
        <p:nvPicPr>
          <p:cNvPr id="82" name="Image 10" descr="preencoded.png"/>
          <p:cNvPicPr>
            <a:picLocks noChangeAspect="1"/>
          </p:cNvPicPr>
          <p:nvPr/>
        </p:nvPicPr>
        <p:blipFill>
          <a:blip r:embed="rId9"/>
          <a:stretch>
            <a:fillRect/>
          </a:stretch>
        </p:blipFill>
        <p:spPr>
          <a:xfrm>
            <a:off x="8259775" y="2599639"/>
            <a:ext cx="396850" cy="396850"/>
          </a:xfrm>
          <a:prstGeom prst="rect">
            <a:avLst/>
          </a:prstGeom>
        </p:spPr>
      </p:pic>
      <p:sp>
        <p:nvSpPr>
          <p:cNvPr id="83" name="Text 70"/>
          <p:cNvSpPr txBox="1"/>
          <p:nvPr/>
        </p:nvSpPr>
        <p:spPr>
          <a:xfrm>
            <a:off x="7680960" y="3163824"/>
            <a:ext cx="1554480" cy="219456"/>
          </a:xfrm>
          <a:prstGeom prst="rect">
            <a:avLst/>
          </a:prstGeom>
          <a:noFill/>
          <a:ln/>
        </p:spPr>
        <p:txBody>
          <a:bodyPr wrap="square" lIns="0" tIns="0" rIns="0" bIns="0" rtlCol="0" anchor="ctr"/>
          <a:lstStyle/>
          <a:p>
            <a:pPr marL="0" indent="0" algn="ctr">
              <a:buNone/>
            </a:pPr>
            <a:r>
              <a:rPr lang="en-US" sz="1100" b="1" dirty="0">
                <a:solidFill>
                  <a:srgbClr val="1B2E1B"/>
                </a:solidFill>
                <a:latin typeface="Calibri" pitchFamily="34" charset="0"/>
                <a:ea typeface="Calibri" pitchFamily="34" charset="-122"/>
                <a:cs typeface="Calibri" pitchFamily="34" charset="-120"/>
              </a:rPr>
              <a:t>DynamoDB</a:t>
            </a:r>
            <a:endParaRPr lang="en-US" sz="1100" dirty="0"/>
          </a:p>
        </p:txBody>
      </p:sp>
      <p:sp>
        <p:nvSpPr>
          <p:cNvPr id="84" name="Text 71"/>
          <p:cNvSpPr txBox="1"/>
          <p:nvPr/>
        </p:nvSpPr>
        <p:spPr>
          <a:xfrm>
            <a:off x="7680960" y="3374136"/>
            <a:ext cx="1554480" cy="201168"/>
          </a:xfrm>
          <a:prstGeom prst="rect">
            <a:avLst/>
          </a:prstGeom>
          <a:noFill/>
          <a:ln/>
        </p:spPr>
        <p:txBody>
          <a:bodyPr wrap="square" lIns="0" tIns="0" rIns="0" bIns="0" rtlCol="0" anchor="ctr"/>
          <a:lstStyle/>
          <a:p>
            <a:pPr marL="0" indent="0" algn="ctr">
              <a:buNone/>
            </a:pPr>
            <a:r>
              <a:rPr lang="en-US" sz="1000" dirty="0">
                <a:solidFill>
                  <a:srgbClr val="5E6E5E"/>
                </a:solidFill>
                <a:latin typeface="Calibri" pitchFamily="34" charset="0"/>
                <a:ea typeface="Calibri" pitchFamily="34" charset="-122"/>
                <a:cs typeface="Calibri" pitchFamily="34" charset="-120"/>
              </a:rPr>
              <a:t>2 GSIs · TTL · PITR</a:t>
            </a:r>
            <a:endParaRPr lang="en-US" sz="1000" dirty="0"/>
          </a:p>
        </p:txBody>
      </p:sp>
      <p:sp>
        <p:nvSpPr>
          <p:cNvPr id="85" name="Shape 72"/>
          <p:cNvSpPr/>
          <p:nvPr/>
        </p:nvSpPr>
        <p:spPr>
          <a:xfrm>
            <a:off x="8138160" y="4178808"/>
            <a:ext cx="640080" cy="640080"/>
          </a:xfrm>
          <a:prstGeom prst="roundRect">
            <a:avLst>
              <a:gd name="adj" fmla="val 14286"/>
            </a:avLst>
          </a:prstGeom>
          <a:solidFill>
            <a:srgbClr val="DD344C"/>
          </a:solidFill>
          <a:ln w="6350">
            <a:solidFill>
              <a:srgbClr val="DD344C"/>
            </a:solidFill>
            <a:prstDash val="solid"/>
          </a:ln>
        </p:spPr>
      </p:sp>
      <p:pic>
        <p:nvPicPr>
          <p:cNvPr id="86" name="Image 11" descr="preencoded.png"/>
          <p:cNvPicPr>
            <a:picLocks noChangeAspect="1"/>
          </p:cNvPicPr>
          <p:nvPr/>
        </p:nvPicPr>
        <p:blipFill>
          <a:blip r:embed="rId10"/>
          <a:stretch>
            <a:fillRect/>
          </a:stretch>
        </p:blipFill>
        <p:spPr>
          <a:xfrm>
            <a:off x="8259775" y="4300423"/>
            <a:ext cx="396850" cy="396850"/>
          </a:xfrm>
          <a:prstGeom prst="rect">
            <a:avLst/>
          </a:prstGeom>
        </p:spPr>
      </p:pic>
      <p:sp>
        <p:nvSpPr>
          <p:cNvPr id="87" name="Text 73"/>
          <p:cNvSpPr txBox="1"/>
          <p:nvPr/>
        </p:nvSpPr>
        <p:spPr>
          <a:xfrm>
            <a:off x="7680960" y="4864608"/>
            <a:ext cx="1554480" cy="219456"/>
          </a:xfrm>
          <a:prstGeom prst="rect">
            <a:avLst/>
          </a:prstGeom>
          <a:noFill/>
          <a:ln/>
        </p:spPr>
        <p:txBody>
          <a:bodyPr wrap="square" lIns="0" tIns="0" rIns="0" bIns="0" rtlCol="0" anchor="ctr"/>
          <a:lstStyle/>
          <a:p>
            <a:pPr marL="0" indent="0" algn="ctr">
              <a:buNone/>
            </a:pPr>
            <a:r>
              <a:rPr lang="en-US" sz="1100" b="1" dirty="0">
                <a:solidFill>
                  <a:srgbClr val="1B2E1B"/>
                </a:solidFill>
                <a:latin typeface="Calibri" pitchFamily="34" charset="0"/>
                <a:ea typeface="Calibri" pitchFamily="34" charset="-122"/>
                <a:cs typeface="Calibri" pitchFamily="34" charset="-120"/>
              </a:rPr>
              <a:t>Cognito</a:t>
            </a:r>
            <a:endParaRPr lang="en-US" sz="1100" dirty="0"/>
          </a:p>
        </p:txBody>
      </p:sp>
      <p:sp>
        <p:nvSpPr>
          <p:cNvPr id="88" name="Text 74"/>
          <p:cNvSpPr txBox="1"/>
          <p:nvPr/>
        </p:nvSpPr>
        <p:spPr>
          <a:xfrm>
            <a:off x="7680960" y="5074920"/>
            <a:ext cx="1554480" cy="201168"/>
          </a:xfrm>
          <a:prstGeom prst="rect">
            <a:avLst/>
          </a:prstGeom>
          <a:noFill/>
          <a:ln/>
        </p:spPr>
        <p:txBody>
          <a:bodyPr wrap="square" lIns="0" tIns="0" rIns="0" bIns="0" rtlCol="0" anchor="ctr"/>
          <a:lstStyle/>
          <a:p>
            <a:pPr marL="0" indent="0" algn="ctr">
              <a:buNone/>
            </a:pPr>
            <a:r>
              <a:rPr lang="en-US" sz="1000" dirty="0">
                <a:solidFill>
                  <a:srgbClr val="5E6E5E"/>
                </a:solidFill>
                <a:latin typeface="Calibri" pitchFamily="34" charset="0"/>
                <a:ea typeface="Calibri" pitchFamily="34" charset="-122"/>
                <a:cs typeface="Calibri" pitchFamily="34" charset="-120"/>
              </a:rPr>
              <a:t>groups: ops · staff</a:t>
            </a:r>
            <a:endParaRPr lang="en-US" sz="1000" dirty="0"/>
          </a:p>
        </p:txBody>
      </p:sp>
      <p:sp>
        <p:nvSpPr>
          <p:cNvPr id="89" name="Shape 75"/>
          <p:cNvSpPr/>
          <p:nvPr/>
        </p:nvSpPr>
        <p:spPr>
          <a:xfrm>
            <a:off x="9738360" y="1737360"/>
            <a:ext cx="640080" cy="640080"/>
          </a:xfrm>
          <a:prstGeom prst="roundRect">
            <a:avLst>
              <a:gd name="adj" fmla="val 14286"/>
            </a:avLst>
          </a:prstGeom>
          <a:solidFill>
            <a:srgbClr val="DD344C"/>
          </a:solidFill>
          <a:ln w="6350">
            <a:solidFill>
              <a:srgbClr val="DD344C"/>
            </a:solidFill>
            <a:prstDash val="solid"/>
          </a:ln>
        </p:spPr>
      </p:sp>
      <p:pic>
        <p:nvPicPr>
          <p:cNvPr id="90" name="Image 12" descr="preencoded.png"/>
          <p:cNvPicPr>
            <a:picLocks noChangeAspect="1"/>
          </p:cNvPicPr>
          <p:nvPr/>
        </p:nvPicPr>
        <p:blipFill>
          <a:blip r:embed="rId11"/>
          <a:stretch>
            <a:fillRect/>
          </a:stretch>
        </p:blipFill>
        <p:spPr>
          <a:xfrm>
            <a:off x="9859975" y="1858975"/>
            <a:ext cx="396850" cy="396850"/>
          </a:xfrm>
          <a:prstGeom prst="rect">
            <a:avLst/>
          </a:prstGeom>
        </p:spPr>
      </p:pic>
      <p:sp>
        <p:nvSpPr>
          <p:cNvPr id="91" name="Text 76"/>
          <p:cNvSpPr txBox="1"/>
          <p:nvPr/>
        </p:nvSpPr>
        <p:spPr>
          <a:xfrm>
            <a:off x="9281160" y="2423160"/>
            <a:ext cx="1554480" cy="219456"/>
          </a:xfrm>
          <a:prstGeom prst="rect">
            <a:avLst/>
          </a:prstGeom>
          <a:noFill/>
          <a:ln/>
        </p:spPr>
        <p:txBody>
          <a:bodyPr wrap="square" lIns="0" tIns="0" rIns="0" bIns="0" rtlCol="0" anchor="ctr"/>
          <a:lstStyle/>
          <a:p>
            <a:pPr marL="0" indent="0" algn="ctr">
              <a:buNone/>
            </a:pPr>
            <a:r>
              <a:rPr lang="en-US" sz="1100" b="1" dirty="0">
                <a:solidFill>
                  <a:srgbClr val="1B2E1B"/>
                </a:solidFill>
                <a:latin typeface="Calibri" pitchFamily="34" charset="0"/>
                <a:ea typeface="Calibri" pitchFamily="34" charset="-122"/>
                <a:cs typeface="Calibri" pitchFamily="34" charset="-120"/>
              </a:rPr>
              <a:t>IAM</a:t>
            </a:r>
            <a:endParaRPr lang="en-US" sz="1100" dirty="0"/>
          </a:p>
        </p:txBody>
      </p:sp>
      <p:sp>
        <p:nvSpPr>
          <p:cNvPr id="92" name="Text 77"/>
          <p:cNvSpPr txBox="1"/>
          <p:nvPr/>
        </p:nvSpPr>
        <p:spPr>
          <a:xfrm>
            <a:off x="9281160" y="2633472"/>
            <a:ext cx="1554480" cy="201168"/>
          </a:xfrm>
          <a:prstGeom prst="rect">
            <a:avLst/>
          </a:prstGeom>
          <a:noFill/>
          <a:ln/>
        </p:spPr>
        <p:txBody>
          <a:bodyPr wrap="square" lIns="0" tIns="0" rIns="0" bIns="0" rtlCol="0" anchor="ctr"/>
          <a:lstStyle/>
          <a:p>
            <a:pPr marL="0" indent="0" algn="ctr">
              <a:buNone/>
            </a:pPr>
            <a:r>
              <a:rPr lang="en-US" sz="1000" dirty="0">
                <a:solidFill>
                  <a:srgbClr val="5E6E5E"/>
                </a:solidFill>
                <a:latin typeface="Calibri" pitchFamily="34" charset="0"/>
                <a:ea typeface="Calibri" pitchFamily="34" charset="-122"/>
                <a:cs typeface="Calibri" pitchFamily="34" charset="-120"/>
              </a:rPr>
              <a:t>5 least-priv. roles</a:t>
            </a:r>
            <a:endParaRPr lang="en-US" sz="1000" dirty="0"/>
          </a:p>
        </p:txBody>
      </p:sp>
      <p:sp>
        <p:nvSpPr>
          <p:cNvPr id="93" name="Shape 78"/>
          <p:cNvSpPr/>
          <p:nvPr/>
        </p:nvSpPr>
        <p:spPr>
          <a:xfrm>
            <a:off x="10835640" y="1737360"/>
            <a:ext cx="640080" cy="640080"/>
          </a:xfrm>
          <a:prstGeom prst="roundRect">
            <a:avLst>
              <a:gd name="adj" fmla="val 14286"/>
            </a:avLst>
          </a:prstGeom>
          <a:solidFill>
            <a:srgbClr val="E7157B"/>
          </a:solidFill>
          <a:ln w="6350">
            <a:solidFill>
              <a:srgbClr val="E7157B"/>
            </a:solidFill>
            <a:prstDash val="solid"/>
          </a:ln>
        </p:spPr>
      </p:sp>
      <p:pic>
        <p:nvPicPr>
          <p:cNvPr id="94" name="Image 13" descr="preencoded.png"/>
          <p:cNvPicPr>
            <a:picLocks noChangeAspect="1"/>
          </p:cNvPicPr>
          <p:nvPr/>
        </p:nvPicPr>
        <p:blipFill>
          <a:blip r:embed="rId12"/>
          <a:stretch>
            <a:fillRect/>
          </a:stretch>
        </p:blipFill>
        <p:spPr>
          <a:xfrm>
            <a:off x="10957255" y="1858975"/>
            <a:ext cx="396850" cy="396850"/>
          </a:xfrm>
          <a:prstGeom prst="rect">
            <a:avLst/>
          </a:prstGeom>
        </p:spPr>
      </p:pic>
      <p:sp>
        <p:nvSpPr>
          <p:cNvPr id="95" name="Text 79"/>
          <p:cNvSpPr txBox="1"/>
          <p:nvPr/>
        </p:nvSpPr>
        <p:spPr>
          <a:xfrm>
            <a:off x="10378440" y="2423160"/>
            <a:ext cx="1554480" cy="219456"/>
          </a:xfrm>
          <a:prstGeom prst="rect">
            <a:avLst/>
          </a:prstGeom>
          <a:noFill/>
          <a:ln/>
        </p:spPr>
        <p:txBody>
          <a:bodyPr wrap="square" lIns="0" tIns="0" rIns="0" bIns="0" rtlCol="0" anchor="ctr"/>
          <a:lstStyle/>
          <a:p>
            <a:pPr marL="0" indent="0" algn="ctr">
              <a:buNone/>
            </a:pPr>
            <a:r>
              <a:rPr lang="en-US" sz="1100" b="1" dirty="0">
                <a:solidFill>
                  <a:srgbClr val="1B2E1B"/>
                </a:solidFill>
                <a:latin typeface="Calibri" pitchFamily="34" charset="0"/>
                <a:ea typeface="Calibri" pitchFamily="34" charset="-122"/>
                <a:cs typeface="Calibri" pitchFamily="34" charset="-120"/>
              </a:rPr>
              <a:t>CloudWatch</a:t>
            </a:r>
            <a:endParaRPr lang="en-US" sz="1100" dirty="0"/>
          </a:p>
        </p:txBody>
      </p:sp>
      <p:sp>
        <p:nvSpPr>
          <p:cNvPr id="96" name="Text 80"/>
          <p:cNvSpPr txBox="1"/>
          <p:nvPr/>
        </p:nvSpPr>
        <p:spPr>
          <a:xfrm>
            <a:off x="10378440" y="2633472"/>
            <a:ext cx="1554480" cy="201168"/>
          </a:xfrm>
          <a:prstGeom prst="rect">
            <a:avLst/>
          </a:prstGeom>
          <a:noFill/>
          <a:ln/>
        </p:spPr>
        <p:txBody>
          <a:bodyPr wrap="square" lIns="0" tIns="0" rIns="0" bIns="0" rtlCol="0" anchor="ctr"/>
          <a:lstStyle/>
          <a:p>
            <a:pPr marL="0" indent="0" algn="ctr">
              <a:buNone/>
            </a:pPr>
            <a:r>
              <a:rPr lang="en-US" sz="1000" dirty="0">
                <a:solidFill>
                  <a:srgbClr val="5E6E5E"/>
                </a:solidFill>
                <a:latin typeface="Calibri" pitchFamily="34" charset="0"/>
                <a:ea typeface="Calibri" pitchFamily="34" charset="-122"/>
                <a:cs typeface="Calibri" pitchFamily="34" charset="-120"/>
              </a:rPr>
              <a:t>4 alarms · 1 board</a:t>
            </a:r>
            <a:endParaRPr lang="en-US" sz="1000" dirty="0"/>
          </a:p>
        </p:txBody>
      </p:sp>
      <p:sp>
        <p:nvSpPr>
          <p:cNvPr id="97" name="Shape 81"/>
          <p:cNvSpPr/>
          <p:nvPr/>
        </p:nvSpPr>
        <p:spPr>
          <a:xfrm>
            <a:off x="9738360" y="3337560"/>
            <a:ext cx="640080" cy="640080"/>
          </a:xfrm>
          <a:prstGeom prst="roundRect">
            <a:avLst>
              <a:gd name="adj" fmla="val 14286"/>
            </a:avLst>
          </a:prstGeom>
          <a:solidFill>
            <a:srgbClr val="7AA116"/>
          </a:solidFill>
          <a:ln w="6350">
            <a:solidFill>
              <a:srgbClr val="7AA116"/>
            </a:solidFill>
            <a:prstDash val="solid"/>
          </a:ln>
        </p:spPr>
      </p:sp>
      <p:pic>
        <p:nvPicPr>
          <p:cNvPr id="98" name="Image 14" descr="preencoded.png"/>
          <p:cNvPicPr>
            <a:picLocks noChangeAspect="1"/>
          </p:cNvPicPr>
          <p:nvPr/>
        </p:nvPicPr>
        <p:blipFill>
          <a:blip r:embed="rId13"/>
          <a:stretch>
            <a:fillRect/>
          </a:stretch>
        </p:blipFill>
        <p:spPr>
          <a:xfrm>
            <a:off x="9859975" y="3459175"/>
            <a:ext cx="396850" cy="396850"/>
          </a:xfrm>
          <a:prstGeom prst="rect">
            <a:avLst/>
          </a:prstGeom>
        </p:spPr>
      </p:pic>
      <p:sp>
        <p:nvSpPr>
          <p:cNvPr id="99" name="Text 82"/>
          <p:cNvSpPr txBox="1"/>
          <p:nvPr/>
        </p:nvSpPr>
        <p:spPr>
          <a:xfrm>
            <a:off x="9281160" y="4023360"/>
            <a:ext cx="1554480" cy="219456"/>
          </a:xfrm>
          <a:prstGeom prst="rect">
            <a:avLst/>
          </a:prstGeom>
          <a:noFill/>
          <a:ln/>
        </p:spPr>
        <p:txBody>
          <a:bodyPr wrap="square" lIns="0" tIns="0" rIns="0" bIns="0" rtlCol="0" anchor="ctr"/>
          <a:lstStyle/>
          <a:p>
            <a:pPr marL="0" indent="0" algn="ctr">
              <a:buNone/>
            </a:pPr>
            <a:r>
              <a:rPr lang="en-US" sz="1100" b="1" dirty="0">
                <a:solidFill>
                  <a:srgbClr val="1B2E1B"/>
                </a:solidFill>
                <a:latin typeface="Calibri" pitchFamily="34" charset="0"/>
                <a:ea typeface="Calibri" pitchFamily="34" charset="-122"/>
                <a:cs typeface="Calibri" pitchFamily="34" charset="-120"/>
              </a:rPr>
              <a:t>AWS Budgets</a:t>
            </a:r>
            <a:endParaRPr lang="en-US" sz="1100" dirty="0"/>
          </a:p>
        </p:txBody>
      </p:sp>
      <p:sp>
        <p:nvSpPr>
          <p:cNvPr id="100" name="Text 83"/>
          <p:cNvSpPr txBox="1"/>
          <p:nvPr/>
        </p:nvSpPr>
        <p:spPr>
          <a:xfrm>
            <a:off x="9281160" y="4233672"/>
            <a:ext cx="1554480" cy="201168"/>
          </a:xfrm>
          <a:prstGeom prst="rect">
            <a:avLst/>
          </a:prstGeom>
          <a:noFill/>
          <a:ln/>
        </p:spPr>
        <p:txBody>
          <a:bodyPr wrap="square" lIns="0" tIns="0" rIns="0" bIns="0" rtlCol="0" anchor="ctr"/>
          <a:lstStyle/>
          <a:p>
            <a:pPr marL="0" indent="0" algn="ctr">
              <a:buNone/>
            </a:pPr>
            <a:r>
              <a:rPr lang="en-US" sz="1000" dirty="0">
                <a:solidFill>
                  <a:srgbClr val="5E6E5E"/>
                </a:solidFill>
                <a:latin typeface="Calibri" pitchFamily="34" charset="0"/>
                <a:ea typeface="Calibri" pitchFamily="34" charset="-122"/>
                <a:cs typeface="Calibri" pitchFamily="34" charset="-120"/>
              </a:rPr>
              <a:t>$10 monthly alert</a:t>
            </a:r>
            <a:endParaRPr lang="en-US" sz="1000" dirty="0"/>
          </a:p>
        </p:txBody>
      </p:sp>
      <p:sp>
        <p:nvSpPr>
          <p:cNvPr id="101" name="Shape 84"/>
          <p:cNvSpPr/>
          <p:nvPr/>
        </p:nvSpPr>
        <p:spPr>
          <a:xfrm>
            <a:off x="10835640" y="3337560"/>
            <a:ext cx="640080" cy="640080"/>
          </a:xfrm>
          <a:prstGeom prst="roundRect">
            <a:avLst>
              <a:gd name="adj" fmla="val 14286"/>
            </a:avLst>
          </a:prstGeom>
          <a:solidFill>
            <a:srgbClr val="7B42BC"/>
          </a:solidFill>
          <a:ln w="6350">
            <a:solidFill>
              <a:srgbClr val="7B42BC"/>
            </a:solidFill>
            <a:prstDash val="solid"/>
          </a:ln>
        </p:spPr>
      </p:sp>
      <p:pic>
        <p:nvPicPr>
          <p:cNvPr id="102" name="Image 15" descr="preencoded.png"/>
          <p:cNvPicPr>
            <a:picLocks noChangeAspect="1"/>
          </p:cNvPicPr>
          <p:nvPr/>
        </p:nvPicPr>
        <p:blipFill>
          <a:blip r:embed="rId14"/>
          <a:stretch>
            <a:fillRect/>
          </a:stretch>
        </p:blipFill>
        <p:spPr>
          <a:xfrm>
            <a:off x="10957255" y="3459175"/>
            <a:ext cx="396850" cy="396850"/>
          </a:xfrm>
          <a:prstGeom prst="rect">
            <a:avLst/>
          </a:prstGeom>
        </p:spPr>
      </p:pic>
      <p:sp>
        <p:nvSpPr>
          <p:cNvPr id="103" name="Text 85"/>
          <p:cNvSpPr txBox="1"/>
          <p:nvPr/>
        </p:nvSpPr>
        <p:spPr>
          <a:xfrm>
            <a:off x="10378440" y="4023360"/>
            <a:ext cx="1554480" cy="219456"/>
          </a:xfrm>
          <a:prstGeom prst="rect">
            <a:avLst/>
          </a:prstGeom>
          <a:noFill/>
          <a:ln/>
        </p:spPr>
        <p:txBody>
          <a:bodyPr wrap="square" lIns="0" tIns="0" rIns="0" bIns="0" rtlCol="0" anchor="ctr"/>
          <a:lstStyle/>
          <a:p>
            <a:pPr marL="0" indent="0" algn="ctr">
              <a:buNone/>
            </a:pPr>
            <a:r>
              <a:rPr lang="en-US" sz="1100" b="1" dirty="0">
                <a:solidFill>
                  <a:srgbClr val="1B2E1B"/>
                </a:solidFill>
                <a:latin typeface="Calibri" pitchFamily="34" charset="0"/>
                <a:ea typeface="Calibri" pitchFamily="34" charset="-122"/>
                <a:cs typeface="Calibri" pitchFamily="34" charset="-120"/>
              </a:rPr>
              <a:t>Terraform</a:t>
            </a:r>
            <a:endParaRPr lang="en-US" sz="1100" dirty="0"/>
          </a:p>
        </p:txBody>
      </p:sp>
      <p:sp>
        <p:nvSpPr>
          <p:cNvPr id="104" name="Text 86"/>
          <p:cNvSpPr txBox="1"/>
          <p:nvPr/>
        </p:nvSpPr>
        <p:spPr>
          <a:xfrm>
            <a:off x="10378440" y="4233672"/>
            <a:ext cx="1554480" cy="201168"/>
          </a:xfrm>
          <a:prstGeom prst="rect">
            <a:avLst/>
          </a:prstGeom>
          <a:noFill/>
          <a:ln/>
        </p:spPr>
        <p:txBody>
          <a:bodyPr wrap="square" lIns="0" tIns="0" rIns="0" bIns="0" rtlCol="0" anchor="ctr"/>
          <a:lstStyle/>
          <a:p>
            <a:pPr marL="0" indent="0" algn="ctr">
              <a:buNone/>
            </a:pPr>
            <a:r>
              <a:rPr lang="en-US" sz="1000" dirty="0">
                <a:solidFill>
                  <a:srgbClr val="5E6E5E"/>
                </a:solidFill>
                <a:latin typeface="Calibri" pitchFamily="34" charset="0"/>
                <a:ea typeface="Calibri" pitchFamily="34" charset="-122"/>
                <a:cs typeface="Calibri" pitchFamily="34" charset="-120"/>
              </a:rPr>
              <a:t>61 resources</a:t>
            </a:r>
            <a:endParaRPr lang="en-US" sz="1000" dirty="0"/>
          </a:p>
        </p:txBody>
      </p:sp>
      <p:sp>
        <p:nvSpPr>
          <p:cNvPr id="105" name="Text 87"/>
          <p:cNvSpPr txBox="1"/>
          <p:nvPr/>
        </p:nvSpPr>
        <p:spPr>
          <a:xfrm>
            <a:off x="9692640" y="4800600"/>
            <a:ext cx="1874520" cy="914400"/>
          </a:xfrm>
          <a:prstGeom prst="rect">
            <a:avLst/>
          </a:prstGeom>
          <a:noFill/>
          <a:ln/>
        </p:spPr>
        <p:txBody>
          <a:bodyPr wrap="square" lIns="0" tIns="0" rIns="0" bIns="0" rtlCol="0" anchor="ctr"/>
          <a:lstStyle/>
          <a:p>
            <a:pPr marL="0" indent="0">
              <a:buNone/>
            </a:pPr>
            <a:r>
              <a:rPr lang="en-US" sz="1000" i="1" dirty="0">
                <a:solidFill>
                  <a:srgbClr val="5E6E5E"/>
                </a:solidFill>
                <a:latin typeface="Calibri" pitchFamily="34" charset="0"/>
                <a:ea typeface="Calibri" pitchFamily="34" charset="-122"/>
                <a:cs typeface="Calibri" pitchFamily="34" charset="-120"/>
              </a:rPr>
              <a:t>No VPC, no NAT Gateway, no EC2: nothing in this design bills by the hour.</a:t>
            </a:r>
            <a:endParaRPr lang="en-US" sz="1000" dirty="0"/>
          </a:p>
        </p:txBody>
      </p:sp>
      <p:sp>
        <p:nvSpPr>
          <p:cNvPr id="106" name="Shape 88"/>
          <p:cNvSpPr/>
          <p:nvPr/>
        </p:nvSpPr>
        <p:spPr>
          <a:xfrm>
            <a:off x="1746504" y="1938528"/>
            <a:ext cx="256032" cy="237744"/>
          </a:xfrm>
          <a:prstGeom prst="roundRect">
            <a:avLst>
              <a:gd name="adj" fmla="val 19231"/>
            </a:avLst>
          </a:prstGeom>
          <a:solidFill>
            <a:srgbClr val="1168B8"/>
          </a:solidFill>
          <a:ln w="12700">
            <a:solidFill>
              <a:srgbClr val="FFFFFF"/>
            </a:solidFill>
            <a:prstDash val="solid"/>
          </a:ln>
        </p:spPr>
      </p:sp>
      <p:sp>
        <p:nvSpPr>
          <p:cNvPr id="107" name="Text 89"/>
          <p:cNvSpPr txBox="1"/>
          <p:nvPr/>
        </p:nvSpPr>
        <p:spPr>
          <a:xfrm>
            <a:off x="1746504" y="1938528"/>
            <a:ext cx="256032"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08" name="Shape 90"/>
          <p:cNvSpPr/>
          <p:nvPr/>
        </p:nvSpPr>
        <p:spPr>
          <a:xfrm>
            <a:off x="1746504" y="3447288"/>
            <a:ext cx="256032" cy="237744"/>
          </a:xfrm>
          <a:prstGeom prst="roundRect">
            <a:avLst>
              <a:gd name="adj" fmla="val 19231"/>
            </a:avLst>
          </a:prstGeom>
          <a:solidFill>
            <a:srgbClr val="1168B8"/>
          </a:solidFill>
          <a:ln w="12700">
            <a:solidFill>
              <a:srgbClr val="FFFFFF"/>
            </a:solidFill>
            <a:prstDash val="solid"/>
          </a:ln>
        </p:spPr>
      </p:sp>
      <p:sp>
        <p:nvSpPr>
          <p:cNvPr id="109" name="Text 91"/>
          <p:cNvSpPr txBox="1"/>
          <p:nvPr/>
        </p:nvSpPr>
        <p:spPr>
          <a:xfrm>
            <a:off x="1746504" y="3447288"/>
            <a:ext cx="256032"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10" name="Shape 92"/>
          <p:cNvSpPr/>
          <p:nvPr/>
        </p:nvSpPr>
        <p:spPr>
          <a:xfrm>
            <a:off x="1746504" y="3858768"/>
            <a:ext cx="256032" cy="237744"/>
          </a:xfrm>
          <a:prstGeom prst="roundRect">
            <a:avLst>
              <a:gd name="adj" fmla="val 19231"/>
            </a:avLst>
          </a:prstGeom>
          <a:solidFill>
            <a:srgbClr val="1168B8"/>
          </a:solidFill>
          <a:ln w="12700">
            <a:solidFill>
              <a:srgbClr val="FFFFFF"/>
            </a:solidFill>
            <a:prstDash val="solid"/>
          </a:ln>
        </p:spPr>
      </p:sp>
      <p:sp>
        <p:nvSpPr>
          <p:cNvPr id="111" name="Text 93"/>
          <p:cNvSpPr txBox="1"/>
          <p:nvPr/>
        </p:nvSpPr>
        <p:spPr>
          <a:xfrm>
            <a:off x="1746504" y="3858768"/>
            <a:ext cx="256032"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12" name="Shape 94"/>
          <p:cNvSpPr/>
          <p:nvPr/>
        </p:nvSpPr>
        <p:spPr>
          <a:xfrm>
            <a:off x="4626864" y="5989320"/>
            <a:ext cx="256032" cy="237744"/>
          </a:xfrm>
          <a:prstGeom prst="roundRect">
            <a:avLst>
              <a:gd name="adj" fmla="val 19231"/>
            </a:avLst>
          </a:prstGeom>
          <a:solidFill>
            <a:srgbClr val="1168B8"/>
          </a:solidFill>
          <a:ln w="12700">
            <a:solidFill>
              <a:srgbClr val="FFFFFF"/>
            </a:solidFill>
            <a:prstDash val="solid"/>
          </a:ln>
        </p:spPr>
      </p:sp>
      <p:sp>
        <p:nvSpPr>
          <p:cNvPr id="113" name="Text 95"/>
          <p:cNvSpPr txBox="1"/>
          <p:nvPr/>
        </p:nvSpPr>
        <p:spPr>
          <a:xfrm>
            <a:off x="4626864" y="5989320"/>
            <a:ext cx="256032"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14" name="Shape 96"/>
          <p:cNvSpPr/>
          <p:nvPr/>
        </p:nvSpPr>
        <p:spPr>
          <a:xfrm>
            <a:off x="3849624" y="3648456"/>
            <a:ext cx="256032" cy="237744"/>
          </a:xfrm>
          <a:prstGeom prst="roundRect">
            <a:avLst>
              <a:gd name="adj" fmla="val 19231"/>
            </a:avLst>
          </a:prstGeom>
          <a:solidFill>
            <a:srgbClr val="1168B8"/>
          </a:solidFill>
          <a:ln w="12700">
            <a:solidFill>
              <a:srgbClr val="FFFFFF"/>
            </a:solidFill>
            <a:prstDash val="solid"/>
          </a:ln>
        </p:spPr>
      </p:sp>
      <p:sp>
        <p:nvSpPr>
          <p:cNvPr id="115" name="Text 97"/>
          <p:cNvSpPr txBox="1"/>
          <p:nvPr/>
        </p:nvSpPr>
        <p:spPr>
          <a:xfrm>
            <a:off x="3849624" y="3648456"/>
            <a:ext cx="256032"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16" name="Shape 98"/>
          <p:cNvSpPr/>
          <p:nvPr/>
        </p:nvSpPr>
        <p:spPr>
          <a:xfrm>
            <a:off x="7141464" y="2167128"/>
            <a:ext cx="256032" cy="237744"/>
          </a:xfrm>
          <a:prstGeom prst="roundRect">
            <a:avLst>
              <a:gd name="adj" fmla="val 19231"/>
            </a:avLst>
          </a:prstGeom>
          <a:solidFill>
            <a:srgbClr val="1168B8"/>
          </a:solidFill>
          <a:ln w="12700">
            <a:solidFill>
              <a:srgbClr val="FFFFFF"/>
            </a:solidFill>
            <a:prstDash val="solid"/>
          </a:ln>
        </p:spPr>
      </p:sp>
      <p:sp>
        <p:nvSpPr>
          <p:cNvPr id="117" name="Text 99"/>
          <p:cNvSpPr txBox="1"/>
          <p:nvPr/>
        </p:nvSpPr>
        <p:spPr>
          <a:xfrm>
            <a:off x="7141464" y="2167128"/>
            <a:ext cx="256032"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118" name="Shape 100"/>
          <p:cNvSpPr/>
          <p:nvPr/>
        </p:nvSpPr>
        <p:spPr>
          <a:xfrm>
            <a:off x="7370064" y="2679192"/>
            <a:ext cx="256032" cy="237744"/>
          </a:xfrm>
          <a:prstGeom prst="roundRect">
            <a:avLst>
              <a:gd name="adj" fmla="val 19231"/>
            </a:avLst>
          </a:prstGeom>
          <a:solidFill>
            <a:srgbClr val="1168B8"/>
          </a:solidFill>
          <a:ln w="12700">
            <a:solidFill>
              <a:srgbClr val="FFFFFF"/>
            </a:solidFill>
            <a:prstDash val="solid"/>
          </a:ln>
        </p:spPr>
      </p:sp>
      <p:sp>
        <p:nvSpPr>
          <p:cNvPr id="119" name="Text 101"/>
          <p:cNvSpPr txBox="1"/>
          <p:nvPr/>
        </p:nvSpPr>
        <p:spPr>
          <a:xfrm>
            <a:off x="7370064" y="2679192"/>
            <a:ext cx="256032"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120" name="Shape 102"/>
          <p:cNvSpPr/>
          <p:nvPr/>
        </p:nvSpPr>
        <p:spPr>
          <a:xfrm>
            <a:off x="6958584" y="3191256"/>
            <a:ext cx="256032" cy="237744"/>
          </a:xfrm>
          <a:prstGeom prst="roundRect">
            <a:avLst>
              <a:gd name="adj" fmla="val 19231"/>
            </a:avLst>
          </a:prstGeom>
          <a:solidFill>
            <a:srgbClr val="1168B8"/>
          </a:solidFill>
          <a:ln w="12700">
            <a:solidFill>
              <a:srgbClr val="FFFFFF"/>
            </a:solidFill>
            <a:prstDash val="solid"/>
          </a:ln>
        </p:spPr>
      </p:sp>
      <p:sp>
        <p:nvSpPr>
          <p:cNvPr id="121" name="Text 103"/>
          <p:cNvSpPr txBox="1"/>
          <p:nvPr/>
        </p:nvSpPr>
        <p:spPr>
          <a:xfrm>
            <a:off x="6958584" y="3191256"/>
            <a:ext cx="256032"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122" name="Shape 104"/>
          <p:cNvSpPr/>
          <p:nvPr/>
        </p:nvSpPr>
        <p:spPr>
          <a:xfrm>
            <a:off x="6821424" y="4379976"/>
            <a:ext cx="256032" cy="237744"/>
          </a:xfrm>
          <a:prstGeom prst="roundRect">
            <a:avLst>
              <a:gd name="adj" fmla="val 19231"/>
            </a:avLst>
          </a:prstGeom>
          <a:solidFill>
            <a:srgbClr val="1168B8"/>
          </a:solidFill>
          <a:ln w="12700">
            <a:solidFill>
              <a:srgbClr val="FFFFFF"/>
            </a:solidFill>
            <a:prstDash val="solid"/>
          </a:ln>
        </p:spPr>
      </p:sp>
      <p:sp>
        <p:nvSpPr>
          <p:cNvPr id="123" name="Text 105"/>
          <p:cNvSpPr txBox="1"/>
          <p:nvPr/>
        </p:nvSpPr>
        <p:spPr>
          <a:xfrm>
            <a:off x="6821424" y="4379976"/>
            <a:ext cx="256032"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124" name="Shape 106"/>
          <p:cNvSpPr/>
          <p:nvPr/>
        </p:nvSpPr>
        <p:spPr>
          <a:xfrm>
            <a:off x="8650224" y="1179576"/>
            <a:ext cx="256032" cy="237744"/>
          </a:xfrm>
          <a:prstGeom prst="roundRect">
            <a:avLst>
              <a:gd name="adj" fmla="val 19231"/>
            </a:avLst>
          </a:prstGeom>
          <a:solidFill>
            <a:srgbClr val="1168B8"/>
          </a:solidFill>
          <a:ln w="12700">
            <a:solidFill>
              <a:srgbClr val="FFFFFF"/>
            </a:solidFill>
            <a:prstDash val="solid"/>
          </a:ln>
        </p:spPr>
      </p:sp>
      <p:sp>
        <p:nvSpPr>
          <p:cNvPr id="125" name="Text 107"/>
          <p:cNvSpPr txBox="1"/>
          <p:nvPr/>
        </p:nvSpPr>
        <p:spPr>
          <a:xfrm>
            <a:off x="8650224" y="1179576"/>
            <a:ext cx="256032"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126"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E6E5E"/>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595360" cy="685800"/>
          </a:xfrm>
          <a:prstGeom prst="rect">
            <a:avLst/>
          </a:prstGeom>
          <a:noFill/>
          <a:ln/>
        </p:spPr>
        <p:txBody>
          <a:bodyPr wrap="square" lIns="0" tIns="0" rIns="0" bIns="0" rtlCol="0" anchor="ctr"/>
          <a:lstStyle/>
          <a:p>
            <a:pPr marL="0" indent="0" algn="l">
              <a:buNone/>
            </a:pPr>
            <a:r>
              <a:rPr lang="en-US" sz="3200" b="1" dirty="0">
                <a:solidFill>
                  <a:srgbClr val="2A7A4A"/>
                </a:solidFill>
                <a:latin typeface="Cambria" pitchFamily="34" charset="0"/>
                <a:ea typeface="Cambria" pitchFamily="34" charset="-122"/>
                <a:cs typeface="Cambria" pitchFamily="34" charset="-120"/>
              </a:rPr>
              <a:t>One event, end to end</a:t>
            </a:r>
            <a:endParaRPr lang="en-US" sz="3200" dirty="0"/>
          </a:p>
        </p:txBody>
      </p:sp>
      <p:sp>
        <p:nvSpPr>
          <p:cNvPr id="7" name="Shape 5"/>
          <p:cNvSpPr/>
          <p:nvPr/>
        </p:nvSpPr>
        <p:spPr>
          <a:xfrm>
            <a:off x="548640" y="1234440"/>
            <a:ext cx="1920240" cy="2011680"/>
          </a:xfrm>
          <a:prstGeom prst="roundRect">
            <a:avLst>
              <a:gd name="adj" fmla="val 3810"/>
            </a:avLst>
          </a:prstGeom>
          <a:solidFill>
            <a:srgbClr val="FFFFFF"/>
          </a:solidFill>
          <a:ln w="12700">
            <a:solidFill>
              <a:srgbClr val="C8D5C8"/>
            </a:solidFill>
            <a:prstDash val="solid"/>
          </a:ln>
        </p:spPr>
      </p:sp>
      <p:sp>
        <p:nvSpPr>
          <p:cNvPr id="8" name="Shape 6"/>
          <p:cNvSpPr/>
          <p:nvPr/>
        </p:nvSpPr>
        <p:spPr>
          <a:xfrm>
            <a:off x="1234440" y="1417320"/>
            <a:ext cx="548640" cy="548640"/>
          </a:xfrm>
          <a:prstGeom prst="ellipse">
            <a:avLst/>
          </a:prstGeom>
          <a:solidFill>
            <a:srgbClr val="2A4A6A"/>
          </a:solidFill>
          <a:ln w="12700">
            <a:solidFill>
              <a:srgbClr val="2A4A6A"/>
            </a:solidFill>
            <a:prstDash val="solid"/>
          </a:ln>
        </p:spPr>
      </p:sp>
      <p:pic>
        <p:nvPicPr>
          <p:cNvPr id="9" name="Image 0" descr="preencoded.png"/>
          <p:cNvPicPr>
            <a:picLocks noChangeAspect="1"/>
          </p:cNvPicPr>
          <p:nvPr/>
        </p:nvPicPr>
        <p:blipFill>
          <a:blip r:embed="rId3"/>
          <a:stretch>
            <a:fillRect/>
          </a:stretch>
        </p:blipFill>
        <p:spPr>
          <a:xfrm>
            <a:off x="1355141" y="1538021"/>
            <a:ext cx="307238" cy="307238"/>
          </a:xfrm>
          <a:prstGeom prst="rect">
            <a:avLst/>
          </a:prstGeom>
        </p:spPr>
      </p:pic>
      <p:sp>
        <p:nvSpPr>
          <p:cNvPr id="10" name="Shape 7"/>
          <p:cNvSpPr/>
          <p:nvPr/>
        </p:nvSpPr>
        <p:spPr>
          <a:xfrm>
            <a:off x="1746504" y="1344168"/>
            <a:ext cx="256032" cy="237744"/>
          </a:xfrm>
          <a:prstGeom prst="roundRect">
            <a:avLst>
              <a:gd name="adj" fmla="val 19231"/>
            </a:avLst>
          </a:prstGeom>
          <a:solidFill>
            <a:srgbClr val="1168B8"/>
          </a:solidFill>
          <a:ln w="12700">
            <a:solidFill>
              <a:srgbClr val="FFFFFF"/>
            </a:solidFill>
            <a:prstDash val="solid"/>
          </a:ln>
        </p:spPr>
      </p:sp>
      <p:sp>
        <p:nvSpPr>
          <p:cNvPr id="11" name="Text 8"/>
          <p:cNvSpPr txBox="1"/>
          <p:nvPr/>
        </p:nvSpPr>
        <p:spPr>
          <a:xfrm>
            <a:off x="1746504" y="1344168"/>
            <a:ext cx="256032"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2" name="Text 9"/>
          <p:cNvSpPr txBox="1"/>
          <p:nvPr/>
        </p:nvSpPr>
        <p:spPr>
          <a:xfrm>
            <a:off x="640080" y="2057400"/>
            <a:ext cx="1737360" cy="292608"/>
          </a:xfrm>
          <a:prstGeom prst="rect">
            <a:avLst/>
          </a:prstGeom>
          <a:noFill/>
          <a:ln/>
        </p:spPr>
        <p:txBody>
          <a:bodyPr wrap="square" lIns="0" tIns="0" rIns="0" bIns="0" rtlCol="0" anchor="ctr"/>
          <a:lstStyle/>
          <a:p>
            <a:pPr marL="0" indent="0" algn="ctr">
              <a:buNone/>
            </a:pPr>
            <a:r>
              <a:rPr lang="en-US" sz="1400" b="1" dirty="0">
                <a:solidFill>
                  <a:srgbClr val="1B2E1B"/>
                </a:solidFill>
                <a:latin typeface="Calibri" pitchFamily="34" charset="0"/>
                <a:ea typeface="Calibri" pitchFamily="34" charset="-122"/>
                <a:cs typeface="Calibri" pitchFamily="34" charset="-120"/>
              </a:rPr>
              <a:t>Simulator</a:t>
            </a:r>
            <a:endParaRPr lang="en-US" sz="1400" dirty="0"/>
          </a:p>
        </p:txBody>
      </p:sp>
      <p:sp>
        <p:nvSpPr>
          <p:cNvPr id="13" name="Text 10"/>
          <p:cNvSpPr txBox="1"/>
          <p:nvPr/>
        </p:nvSpPr>
        <p:spPr>
          <a:xfrm>
            <a:off x="685800" y="2377440"/>
            <a:ext cx="1645920" cy="777240"/>
          </a:xfrm>
          <a:prstGeom prst="rect">
            <a:avLst/>
          </a:prstGeom>
          <a:noFill/>
          <a:ln/>
        </p:spPr>
        <p:txBody>
          <a:bodyPr wrap="square" lIns="0" tIns="0" rIns="0" bIns="0" rtlCol="0" anchor="t"/>
          <a:lstStyle/>
          <a:p>
            <a:pPr marL="0" indent="0" algn="ctr">
              <a:buNone/>
            </a:pPr>
            <a:r>
              <a:rPr lang="en-US" sz="1200" dirty="0">
                <a:solidFill>
                  <a:srgbClr val="3E4E3E"/>
                </a:solidFill>
                <a:latin typeface="Calibri" pitchFamily="34" charset="0"/>
                <a:ea typeface="Calibri" pitchFamily="34" charset="-122"/>
                <a:cs typeface="Calibri" pitchFamily="34" charset="-120"/>
              </a:rPr>
              <a:t>Room A203: 58 people, sent as "normal"</a:t>
            </a:r>
            <a:endParaRPr lang="en-US" sz="1200" dirty="0"/>
          </a:p>
        </p:txBody>
      </p:sp>
      <p:sp>
        <p:nvSpPr>
          <p:cNvPr id="14" name="Shape 11"/>
          <p:cNvSpPr/>
          <p:nvPr/>
        </p:nvSpPr>
        <p:spPr>
          <a:xfrm>
            <a:off x="2487168" y="2240280"/>
            <a:ext cx="329184" cy="0"/>
          </a:xfrm>
          <a:prstGeom prst="line">
            <a:avLst/>
          </a:prstGeom>
          <a:noFill/>
          <a:ln w="19050">
            <a:solidFill>
              <a:srgbClr val="5E6E5E"/>
            </a:solidFill>
            <a:prstDash val="solid"/>
            <a:tailEnd type="triangle"/>
          </a:ln>
        </p:spPr>
      </p:sp>
      <p:sp>
        <p:nvSpPr>
          <p:cNvPr id="15" name="Shape 12"/>
          <p:cNvSpPr/>
          <p:nvPr/>
        </p:nvSpPr>
        <p:spPr>
          <a:xfrm>
            <a:off x="2834640" y="1234440"/>
            <a:ext cx="1920240" cy="2011680"/>
          </a:xfrm>
          <a:prstGeom prst="roundRect">
            <a:avLst>
              <a:gd name="adj" fmla="val 3810"/>
            </a:avLst>
          </a:prstGeom>
          <a:solidFill>
            <a:srgbClr val="FFFFFF"/>
          </a:solidFill>
          <a:ln w="12700">
            <a:solidFill>
              <a:srgbClr val="C8D5C8"/>
            </a:solidFill>
            <a:prstDash val="solid"/>
          </a:ln>
        </p:spPr>
      </p:sp>
      <p:sp>
        <p:nvSpPr>
          <p:cNvPr id="16" name="Shape 13"/>
          <p:cNvSpPr/>
          <p:nvPr/>
        </p:nvSpPr>
        <p:spPr>
          <a:xfrm>
            <a:off x="3520440" y="1417320"/>
            <a:ext cx="548640" cy="548640"/>
          </a:xfrm>
          <a:prstGeom prst="ellipse">
            <a:avLst/>
          </a:prstGeom>
          <a:solidFill>
            <a:srgbClr val="E7157B"/>
          </a:solidFill>
          <a:ln w="12700">
            <a:solidFill>
              <a:srgbClr val="E7157B"/>
            </a:solidFill>
            <a:prstDash val="solid"/>
          </a:ln>
        </p:spPr>
      </p:sp>
      <p:pic>
        <p:nvPicPr>
          <p:cNvPr id="17" name="Image 1" descr="preencoded.png"/>
          <p:cNvPicPr>
            <a:picLocks noChangeAspect="1"/>
          </p:cNvPicPr>
          <p:nvPr/>
        </p:nvPicPr>
        <p:blipFill>
          <a:blip r:embed="rId4"/>
          <a:stretch>
            <a:fillRect/>
          </a:stretch>
        </p:blipFill>
        <p:spPr>
          <a:xfrm>
            <a:off x="3641141" y="1538021"/>
            <a:ext cx="307238" cy="307238"/>
          </a:xfrm>
          <a:prstGeom prst="rect">
            <a:avLst/>
          </a:prstGeom>
        </p:spPr>
      </p:pic>
      <p:sp>
        <p:nvSpPr>
          <p:cNvPr id="18" name="Shape 14"/>
          <p:cNvSpPr/>
          <p:nvPr/>
        </p:nvSpPr>
        <p:spPr>
          <a:xfrm>
            <a:off x="4032504" y="1344168"/>
            <a:ext cx="256032" cy="237744"/>
          </a:xfrm>
          <a:prstGeom prst="roundRect">
            <a:avLst>
              <a:gd name="adj" fmla="val 19231"/>
            </a:avLst>
          </a:prstGeom>
          <a:solidFill>
            <a:srgbClr val="1168B8"/>
          </a:solidFill>
          <a:ln w="12700">
            <a:solidFill>
              <a:srgbClr val="FFFFFF"/>
            </a:solidFill>
            <a:prstDash val="solid"/>
          </a:ln>
        </p:spPr>
      </p:sp>
      <p:sp>
        <p:nvSpPr>
          <p:cNvPr id="19" name="Text 15"/>
          <p:cNvSpPr txBox="1"/>
          <p:nvPr/>
        </p:nvSpPr>
        <p:spPr>
          <a:xfrm>
            <a:off x="4032504" y="1344168"/>
            <a:ext cx="256032"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0" name="Text 16"/>
          <p:cNvSpPr txBox="1"/>
          <p:nvPr/>
        </p:nvSpPr>
        <p:spPr>
          <a:xfrm>
            <a:off x="2926080" y="2057400"/>
            <a:ext cx="1737360" cy="292608"/>
          </a:xfrm>
          <a:prstGeom prst="rect">
            <a:avLst/>
          </a:prstGeom>
          <a:noFill/>
          <a:ln/>
        </p:spPr>
        <p:txBody>
          <a:bodyPr wrap="square" lIns="0" tIns="0" rIns="0" bIns="0" rtlCol="0" anchor="ctr"/>
          <a:lstStyle/>
          <a:p>
            <a:pPr marL="0" indent="0" algn="ctr">
              <a:buNone/>
            </a:pPr>
            <a:r>
              <a:rPr lang="en-US" sz="1400" b="1" dirty="0">
                <a:solidFill>
                  <a:srgbClr val="1B2E1B"/>
                </a:solidFill>
                <a:latin typeface="Calibri" pitchFamily="34" charset="0"/>
                <a:ea typeface="Calibri" pitchFamily="34" charset="-122"/>
                <a:cs typeface="Calibri" pitchFamily="34" charset="-120"/>
              </a:rPr>
              <a:t>API Gateway</a:t>
            </a:r>
            <a:endParaRPr lang="en-US" sz="1400" dirty="0"/>
          </a:p>
        </p:txBody>
      </p:sp>
      <p:sp>
        <p:nvSpPr>
          <p:cNvPr id="21" name="Text 17"/>
          <p:cNvSpPr txBox="1"/>
          <p:nvPr/>
        </p:nvSpPr>
        <p:spPr>
          <a:xfrm>
            <a:off x="2971800" y="2377440"/>
            <a:ext cx="1645920" cy="777240"/>
          </a:xfrm>
          <a:prstGeom prst="rect">
            <a:avLst/>
          </a:prstGeom>
          <a:noFill/>
          <a:ln/>
        </p:spPr>
        <p:txBody>
          <a:bodyPr wrap="square" lIns="0" tIns="0" rIns="0" bIns="0" rtlCol="0" anchor="t"/>
          <a:lstStyle/>
          <a:p>
            <a:pPr marL="0" indent="0" algn="ctr">
              <a:buNone/>
            </a:pPr>
            <a:r>
              <a:rPr lang="en-US" sz="1200" dirty="0">
                <a:solidFill>
                  <a:srgbClr val="3E4E3E"/>
                </a:solidFill>
                <a:latin typeface="Calibri" pitchFamily="34" charset="0"/>
                <a:ea typeface="Calibri" pitchFamily="34" charset="-122"/>
                <a:cs typeface="Calibri" pitchFamily="34" charset="-120"/>
              </a:rPr>
              <a:t>Valid JWT? Otherwise 401</a:t>
            </a:r>
            <a:endParaRPr lang="en-US" sz="1200" dirty="0"/>
          </a:p>
        </p:txBody>
      </p:sp>
      <p:sp>
        <p:nvSpPr>
          <p:cNvPr id="22" name="Shape 18"/>
          <p:cNvSpPr/>
          <p:nvPr/>
        </p:nvSpPr>
        <p:spPr>
          <a:xfrm>
            <a:off x="4773168" y="2240280"/>
            <a:ext cx="329184" cy="0"/>
          </a:xfrm>
          <a:prstGeom prst="line">
            <a:avLst/>
          </a:prstGeom>
          <a:noFill/>
          <a:ln w="19050">
            <a:solidFill>
              <a:srgbClr val="5E6E5E"/>
            </a:solidFill>
            <a:prstDash val="solid"/>
            <a:tailEnd type="triangle"/>
          </a:ln>
        </p:spPr>
      </p:sp>
      <p:sp>
        <p:nvSpPr>
          <p:cNvPr id="23" name="Shape 19"/>
          <p:cNvSpPr/>
          <p:nvPr/>
        </p:nvSpPr>
        <p:spPr>
          <a:xfrm>
            <a:off x="5120640" y="1234440"/>
            <a:ext cx="1920240" cy="2011680"/>
          </a:xfrm>
          <a:prstGeom prst="roundRect">
            <a:avLst>
              <a:gd name="adj" fmla="val 3810"/>
            </a:avLst>
          </a:prstGeom>
          <a:solidFill>
            <a:srgbClr val="FFFFFF"/>
          </a:solidFill>
          <a:ln w="12700">
            <a:solidFill>
              <a:srgbClr val="C8D5C8"/>
            </a:solidFill>
            <a:prstDash val="solid"/>
          </a:ln>
        </p:spPr>
      </p:sp>
      <p:sp>
        <p:nvSpPr>
          <p:cNvPr id="24" name="Shape 20"/>
          <p:cNvSpPr/>
          <p:nvPr/>
        </p:nvSpPr>
        <p:spPr>
          <a:xfrm>
            <a:off x="5806440" y="1417320"/>
            <a:ext cx="548640" cy="548640"/>
          </a:xfrm>
          <a:prstGeom prst="ellipse">
            <a:avLst/>
          </a:prstGeom>
          <a:solidFill>
            <a:srgbClr val="ED7100"/>
          </a:solidFill>
          <a:ln w="12700">
            <a:solidFill>
              <a:srgbClr val="ED7100"/>
            </a:solidFill>
            <a:prstDash val="solid"/>
          </a:ln>
        </p:spPr>
      </p:sp>
      <p:pic>
        <p:nvPicPr>
          <p:cNvPr id="25" name="Image 2" descr="preencoded.png"/>
          <p:cNvPicPr>
            <a:picLocks noChangeAspect="1"/>
          </p:cNvPicPr>
          <p:nvPr/>
        </p:nvPicPr>
        <p:blipFill>
          <a:blip r:embed="rId5"/>
          <a:stretch>
            <a:fillRect/>
          </a:stretch>
        </p:blipFill>
        <p:spPr>
          <a:xfrm>
            <a:off x="5927141" y="1538021"/>
            <a:ext cx="307238" cy="307238"/>
          </a:xfrm>
          <a:prstGeom prst="rect">
            <a:avLst/>
          </a:prstGeom>
        </p:spPr>
      </p:pic>
      <p:sp>
        <p:nvSpPr>
          <p:cNvPr id="26" name="Shape 21"/>
          <p:cNvSpPr/>
          <p:nvPr/>
        </p:nvSpPr>
        <p:spPr>
          <a:xfrm>
            <a:off x="6318504" y="1344168"/>
            <a:ext cx="256032" cy="237744"/>
          </a:xfrm>
          <a:prstGeom prst="roundRect">
            <a:avLst>
              <a:gd name="adj" fmla="val 19231"/>
            </a:avLst>
          </a:prstGeom>
          <a:solidFill>
            <a:srgbClr val="1168B8"/>
          </a:solidFill>
          <a:ln w="12700">
            <a:solidFill>
              <a:srgbClr val="FFFFFF"/>
            </a:solidFill>
            <a:prstDash val="solid"/>
          </a:ln>
        </p:spPr>
      </p:sp>
      <p:sp>
        <p:nvSpPr>
          <p:cNvPr id="27" name="Text 22"/>
          <p:cNvSpPr txBox="1"/>
          <p:nvPr/>
        </p:nvSpPr>
        <p:spPr>
          <a:xfrm>
            <a:off x="6318504" y="1344168"/>
            <a:ext cx="256032"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8" name="Text 23"/>
          <p:cNvSpPr txBox="1"/>
          <p:nvPr/>
        </p:nvSpPr>
        <p:spPr>
          <a:xfrm>
            <a:off x="5212080" y="2057400"/>
            <a:ext cx="1737360" cy="292608"/>
          </a:xfrm>
          <a:prstGeom prst="rect">
            <a:avLst/>
          </a:prstGeom>
          <a:noFill/>
          <a:ln/>
        </p:spPr>
        <p:txBody>
          <a:bodyPr wrap="square" lIns="0" tIns="0" rIns="0" bIns="0" rtlCol="0" anchor="ctr"/>
          <a:lstStyle/>
          <a:p>
            <a:pPr marL="0" indent="0" algn="ctr">
              <a:buNone/>
            </a:pPr>
            <a:r>
              <a:rPr lang="en-US" sz="1400" b="1" dirty="0">
                <a:solidFill>
                  <a:srgbClr val="1B2E1B"/>
                </a:solidFill>
                <a:latin typeface="Calibri" pitchFamily="34" charset="0"/>
                <a:ea typeface="Calibri" pitchFamily="34" charset="-122"/>
                <a:cs typeface="Calibri" pitchFamily="34" charset="-120"/>
              </a:rPr>
              <a:t>cp-ingest</a:t>
            </a:r>
            <a:endParaRPr lang="en-US" sz="1400" dirty="0"/>
          </a:p>
        </p:txBody>
      </p:sp>
      <p:sp>
        <p:nvSpPr>
          <p:cNvPr id="29" name="Text 24"/>
          <p:cNvSpPr txBox="1"/>
          <p:nvPr/>
        </p:nvSpPr>
        <p:spPr>
          <a:xfrm>
            <a:off x="5257800" y="2377440"/>
            <a:ext cx="1645920" cy="777240"/>
          </a:xfrm>
          <a:prstGeom prst="rect">
            <a:avLst/>
          </a:prstGeom>
          <a:noFill/>
          <a:ln/>
        </p:spPr>
        <p:txBody>
          <a:bodyPr wrap="square" lIns="0" tIns="0" rIns="0" bIns="0" rtlCol="0" anchor="t"/>
          <a:lstStyle/>
          <a:p>
            <a:pPr marL="0" indent="0" algn="ctr">
              <a:buNone/>
            </a:pPr>
            <a:r>
              <a:rPr lang="en-US" sz="1200" dirty="0">
                <a:solidFill>
                  <a:srgbClr val="3E4E3E"/>
                </a:solidFill>
                <a:latin typeface="Calibri" pitchFamily="34" charset="0"/>
                <a:ea typeface="Calibri" pitchFamily="34" charset="-122"/>
                <a:cs typeface="Calibri" pitchFamily="34" charset="-120"/>
              </a:rPr>
              <a:t>Validates 8 fields, recomputes severity</a:t>
            </a:r>
            <a:endParaRPr lang="en-US" sz="1200" dirty="0"/>
          </a:p>
        </p:txBody>
      </p:sp>
      <p:sp>
        <p:nvSpPr>
          <p:cNvPr id="30" name="Shape 25"/>
          <p:cNvSpPr/>
          <p:nvPr/>
        </p:nvSpPr>
        <p:spPr>
          <a:xfrm>
            <a:off x="7059168" y="2240280"/>
            <a:ext cx="329184" cy="0"/>
          </a:xfrm>
          <a:prstGeom prst="line">
            <a:avLst/>
          </a:prstGeom>
          <a:noFill/>
          <a:ln w="19050">
            <a:solidFill>
              <a:srgbClr val="5E6E5E"/>
            </a:solidFill>
            <a:prstDash val="solid"/>
            <a:tailEnd type="triangle"/>
          </a:ln>
        </p:spPr>
      </p:sp>
      <p:sp>
        <p:nvSpPr>
          <p:cNvPr id="31" name="Shape 26"/>
          <p:cNvSpPr/>
          <p:nvPr/>
        </p:nvSpPr>
        <p:spPr>
          <a:xfrm>
            <a:off x="7406640" y="1234440"/>
            <a:ext cx="1920240" cy="2011680"/>
          </a:xfrm>
          <a:prstGeom prst="roundRect">
            <a:avLst>
              <a:gd name="adj" fmla="val 3810"/>
            </a:avLst>
          </a:prstGeom>
          <a:solidFill>
            <a:srgbClr val="FFFFFF"/>
          </a:solidFill>
          <a:ln w="12700">
            <a:solidFill>
              <a:srgbClr val="C8D5C8"/>
            </a:solidFill>
            <a:prstDash val="solid"/>
          </a:ln>
        </p:spPr>
      </p:sp>
      <p:sp>
        <p:nvSpPr>
          <p:cNvPr id="32" name="Shape 27"/>
          <p:cNvSpPr/>
          <p:nvPr/>
        </p:nvSpPr>
        <p:spPr>
          <a:xfrm>
            <a:off x="8092440" y="1417320"/>
            <a:ext cx="548640" cy="548640"/>
          </a:xfrm>
          <a:prstGeom prst="ellipse">
            <a:avLst/>
          </a:prstGeom>
          <a:solidFill>
            <a:srgbClr val="3B48CC"/>
          </a:solidFill>
          <a:ln w="12700">
            <a:solidFill>
              <a:srgbClr val="3B48CC"/>
            </a:solidFill>
            <a:prstDash val="solid"/>
          </a:ln>
        </p:spPr>
      </p:sp>
      <p:pic>
        <p:nvPicPr>
          <p:cNvPr id="33" name="Image 3" descr="preencoded.png"/>
          <p:cNvPicPr>
            <a:picLocks noChangeAspect="1"/>
          </p:cNvPicPr>
          <p:nvPr/>
        </p:nvPicPr>
        <p:blipFill>
          <a:blip r:embed="rId6"/>
          <a:stretch>
            <a:fillRect/>
          </a:stretch>
        </p:blipFill>
        <p:spPr>
          <a:xfrm>
            <a:off x="8213141" y="1538021"/>
            <a:ext cx="307238" cy="307238"/>
          </a:xfrm>
          <a:prstGeom prst="rect">
            <a:avLst/>
          </a:prstGeom>
        </p:spPr>
      </p:pic>
      <p:sp>
        <p:nvSpPr>
          <p:cNvPr id="34" name="Shape 28"/>
          <p:cNvSpPr/>
          <p:nvPr/>
        </p:nvSpPr>
        <p:spPr>
          <a:xfrm>
            <a:off x="8604504" y="1344168"/>
            <a:ext cx="256032" cy="237744"/>
          </a:xfrm>
          <a:prstGeom prst="roundRect">
            <a:avLst>
              <a:gd name="adj" fmla="val 19231"/>
            </a:avLst>
          </a:prstGeom>
          <a:solidFill>
            <a:srgbClr val="1168B8"/>
          </a:solidFill>
          <a:ln w="12700">
            <a:solidFill>
              <a:srgbClr val="FFFFFF"/>
            </a:solidFill>
            <a:prstDash val="solid"/>
          </a:ln>
        </p:spPr>
      </p:sp>
      <p:sp>
        <p:nvSpPr>
          <p:cNvPr id="35" name="Text 29"/>
          <p:cNvSpPr txBox="1"/>
          <p:nvPr/>
        </p:nvSpPr>
        <p:spPr>
          <a:xfrm>
            <a:off x="8604504" y="1344168"/>
            <a:ext cx="256032"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6" name="Text 30"/>
          <p:cNvSpPr txBox="1"/>
          <p:nvPr/>
        </p:nvSpPr>
        <p:spPr>
          <a:xfrm>
            <a:off x="7498080" y="2057400"/>
            <a:ext cx="1737360" cy="292608"/>
          </a:xfrm>
          <a:prstGeom prst="rect">
            <a:avLst/>
          </a:prstGeom>
          <a:noFill/>
          <a:ln/>
        </p:spPr>
        <p:txBody>
          <a:bodyPr wrap="square" lIns="0" tIns="0" rIns="0" bIns="0" rtlCol="0" anchor="ctr"/>
          <a:lstStyle/>
          <a:p>
            <a:pPr marL="0" indent="0" algn="ctr">
              <a:buNone/>
            </a:pPr>
            <a:r>
              <a:rPr lang="en-US" sz="1400" b="1" dirty="0">
                <a:solidFill>
                  <a:srgbClr val="1B2E1B"/>
                </a:solidFill>
                <a:latin typeface="Calibri" pitchFamily="34" charset="0"/>
                <a:ea typeface="Calibri" pitchFamily="34" charset="-122"/>
                <a:cs typeface="Calibri" pitchFamily="34" charset="-120"/>
              </a:rPr>
              <a:t>DynamoDB</a:t>
            </a:r>
            <a:endParaRPr lang="en-US" sz="1400" dirty="0"/>
          </a:p>
        </p:txBody>
      </p:sp>
      <p:sp>
        <p:nvSpPr>
          <p:cNvPr id="37" name="Text 31"/>
          <p:cNvSpPr txBox="1"/>
          <p:nvPr/>
        </p:nvSpPr>
        <p:spPr>
          <a:xfrm>
            <a:off x="7543800" y="2377440"/>
            <a:ext cx="1645920" cy="777240"/>
          </a:xfrm>
          <a:prstGeom prst="rect">
            <a:avLst/>
          </a:prstGeom>
          <a:noFill/>
          <a:ln/>
        </p:spPr>
        <p:txBody>
          <a:bodyPr wrap="square" lIns="0" tIns="0" rIns="0" bIns="0" rtlCol="0" anchor="t"/>
          <a:lstStyle/>
          <a:p>
            <a:pPr marL="0" indent="0" algn="ctr">
              <a:buNone/>
            </a:pPr>
            <a:r>
              <a:rPr lang="en-US" sz="1200" dirty="0">
                <a:solidFill>
                  <a:srgbClr val="3E4E3E"/>
                </a:solidFill>
                <a:latin typeface="Calibri" pitchFamily="34" charset="0"/>
                <a:ea typeface="Calibri" pitchFamily="34" charset="-122"/>
                <a:cs typeface="Calibri" pitchFamily="34" charset="-120"/>
              </a:rPr>
              <a:t>One PutItem; alert index only if not normal</a:t>
            </a:r>
            <a:endParaRPr lang="en-US" sz="1200" dirty="0"/>
          </a:p>
        </p:txBody>
      </p:sp>
      <p:sp>
        <p:nvSpPr>
          <p:cNvPr id="38" name="Shape 32"/>
          <p:cNvSpPr/>
          <p:nvPr/>
        </p:nvSpPr>
        <p:spPr>
          <a:xfrm>
            <a:off x="9345168" y="2240280"/>
            <a:ext cx="329184" cy="0"/>
          </a:xfrm>
          <a:prstGeom prst="line">
            <a:avLst/>
          </a:prstGeom>
          <a:noFill/>
          <a:ln w="19050">
            <a:solidFill>
              <a:srgbClr val="5E6E5E"/>
            </a:solidFill>
            <a:prstDash val="solid"/>
            <a:tailEnd type="triangle"/>
          </a:ln>
        </p:spPr>
      </p:sp>
      <p:sp>
        <p:nvSpPr>
          <p:cNvPr id="39" name="Shape 33"/>
          <p:cNvSpPr/>
          <p:nvPr/>
        </p:nvSpPr>
        <p:spPr>
          <a:xfrm>
            <a:off x="9692640" y="1234440"/>
            <a:ext cx="1920240" cy="2011680"/>
          </a:xfrm>
          <a:prstGeom prst="roundRect">
            <a:avLst>
              <a:gd name="adj" fmla="val 3810"/>
            </a:avLst>
          </a:prstGeom>
          <a:solidFill>
            <a:srgbClr val="FFFFFF"/>
          </a:solidFill>
          <a:ln w="12700">
            <a:solidFill>
              <a:srgbClr val="C8D5C8"/>
            </a:solidFill>
            <a:prstDash val="solid"/>
          </a:ln>
        </p:spPr>
      </p:sp>
      <p:sp>
        <p:nvSpPr>
          <p:cNvPr id="40" name="Shape 34"/>
          <p:cNvSpPr/>
          <p:nvPr/>
        </p:nvSpPr>
        <p:spPr>
          <a:xfrm>
            <a:off x="10378440" y="1417320"/>
            <a:ext cx="548640" cy="548640"/>
          </a:xfrm>
          <a:prstGeom prst="ellipse">
            <a:avLst/>
          </a:prstGeom>
          <a:solidFill>
            <a:srgbClr val="7AA116"/>
          </a:solidFill>
          <a:ln w="12700">
            <a:solidFill>
              <a:srgbClr val="7AA116"/>
            </a:solidFill>
            <a:prstDash val="solid"/>
          </a:ln>
        </p:spPr>
      </p:sp>
      <p:pic>
        <p:nvPicPr>
          <p:cNvPr id="41" name="Image 4" descr="preencoded.png"/>
          <p:cNvPicPr>
            <a:picLocks noChangeAspect="1"/>
          </p:cNvPicPr>
          <p:nvPr/>
        </p:nvPicPr>
        <p:blipFill>
          <a:blip r:embed="rId7"/>
          <a:stretch>
            <a:fillRect/>
          </a:stretch>
        </p:blipFill>
        <p:spPr>
          <a:xfrm>
            <a:off x="10499141" y="1538021"/>
            <a:ext cx="307238" cy="307238"/>
          </a:xfrm>
          <a:prstGeom prst="rect">
            <a:avLst/>
          </a:prstGeom>
        </p:spPr>
      </p:pic>
      <p:sp>
        <p:nvSpPr>
          <p:cNvPr id="42" name="Shape 35"/>
          <p:cNvSpPr/>
          <p:nvPr/>
        </p:nvSpPr>
        <p:spPr>
          <a:xfrm>
            <a:off x="10890504" y="1344168"/>
            <a:ext cx="256032" cy="237744"/>
          </a:xfrm>
          <a:prstGeom prst="roundRect">
            <a:avLst>
              <a:gd name="adj" fmla="val 19231"/>
            </a:avLst>
          </a:prstGeom>
          <a:solidFill>
            <a:srgbClr val="1168B8"/>
          </a:solidFill>
          <a:ln w="12700">
            <a:solidFill>
              <a:srgbClr val="FFFFFF"/>
            </a:solidFill>
            <a:prstDash val="solid"/>
          </a:ln>
        </p:spPr>
      </p:sp>
      <p:sp>
        <p:nvSpPr>
          <p:cNvPr id="43" name="Text 36"/>
          <p:cNvSpPr txBox="1"/>
          <p:nvPr/>
        </p:nvSpPr>
        <p:spPr>
          <a:xfrm>
            <a:off x="10890504" y="1344168"/>
            <a:ext cx="256032"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44" name="Text 37"/>
          <p:cNvSpPr txBox="1"/>
          <p:nvPr/>
        </p:nvSpPr>
        <p:spPr>
          <a:xfrm>
            <a:off x="9784080" y="2057400"/>
            <a:ext cx="1737360" cy="292608"/>
          </a:xfrm>
          <a:prstGeom prst="rect">
            <a:avLst/>
          </a:prstGeom>
          <a:noFill/>
          <a:ln/>
        </p:spPr>
        <p:txBody>
          <a:bodyPr wrap="square" lIns="0" tIns="0" rIns="0" bIns="0" rtlCol="0" anchor="ctr"/>
          <a:lstStyle/>
          <a:p>
            <a:pPr marL="0" indent="0" algn="ctr">
              <a:buNone/>
            </a:pPr>
            <a:r>
              <a:rPr lang="en-US" sz="1400" b="1" dirty="0">
                <a:solidFill>
                  <a:srgbClr val="1B2E1B"/>
                </a:solidFill>
                <a:latin typeface="Calibri" pitchFamily="34" charset="0"/>
                <a:ea typeface="Calibri" pitchFamily="34" charset="-122"/>
                <a:cs typeface="Calibri" pitchFamily="34" charset="-120"/>
              </a:rPr>
              <a:t>Dashboard</a:t>
            </a:r>
            <a:endParaRPr lang="en-US" sz="1400" dirty="0"/>
          </a:p>
        </p:txBody>
      </p:sp>
      <p:sp>
        <p:nvSpPr>
          <p:cNvPr id="45" name="Text 38"/>
          <p:cNvSpPr txBox="1"/>
          <p:nvPr/>
        </p:nvSpPr>
        <p:spPr>
          <a:xfrm>
            <a:off x="9829800" y="2377440"/>
            <a:ext cx="1645920" cy="777240"/>
          </a:xfrm>
          <a:prstGeom prst="rect">
            <a:avLst/>
          </a:prstGeom>
          <a:noFill/>
          <a:ln/>
        </p:spPr>
        <p:txBody>
          <a:bodyPr wrap="square" lIns="0" tIns="0" rIns="0" bIns="0" rtlCol="0" anchor="t"/>
          <a:lstStyle/>
          <a:p>
            <a:pPr marL="0" indent="0" algn="ctr">
              <a:buNone/>
            </a:pPr>
            <a:r>
              <a:rPr lang="en-US" sz="1200" dirty="0">
                <a:solidFill>
                  <a:srgbClr val="3E4E3E"/>
                </a:solidFill>
                <a:latin typeface="Calibri" pitchFamily="34" charset="0"/>
                <a:ea typeface="Calibri" pitchFamily="34" charset="-122"/>
                <a:cs typeface="Calibri" pitchFamily="34" charset="-120"/>
              </a:rPr>
              <a:t>Red alert in under 10 s</a:t>
            </a:r>
            <a:endParaRPr lang="en-US" sz="1200" dirty="0"/>
          </a:p>
        </p:txBody>
      </p:sp>
      <p:sp>
        <p:nvSpPr>
          <p:cNvPr id="46" name="Shape 39"/>
          <p:cNvSpPr/>
          <p:nvPr/>
        </p:nvSpPr>
        <p:spPr>
          <a:xfrm>
            <a:off x="548640" y="3520440"/>
            <a:ext cx="5394960" cy="2651760"/>
          </a:xfrm>
          <a:prstGeom prst="roundRect">
            <a:avLst>
              <a:gd name="adj" fmla="val 2759"/>
            </a:avLst>
          </a:prstGeom>
          <a:solidFill>
            <a:srgbClr val="FBEFEF"/>
          </a:solidFill>
          <a:ln w="12700">
            <a:solidFill>
              <a:srgbClr val="E8B8B8"/>
            </a:solidFill>
            <a:prstDash val="solid"/>
          </a:ln>
        </p:spPr>
      </p:sp>
      <p:sp>
        <p:nvSpPr>
          <p:cNvPr id="47" name="Text 40"/>
          <p:cNvSpPr txBox="1"/>
          <p:nvPr/>
        </p:nvSpPr>
        <p:spPr>
          <a:xfrm>
            <a:off x="777240" y="3657600"/>
            <a:ext cx="5029200" cy="347472"/>
          </a:xfrm>
          <a:prstGeom prst="rect">
            <a:avLst/>
          </a:prstGeom>
          <a:noFill/>
          <a:ln/>
        </p:spPr>
        <p:txBody>
          <a:bodyPr wrap="square" lIns="0" tIns="0" rIns="0" bIns="0" rtlCol="0" anchor="ctr"/>
          <a:lstStyle/>
          <a:p>
            <a:pPr marL="0" indent="0">
              <a:buNone/>
            </a:pPr>
            <a:r>
              <a:rPr lang="en-US" sz="1600" b="1" dirty="0">
                <a:solidFill>
                  <a:srgbClr val="8A2A2A"/>
                </a:solidFill>
                <a:latin typeface="Calibri" pitchFamily="34" charset="0"/>
                <a:ea typeface="Calibri" pitchFamily="34" charset="-122"/>
                <a:cs typeface="Calibri" pitchFamily="34" charset="-120"/>
              </a:rPr>
              <a:t>The server decides severity, not the sensor</a:t>
            </a:r>
            <a:endParaRPr lang="en-US" sz="1600" dirty="0"/>
          </a:p>
        </p:txBody>
      </p:sp>
      <p:sp>
        <p:nvSpPr>
          <p:cNvPr id="48" name="Text 41"/>
          <p:cNvSpPr txBox="1"/>
          <p:nvPr/>
        </p:nvSpPr>
        <p:spPr>
          <a:xfrm>
            <a:off x="777240" y="4069080"/>
            <a:ext cx="4937760" cy="1280160"/>
          </a:xfrm>
          <a:prstGeom prst="rect">
            <a:avLst/>
          </a:prstGeom>
          <a:noFill/>
          <a:ln/>
        </p:spPr>
        <p:txBody>
          <a:bodyPr wrap="square" lIns="0" tIns="0" rIns="0" bIns="0" rtlCol="0" anchor="t"/>
          <a:lstStyle/>
          <a:p>
            <a:pPr marL="0" indent="0">
              <a:spcAft>
                <a:spcPts val="400"/>
              </a:spcAft>
              <a:buNone/>
            </a:pPr>
            <a:r>
              <a:rPr lang="en-US" sz="1400" b="1" dirty="0">
                <a:solidFill>
                  <a:srgbClr val="1B2E1B"/>
                </a:solidFill>
                <a:latin typeface="Calibri" pitchFamily="34" charset="0"/>
                <a:ea typeface="Calibri" pitchFamily="34" charset="-122"/>
                <a:cs typeface="Calibri" pitchFamily="34" charset="-120"/>
              </a:rPr>
              <a:t>Client sent:  </a:t>
            </a:r>
            <a:r>
              <a:rPr lang="en-US" sz="1400" dirty="0">
                <a:solidFill>
                  <a:srgbClr val="1B2E1B"/>
                </a:solidFill>
                <a:latin typeface="Courier New" pitchFamily="34" charset="0"/>
                <a:ea typeface="Courier New" pitchFamily="34" charset="-122"/>
                <a:cs typeface="Courier New" pitchFamily="34" charset="-120"/>
              </a:rPr>
              <a:t>severity = "normal"</a:t>
            </a:r>
            <a:endParaRPr lang="en-US" sz="1400" dirty="0"/>
          </a:p>
          <a:p>
            <a:pPr marL="0" indent="0">
              <a:spcAft>
                <a:spcPts val="400"/>
              </a:spcAft>
              <a:buNone/>
            </a:pPr>
            <a:r>
              <a:rPr lang="en-US" sz="1400" b="1" dirty="0">
                <a:solidFill>
                  <a:srgbClr val="1B2E1B"/>
                </a:solidFill>
                <a:latin typeface="Calibri" pitchFamily="34" charset="0"/>
                <a:ea typeface="Calibri" pitchFamily="34" charset="-122"/>
                <a:cs typeface="Calibri" pitchFamily="34" charset="-120"/>
              </a:rPr>
              <a:t>Room A203 capacity:  </a:t>
            </a:r>
            <a:r>
              <a:rPr lang="en-US" sz="1400" dirty="0">
                <a:solidFill>
                  <a:srgbClr val="1B2E1B"/>
                </a:solidFill>
                <a:latin typeface="Calibri" pitchFamily="34" charset="0"/>
                <a:ea typeface="Calibri" pitchFamily="34" charset="-122"/>
                <a:cs typeface="Calibri" pitchFamily="34" charset="-120"/>
              </a:rPr>
              <a:t>45 people</a:t>
            </a:r>
            <a:endParaRPr lang="en-US" sz="1400" dirty="0"/>
          </a:p>
          <a:p>
            <a:pPr marL="0" indent="0">
              <a:spcAft>
                <a:spcPts val="400"/>
              </a:spcAft>
              <a:buNone/>
            </a:pPr>
            <a:r>
              <a:rPr lang="en-US" sz="1400" dirty="0">
                <a:solidFill>
                  <a:srgbClr val="1B2E1B"/>
                </a:solidFill>
                <a:latin typeface="Calibri" pitchFamily="34" charset="0"/>
                <a:ea typeface="Calibri" pitchFamily="34" charset="-122"/>
                <a:cs typeface="Calibri" pitchFamily="34" charset="-120"/>
              </a:rPr>
              <a:t>58 ÷ 45 = 129 %  &gt; 120 % threshold</a:t>
            </a:r>
            <a:endParaRPr lang="en-US" sz="1400" dirty="0"/>
          </a:p>
          <a:p>
            <a:pPr marL="0" indent="0">
              <a:spcAft>
                <a:spcPts val="400"/>
              </a:spcAft>
              <a:buNone/>
            </a:pPr>
            <a:r>
              <a:rPr lang="en-US" sz="1400" b="1" dirty="0">
                <a:solidFill>
                  <a:srgbClr val="1B2E1B"/>
                </a:solidFill>
                <a:latin typeface="Calibri" pitchFamily="34" charset="0"/>
                <a:ea typeface="Calibri" pitchFamily="34" charset="-122"/>
                <a:cs typeface="Calibri" pitchFamily="34" charset="-120"/>
              </a:rPr>
              <a:t>Stored as:  </a:t>
            </a:r>
            <a:r>
              <a:rPr lang="en-US" sz="1400" b="1" dirty="0">
                <a:solidFill>
                  <a:srgbClr val="8A2A2A"/>
                </a:solidFill>
                <a:latin typeface="Calibri" pitchFamily="34" charset="0"/>
                <a:ea typeface="Calibri" pitchFamily="34" charset="-122"/>
                <a:cs typeface="Calibri" pitchFamily="34" charset="-120"/>
              </a:rPr>
              <a:t>CRITICAL</a:t>
            </a:r>
            <a:endParaRPr lang="en-US" sz="1400" dirty="0"/>
          </a:p>
        </p:txBody>
      </p:sp>
      <p:sp>
        <p:nvSpPr>
          <p:cNvPr id="49" name="Text 42"/>
          <p:cNvSpPr txBox="1"/>
          <p:nvPr/>
        </p:nvSpPr>
        <p:spPr>
          <a:xfrm>
            <a:off x="777240" y="5257800"/>
            <a:ext cx="5029200" cy="365760"/>
          </a:xfrm>
          <a:prstGeom prst="rect">
            <a:avLst/>
          </a:prstGeom>
          <a:noFill/>
          <a:ln/>
        </p:spPr>
        <p:txBody>
          <a:bodyPr wrap="square" lIns="0" tIns="0" rIns="0" bIns="0" rtlCol="0" anchor="ctr"/>
          <a:lstStyle/>
          <a:p>
            <a:pPr marL="0" indent="0">
              <a:buNone/>
            </a:pPr>
            <a:r>
              <a:rPr lang="en-US" sz="1400" i="1" dirty="0">
                <a:solidFill>
                  <a:srgbClr val="3E4E3E"/>
                </a:solidFill>
                <a:latin typeface="Calibri" pitchFamily="34" charset="0"/>
                <a:ea typeface="Calibri" pitchFamily="34" charset="-122"/>
                <a:cs typeface="Calibri" pitchFamily="34" charset="-120"/>
              </a:rPr>
              <a:t>A device must never be able to declare itself normal.</a:t>
            </a:r>
            <a:endParaRPr lang="en-US" sz="1400" dirty="0"/>
          </a:p>
        </p:txBody>
      </p:sp>
      <p:sp>
        <p:nvSpPr>
          <p:cNvPr id="50" name="Shape 43"/>
          <p:cNvSpPr/>
          <p:nvPr/>
        </p:nvSpPr>
        <p:spPr>
          <a:xfrm>
            <a:off x="6217920" y="3520440"/>
            <a:ext cx="5394960" cy="2651760"/>
          </a:xfrm>
          <a:prstGeom prst="roundRect">
            <a:avLst>
              <a:gd name="adj" fmla="val 2759"/>
            </a:avLst>
          </a:prstGeom>
          <a:solidFill>
            <a:srgbClr val="FFFFFF"/>
          </a:solidFill>
          <a:ln w="12700">
            <a:solidFill>
              <a:srgbClr val="C8D5C8"/>
            </a:solidFill>
            <a:prstDash val="solid"/>
          </a:ln>
        </p:spPr>
      </p:sp>
      <p:sp>
        <p:nvSpPr>
          <p:cNvPr id="51" name="Text 44"/>
          <p:cNvSpPr txBox="1"/>
          <p:nvPr/>
        </p:nvSpPr>
        <p:spPr>
          <a:xfrm>
            <a:off x="6446520" y="3657600"/>
            <a:ext cx="5029200" cy="347472"/>
          </a:xfrm>
          <a:prstGeom prst="rect">
            <a:avLst/>
          </a:prstGeom>
          <a:noFill/>
          <a:ln/>
        </p:spPr>
        <p:txBody>
          <a:bodyPr wrap="square" lIns="0" tIns="0" rIns="0" bIns="0" rtlCol="0" anchor="ctr"/>
          <a:lstStyle/>
          <a:p>
            <a:pPr marL="0" indent="0">
              <a:buNone/>
            </a:pPr>
            <a:r>
              <a:rPr lang="en-US" sz="1600" b="1" dirty="0">
                <a:solidFill>
                  <a:srgbClr val="3B48CC"/>
                </a:solidFill>
                <a:latin typeface="Calibri" pitchFamily="34" charset="0"/>
                <a:ea typeface="Calibri" pitchFamily="34" charset="-122"/>
                <a:cs typeface="Calibri" pitchFamily="34" charset="-120"/>
              </a:rPr>
              <a:t>Data model: one table, no Scan anywhere</a:t>
            </a:r>
            <a:endParaRPr lang="en-US" sz="1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6446520" y="4114800"/>
          <a:ext cx="4937760" cy="1536192"/>
        </p:xfrm>
        <a:graphic>
          <a:graphicData uri="http://schemas.openxmlformats.org/drawingml/2006/table">
            <a:tbl>
              <a:tblPr/>
              <a:tblGrid>
                <a:gridCol w="1325880">
                  <a:extLst>
                    <a:ext uri="{9D8B030D-6E8A-4147-A177-3AD203B41FA5}">
                      <a16:colId xmlns:a16="http://schemas.microsoft.com/office/drawing/2014/main" val="20000"/>
                    </a:ext>
                  </a:extLst>
                </a:gridCol>
                <a:gridCol w="3611880">
                  <a:extLst>
                    <a:ext uri="{9D8B030D-6E8A-4147-A177-3AD203B41FA5}">
                      <a16:colId xmlns:a16="http://schemas.microsoft.com/office/drawing/2014/main" val="20001"/>
                    </a:ext>
                  </a:extLst>
                </a:gridCol>
              </a:tblGrid>
              <a:tr h="384048">
                <a:tc>
                  <a:txBody>
                    <a:bodyPr/>
                    <a:lstStyle/>
                    <a:p>
                      <a:pPr marL="0" indent="0">
                        <a:buNone/>
                      </a:pPr>
                      <a:r>
                        <a:rPr lang="en-US" sz="1100" b="1" dirty="0">
                          <a:solidFill>
                            <a:srgbClr val="1B2E1B"/>
                          </a:solidFill>
                          <a:latin typeface="Courier New" pitchFamily="34" charset="0"/>
                          <a:ea typeface="Courier New" pitchFamily="34" charset="-122"/>
                          <a:cs typeface="Courier New" pitchFamily="34" charset="-120"/>
                        </a:rPr>
                        <a:t>pk / sk</a:t>
                      </a:r>
                      <a:endParaRPr lang="en-US" sz="1100" dirty="0">
                        <a:latin typeface="Courier New" charset="0"/>
                        <a:ea typeface="Courier New" charset="0"/>
                        <a:cs typeface="Courier New"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marL="0" indent="0">
                        <a:buNone/>
                      </a:pPr>
                      <a:r>
                        <a:rPr lang="en-US" sz="1200" dirty="0">
                          <a:solidFill>
                            <a:srgbClr val="1B2E1B"/>
                          </a:solidFill>
                          <a:latin typeface="Calibri" pitchFamily="34" charset="0"/>
                          <a:ea typeface="Calibri" pitchFamily="34" charset="-122"/>
                          <a:cs typeface="Calibri" pitchFamily="34" charset="-120"/>
                        </a:rPr>
                        <a:t>DAY#&lt;date&gt; · &lt;timestamp&gt;#&lt;event_id&gt;</a:t>
                      </a:r>
                      <a:endParaRPr lang="en-US" sz="12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84048">
                <a:tc>
                  <a:txBody>
                    <a:bodyPr/>
                    <a:lstStyle/>
                    <a:p>
                      <a:pPr marL="0" indent="0">
                        <a:buNone/>
                      </a:pPr>
                      <a:r>
                        <a:rPr lang="en-US" sz="1100" b="1" dirty="0">
                          <a:solidFill>
                            <a:srgbClr val="1B2E1B"/>
                          </a:solidFill>
                          <a:latin typeface="Courier New" pitchFamily="34" charset="0"/>
                          <a:ea typeface="Courier New" pitchFamily="34" charset="-122"/>
                          <a:cs typeface="Courier New" pitchFamily="34" charset="-120"/>
                        </a:rPr>
                        <a:t>GSI1</a:t>
                      </a:r>
                      <a:endParaRPr lang="en-US" sz="1100" dirty="0">
                        <a:latin typeface="Courier New" charset="0"/>
                        <a:ea typeface="Courier New" charset="0"/>
                        <a:cs typeface="Courier New"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marL="0" indent="0">
                        <a:buNone/>
                      </a:pPr>
                      <a:r>
                        <a:rPr lang="en-US" sz="1200" dirty="0">
                          <a:solidFill>
                            <a:srgbClr val="1B2E1B"/>
                          </a:solidFill>
                          <a:latin typeface="Calibri" pitchFamily="34" charset="0"/>
                          <a:ea typeface="Calibri" pitchFamily="34" charset="-122"/>
                          <a:cs typeface="Calibri" pitchFamily="34" charset="-120"/>
                        </a:rPr>
                        <a:t>events by building and day</a:t>
                      </a:r>
                      <a:endParaRPr lang="en-US" sz="12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extLst>
                  <a:ext uri="{0D108BD9-81ED-4DB2-BD59-A6C34878D82A}">
                    <a16:rowId xmlns:a16="http://schemas.microsoft.com/office/drawing/2014/main" val="10001"/>
                  </a:ext>
                </a:extLst>
              </a:tr>
              <a:tr h="384048">
                <a:tc>
                  <a:txBody>
                    <a:bodyPr/>
                    <a:lstStyle/>
                    <a:p>
                      <a:pPr marL="0" indent="0">
                        <a:buNone/>
                      </a:pPr>
                      <a:r>
                        <a:rPr lang="en-US" sz="1100" b="1" dirty="0">
                          <a:solidFill>
                            <a:srgbClr val="1B2E1B"/>
                          </a:solidFill>
                          <a:latin typeface="Courier New" pitchFamily="34" charset="0"/>
                          <a:ea typeface="Courier New" pitchFamily="34" charset="-122"/>
                          <a:cs typeface="Courier New" pitchFamily="34" charset="-120"/>
                        </a:rPr>
                        <a:t>GSI2</a:t>
                      </a:r>
                      <a:endParaRPr lang="en-US" sz="1100" dirty="0">
                        <a:latin typeface="Courier New" charset="0"/>
                        <a:ea typeface="Courier New" charset="0"/>
                        <a:cs typeface="Courier New"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marL="0" indent="0">
                        <a:buNone/>
                      </a:pPr>
                      <a:r>
                        <a:rPr lang="en-US" sz="1200" dirty="0">
                          <a:solidFill>
                            <a:srgbClr val="1B2E1B"/>
                          </a:solidFill>
                          <a:latin typeface="Calibri" pitchFamily="34" charset="0"/>
                          <a:ea typeface="Calibri" pitchFamily="34" charset="-122"/>
                          <a:cs typeface="Calibri" pitchFamily="34" charset="-120"/>
                        </a:rPr>
                        <a:t>sparse: holds only alerts</a:t>
                      </a:r>
                      <a:endParaRPr lang="en-US" sz="12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100" b="1" dirty="0">
                          <a:solidFill>
                            <a:srgbClr val="1B2E1B"/>
                          </a:solidFill>
                          <a:latin typeface="Courier New" pitchFamily="34" charset="0"/>
                          <a:ea typeface="Courier New" pitchFamily="34" charset="-122"/>
                          <a:cs typeface="Courier New" pitchFamily="34" charset="-120"/>
                        </a:rPr>
                        <a:t>TTL · PITR</a:t>
                      </a:r>
                      <a:endParaRPr lang="en-US" sz="1100" dirty="0">
                        <a:latin typeface="Courier New" charset="0"/>
                        <a:ea typeface="Courier New" charset="0"/>
                        <a:cs typeface="Courier New"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marL="0" indent="0">
                        <a:buNone/>
                      </a:pPr>
                      <a:r>
                        <a:rPr lang="en-US" sz="1200" dirty="0">
                          <a:solidFill>
                            <a:srgbClr val="1B2E1B"/>
                          </a:solidFill>
                          <a:latin typeface="Calibri" pitchFamily="34" charset="0"/>
                          <a:ea typeface="Calibri" pitchFamily="34" charset="-122"/>
                          <a:cs typeface="Calibri" pitchFamily="34" charset="-120"/>
                        </a:rPr>
                        <a:t>30-day expiry · restore to any second</a:t>
                      </a:r>
                      <a:endParaRPr lang="en-US" sz="12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extLst>
                  <a:ext uri="{0D108BD9-81ED-4DB2-BD59-A6C34878D82A}">
                    <a16:rowId xmlns:a16="http://schemas.microsoft.com/office/drawing/2014/main" val="10003"/>
                  </a:ext>
                </a:extLst>
              </a:tr>
            </a:tbl>
          </a:graphicData>
        </a:graphic>
      </p:graphicFrame>
      <p:sp>
        <p:nvSpPr>
          <p:cNvPr id="53" name="Text 45"/>
          <p:cNvSpPr txBox="1"/>
          <p:nvPr/>
        </p:nvSpPr>
        <p:spPr>
          <a:xfrm>
            <a:off x="6446520" y="5760720"/>
            <a:ext cx="5029200" cy="274320"/>
          </a:xfrm>
          <a:prstGeom prst="rect">
            <a:avLst/>
          </a:prstGeom>
          <a:noFill/>
          <a:ln/>
        </p:spPr>
        <p:txBody>
          <a:bodyPr wrap="square" lIns="0" tIns="0" rIns="0" bIns="0" rtlCol="0" anchor="ctr"/>
          <a:lstStyle/>
          <a:p>
            <a:pPr marL="0" indent="0">
              <a:buNone/>
            </a:pPr>
            <a:r>
              <a:rPr lang="en-US" sz="1200" i="1" dirty="0">
                <a:solidFill>
                  <a:srgbClr val="3E4E3E"/>
                </a:solidFill>
                <a:latin typeface="Calibri" pitchFamily="34" charset="0"/>
                <a:ea typeface="Calibri" pitchFamily="34" charset="-122"/>
                <a:cs typeface="Calibri" pitchFamily="34" charset="-120"/>
              </a:rPr>
              <a:t>Every query names a partition key, so cost stays flat as data grows.</a:t>
            </a:r>
            <a:endParaRPr lang="en-US" sz="1200" dirty="0"/>
          </a:p>
        </p:txBody>
      </p:sp>
      <p:sp>
        <p:nvSpPr>
          <p:cNvPr id="54"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E6E5E"/>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595360" cy="685800"/>
          </a:xfrm>
          <a:prstGeom prst="rect">
            <a:avLst/>
          </a:prstGeom>
          <a:noFill/>
          <a:ln/>
        </p:spPr>
        <p:txBody>
          <a:bodyPr wrap="square" lIns="0" tIns="0" rIns="0" bIns="0" rtlCol="0" anchor="ctr"/>
          <a:lstStyle/>
          <a:p>
            <a:pPr marL="0" indent="0" algn="l">
              <a:buNone/>
            </a:pPr>
            <a:r>
              <a:rPr lang="en-US" sz="3200" b="1" dirty="0">
                <a:solidFill>
                  <a:srgbClr val="2A7A4A"/>
                </a:solidFill>
                <a:latin typeface="Cambria" pitchFamily="34" charset="0"/>
                <a:ea typeface="Cambria" pitchFamily="34" charset="-122"/>
                <a:cs typeface="Cambria" pitchFamily="34" charset="-120"/>
              </a:rPr>
              <a:t>Authentication with Amazon Cognito</a:t>
            </a:r>
            <a:endParaRPr lang="en-US" sz="3200" dirty="0"/>
          </a:p>
        </p:txBody>
      </p:sp>
      <p:sp>
        <p:nvSpPr>
          <p:cNvPr id="3" name="Shape 1"/>
          <p:cNvSpPr/>
          <p:nvPr/>
        </p:nvSpPr>
        <p:spPr>
          <a:xfrm>
            <a:off x="9281160" y="429768"/>
            <a:ext cx="2377440" cy="457200"/>
          </a:xfrm>
          <a:prstGeom prst="roundRect">
            <a:avLst>
              <a:gd name="adj" fmla="val 50000"/>
            </a:avLst>
          </a:prstGeom>
          <a:solidFill>
            <a:srgbClr val="FFFFFF"/>
          </a:solidFill>
          <a:ln w="15875">
            <a:solidFill>
              <a:srgbClr val="6A4898"/>
            </a:solidFill>
            <a:prstDash val="solid"/>
          </a:ln>
        </p:spPr>
      </p:sp>
      <p:sp>
        <p:nvSpPr>
          <p:cNvPr id="4" name="Shape 2"/>
          <p:cNvSpPr/>
          <p:nvPr/>
        </p:nvSpPr>
        <p:spPr>
          <a:xfrm>
            <a:off x="9326880" y="475488"/>
            <a:ext cx="365760" cy="365760"/>
          </a:xfrm>
          <a:prstGeom prst="ellipse">
            <a:avLst/>
          </a:prstGeom>
          <a:solidFill>
            <a:srgbClr val="6A4898"/>
          </a:solidFill>
          <a:ln w="12700">
            <a:solidFill>
              <a:srgbClr val="6A4898"/>
            </a:solidFill>
            <a:prstDash val="solid"/>
          </a:ln>
        </p:spPr>
      </p:sp>
      <p:sp>
        <p:nvSpPr>
          <p:cNvPr id="5" name="Text 3"/>
          <p:cNvSpPr txBox="1"/>
          <p:nvPr/>
        </p:nvSpPr>
        <p:spPr>
          <a:xfrm>
            <a:off x="9326880" y="475488"/>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ME</a:t>
            </a:r>
            <a:endParaRPr lang="en-US" sz="1000" dirty="0"/>
          </a:p>
        </p:txBody>
      </p:sp>
      <p:sp>
        <p:nvSpPr>
          <p:cNvPr id="6" name="Text 4"/>
          <p:cNvSpPr txBox="1"/>
          <p:nvPr/>
        </p:nvSpPr>
        <p:spPr>
          <a:xfrm>
            <a:off x="9784080" y="457200"/>
            <a:ext cx="1828800" cy="402336"/>
          </a:xfrm>
          <a:prstGeom prst="rect">
            <a:avLst/>
          </a:prstGeom>
          <a:noFill/>
          <a:ln/>
        </p:spPr>
        <p:txBody>
          <a:bodyPr wrap="square" lIns="0" tIns="0" rIns="0" bIns="0" rtlCol="0" anchor="ctr"/>
          <a:lstStyle/>
          <a:p>
            <a:pPr marL="0" indent="0">
              <a:buNone/>
            </a:pPr>
            <a:r>
              <a:rPr lang="en-US" sz="1200" b="1" dirty="0" err="1" smtClean="0">
                <a:solidFill>
                  <a:srgbClr val="6A4898"/>
                </a:solidFill>
                <a:latin typeface="Calibri" pitchFamily="34" charset="0"/>
                <a:ea typeface="Calibri" pitchFamily="34" charset="-122"/>
                <a:cs typeface="Calibri" pitchFamily="34" charset="-120"/>
              </a:rPr>
              <a:t>Manimegalai</a:t>
            </a:r>
            <a:r>
              <a:rPr lang="en-US" sz="1200" b="1" dirty="0" smtClean="0">
                <a:solidFill>
                  <a:srgbClr val="6A4898"/>
                </a:solidFill>
                <a:latin typeface="Calibri" pitchFamily="34" charset="0"/>
                <a:ea typeface="Calibri" pitchFamily="34" charset="-122"/>
                <a:cs typeface="Calibri" pitchFamily="34" charset="-120"/>
              </a:rPr>
              <a:t> </a:t>
            </a:r>
            <a:endParaRPr lang="en-US" sz="1200" dirty="0"/>
          </a:p>
        </p:txBody>
      </p:sp>
      <p:sp>
        <p:nvSpPr>
          <p:cNvPr id="7" name="Shape 5"/>
          <p:cNvSpPr/>
          <p:nvPr/>
        </p:nvSpPr>
        <p:spPr>
          <a:xfrm>
            <a:off x="1188720" y="1280160"/>
            <a:ext cx="731520" cy="731520"/>
          </a:xfrm>
          <a:prstGeom prst="ellipse">
            <a:avLst/>
          </a:prstGeom>
          <a:solidFill>
            <a:srgbClr val="4A6090"/>
          </a:solidFill>
          <a:ln w="12700">
            <a:solidFill>
              <a:srgbClr val="4A6090"/>
            </a:solidFill>
            <a:prstDash val="solid"/>
          </a:ln>
        </p:spPr>
      </p:sp>
      <p:pic>
        <p:nvPicPr>
          <p:cNvPr id="8" name="Image 0" descr="preencoded.png"/>
          <p:cNvPicPr>
            <a:picLocks noChangeAspect="1"/>
          </p:cNvPicPr>
          <p:nvPr/>
        </p:nvPicPr>
        <p:blipFill>
          <a:blip r:embed="rId3"/>
          <a:stretch>
            <a:fillRect/>
          </a:stretch>
        </p:blipFill>
        <p:spPr>
          <a:xfrm>
            <a:off x="1349654" y="1441094"/>
            <a:ext cx="409651" cy="409651"/>
          </a:xfrm>
          <a:prstGeom prst="rect">
            <a:avLst/>
          </a:prstGeom>
        </p:spPr>
      </p:pic>
      <p:sp>
        <p:nvSpPr>
          <p:cNvPr id="9" name="Text 6"/>
          <p:cNvSpPr txBox="1"/>
          <p:nvPr/>
        </p:nvSpPr>
        <p:spPr>
          <a:xfrm>
            <a:off x="685800" y="2103120"/>
            <a:ext cx="1737360" cy="292608"/>
          </a:xfrm>
          <a:prstGeom prst="rect">
            <a:avLst/>
          </a:prstGeom>
          <a:noFill/>
          <a:ln/>
        </p:spPr>
        <p:txBody>
          <a:bodyPr wrap="square" lIns="0" tIns="0" rIns="0" bIns="0" rtlCol="0" anchor="ctr"/>
          <a:lstStyle/>
          <a:p>
            <a:pPr marL="0" indent="0" algn="ctr">
              <a:buNone/>
            </a:pPr>
            <a:r>
              <a:rPr lang="en-US" sz="1500" b="1" dirty="0">
                <a:solidFill>
                  <a:srgbClr val="1B2E1B"/>
                </a:solidFill>
                <a:latin typeface="Calibri" pitchFamily="34" charset="0"/>
                <a:ea typeface="Calibri" pitchFamily="34" charset="-122"/>
                <a:cs typeface="Calibri" pitchFamily="34" charset="-120"/>
              </a:rPr>
              <a:t>User</a:t>
            </a:r>
            <a:endParaRPr lang="en-US" sz="1500" dirty="0"/>
          </a:p>
        </p:txBody>
      </p:sp>
      <p:sp>
        <p:nvSpPr>
          <p:cNvPr id="10" name="Text 7"/>
          <p:cNvSpPr txBox="1"/>
          <p:nvPr/>
        </p:nvSpPr>
        <p:spPr>
          <a:xfrm>
            <a:off x="685800" y="2395728"/>
            <a:ext cx="1737360" cy="274320"/>
          </a:xfrm>
          <a:prstGeom prst="rect">
            <a:avLst/>
          </a:prstGeom>
          <a:noFill/>
          <a:ln/>
        </p:spPr>
        <p:txBody>
          <a:bodyPr wrap="square" lIns="0" tIns="0" rIns="0" bIns="0" rtlCol="0" anchor="ctr"/>
          <a:lstStyle/>
          <a:p>
            <a:pPr marL="0" indent="0" algn="ctr">
              <a:buNone/>
            </a:pPr>
            <a:r>
              <a:rPr lang="en-US" sz="1200" dirty="0">
                <a:solidFill>
                  <a:srgbClr val="5E6E5E"/>
                </a:solidFill>
                <a:latin typeface="Calibri" pitchFamily="34" charset="0"/>
                <a:ea typeface="Calibri" pitchFamily="34" charset="-122"/>
                <a:cs typeface="Calibri" pitchFamily="34" charset="-120"/>
              </a:rPr>
              <a:t>email + password</a:t>
            </a:r>
            <a:endParaRPr lang="en-US" sz="1200" dirty="0"/>
          </a:p>
        </p:txBody>
      </p:sp>
      <p:sp>
        <p:nvSpPr>
          <p:cNvPr id="11" name="Shape 8"/>
          <p:cNvSpPr/>
          <p:nvPr/>
        </p:nvSpPr>
        <p:spPr>
          <a:xfrm>
            <a:off x="2057400" y="1645920"/>
            <a:ext cx="1280160" cy="0"/>
          </a:xfrm>
          <a:prstGeom prst="line">
            <a:avLst/>
          </a:prstGeom>
          <a:noFill/>
          <a:ln w="19050">
            <a:solidFill>
              <a:srgbClr val="5E6E5E"/>
            </a:solidFill>
            <a:prstDash val="solid"/>
            <a:tailEnd type="triangle"/>
          </a:ln>
        </p:spPr>
      </p:sp>
      <p:sp>
        <p:nvSpPr>
          <p:cNvPr id="12" name="Shape 9"/>
          <p:cNvSpPr/>
          <p:nvPr/>
        </p:nvSpPr>
        <p:spPr>
          <a:xfrm>
            <a:off x="3474720" y="1280160"/>
            <a:ext cx="731520" cy="731520"/>
          </a:xfrm>
          <a:prstGeom prst="ellipse">
            <a:avLst/>
          </a:prstGeom>
          <a:solidFill>
            <a:srgbClr val="E7157B"/>
          </a:solidFill>
          <a:ln w="12700">
            <a:solidFill>
              <a:srgbClr val="E7157B"/>
            </a:solidFill>
            <a:prstDash val="solid"/>
          </a:ln>
        </p:spPr>
      </p:sp>
      <p:pic>
        <p:nvPicPr>
          <p:cNvPr id="13" name="Image 1" descr="preencoded.png"/>
          <p:cNvPicPr>
            <a:picLocks noChangeAspect="1"/>
          </p:cNvPicPr>
          <p:nvPr/>
        </p:nvPicPr>
        <p:blipFill>
          <a:blip r:embed="rId4"/>
          <a:stretch>
            <a:fillRect/>
          </a:stretch>
        </p:blipFill>
        <p:spPr>
          <a:xfrm>
            <a:off x="3635654" y="1441094"/>
            <a:ext cx="409651" cy="409651"/>
          </a:xfrm>
          <a:prstGeom prst="rect">
            <a:avLst/>
          </a:prstGeom>
        </p:spPr>
      </p:pic>
      <p:sp>
        <p:nvSpPr>
          <p:cNvPr id="14" name="Text 10"/>
          <p:cNvSpPr txBox="1"/>
          <p:nvPr/>
        </p:nvSpPr>
        <p:spPr>
          <a:xfrm>
            <a:off x="2971800" y="2103120"/>
            <a:ext cx="1737360" cy="292608"/>
          </a:xfrm>
          <a:prstGeom prst="rect">
            <a:avLst/>
          </a:prstGeom>
          <a:noFill/>
          <a:ln/>
        </p:spPr>
        <p:txBody>
          <a:bodyPr wrap="square" lIns="0" tIns="0" rIns="0" bIns="0" rtlCol="0" anchor="ctr"/>
          <a:lstStyle/>
          <a:p>
            <a:pPr marL="0" indent="0" algn="ctr">
              <a:buNone/>
            </a:pPr>
            <a:r>
              <a:rPr lang="en-US" sz="1500" b="1" dirty="0">
                <a:solidFill>
                  <a:srgbClr val="1B2E1B"/>
                </a:solidFill>
                <a:latin typeface="Calibri" pitchFamily="34" charset="0"/>
                <a:ea typeface="Calibri" pitchFamily="34" charset="-122"/>
                <a:cs typeface="Calibri" pitchFamily="34" charset="-120"/>
              </a:rPr>
              <a:t>POST /login</a:t>
            </a:r>
            <a:endParaRPr lang="en-US" sz="1500" dirty="0"/>
          </a:p>
        </p:txBody>
      </p:sp>
      <p:sp>
        <p:nvSpPr>
          <p:cNvPr id="15" name="Text 11"/>
          <p:cNvSpPr txBox="1"/>
          <p:nvPr/>
        </p:nvSpPr>
        <p:spPr>
          <a:xfrm>
            <a:off x="2971800" y="2395728"/>
            <a:ext cx="1737360" cy="274320"/>
          </a:xfrm>
          <a:prstGeom prst="rect">
            <a:avLst/>
          </a:prstGeom>
          <a:noFill/>
          <a:ln/>
        </p:spPr>
        <p:txBody>
          <a:bodyPr wrap="square" lIns="0" tIns="0" rIns="0" bIns="0" rtlCol="0" anchor="ctr"/>
          <a:lstStyle/>
          <a:p>
            <a:pPr marL="0" indent="0" algn="ctr">
              <a:buNone/>
            </a:pPr>
            <a:r>
              <a:rPr lang="en-US" sz="1200" dirty="0">
                <a:solidFill>
                  <a:srgbClr val="5E6E5E"/>
                </a:solidFill>
                <a:latin typeface="Calibri" pitchFamily="34" charset="0"/>
                <a:ea typeface="Calibri" pitchFamily="34" charset="-122"/>
                <a:cs typeface="Calibri" pitchFamily="34" charset="-120"/>
              </a:rPr>
              <a:t>public route</a:t>
            </a:r>
            <a:endParaRPr lang="en-US" sz="1200" dirty="0"/>
          </a:p>
        </p:txBody>
      </p:sp>
      <p:sp>
        <p:nvSpPr>
          <p:cNvPr id="16" name="Shape 12"/>
          <p:cNvSpPr/>
          <p:nvPr/>
        </p:nvSpPr>
        <p:spPr>
          <a:xfrm>
            <a:off x="4343400" y="1645920"/>
            <a:ext cx="1280160" cy="0"/>
          </a:xfrm>
          <a:prstGeom prst="line">
            <a:avLst/>
          </a:prstGeom>
          <a:noFill/>
          <a:ln w="19050">
            <a:solidFill>
              <a:srgbClr val="5E6E5E"/>
            </a:solidFill>
            <a:prstDash val="solid"/>
            <a:tailEnd type="triangle"/>
          </a:ln>
        </p:spPr>
      </p:sp>
      <p:sp>
        <p:nvSpPr>
          <p:cNvPr id="17" name="Shape 13"/>
          <p:cNvSpPr/>
          <p:nvPr/>
        </p:nvSpPr>
        <p:spPr>
          <a:xfrm>
            <a:off x="5760720" y="1280160"/>
            <a:ext cx="731520" cy="731520"/>
          </a:xfrm>
          <a:prstGeom prst="ellipse">
            <a:avLst/>
          </a:prstGeom>
          <a:solidFill>
            <a:srgbClr val="ED7100"/>
          </a:solidFill>
          <a:ln w="12700">
            <a:solidFill>
              <a:srgbClr val="ED7100"/>
            </a:solidFill>
            <a:prstDash val="solid"/>
          </a:ln>
        </p:spPr>
      </p:sp>
      <p:pic>
        <p:nvPicPr>
          <p:cNvPr id="18" name="Image 2" descr="preencoded.png"/>
          <p:cNvPicPr>
            <a:picLocks noChangeAspect="1"/>
          </p:cNvPicPr>
          <p:nvPr/>
        </p:nvPicPr>
        <p:blipFill>
          <a:blip r:embed="rId5"/>
          <a:stretch>
            <a:fillRect/>
          </a:stretch>
        </p:blipFill>
        <p:spPr>
          <a:xfrm>
            <a:off x="5921654" y="1441094"/>
            <a:ext cx="409651" cy="409651"/>
          </a:xfrm>
          <a:prstGeom prst="rect">
            <a:avLst/>
          </a:prstGeom>
        </p:spPr>
      </p:pic>
      <p:sp>
        <p:nvSpPr>
          <p:cNvPr id="19" name="Text 14"/>
          <p:cNvSpPr txBox="1"/>
          <p:nvPr/>
        </p:nvSpPr>
        <p:spPr>
          <a:xfrm>
            <a:off x="5257800" y="2103120"/>
            <a:ext cx="1737360" cy="292608"/>
          </a:xfrm>
          <a:prstGeom prst="rect">
            <a:avLst/>
          </a:prstGeom>
          <a:noFill/>
          <a:ln/>
        </p:spPr>
        <p:txBody>
          <a:bodyPr wrap="square" lIns="0" tIns="0" rIns="0" bIns="0" rtlCol="0" anchor="ctr"/>
          <a:lstStyle/>
          <a:p>
            <a:pPr marL="0" indent="0" algn="ctr">
              <a:buNone/>
            </a:pPr>
            <a:r>
              <a:rPr lang="en-US" sz="1500" b="1" dirty="0">
                <a:solidFill>
                  <a:srgbClr val="1B2E1B"/>
                </a:solidFill>
                <a:latin typeface="Calibri" pitchFamily="34" charset="0"/>
                <a:ea typeface="Calibri" pitchFamily="34" charset="-122"/>
                <a:cs typeface="Calibri" pitchFamily="34" charset="-120"/>
              </a:rPr>
              <a:t>cp-auth</a:t>
            </a:r>
            <a:endParaRPr lang="en-US" sz="1500" dirty="0"/>
          </a:p>
        </p:txBody>
      </p:sp>
      <p:sp>
        <p:nvSpPr>
          <p:cNvPr id="20" name="Text 15"/>
          <p:cNvSpPr txBox="1"/>
          <p:nvPr/>
        </p:nvSpPr>
        <p:spPr>
          <a:xfrm>
            <a:off x="5257800" y="2395728"/>
            <a:ext cx="1737360" cy="274320"/>
          </a:xfrm>
          <a:prstGeom prst="rect">
            <a:avLst/>
          </a:prstGeom>
          <a:noFill/>
          <a:ln/>
        </p:spPr>
        <p:txBody>
          <a:bodyPr wrap="square" lIns="0" tIns="0" rIns="0" bIns="0" rtlCol="0" anchor="ctr"/>
          <a:lstStyle/>
          <a:p>
            <a:pPr marL="0" indent="0" algn="ctr">
              <a:buNone/>
            </a:pPr>
            <a:r>
              <a:rPr lang="en-US" sz="1200" dirty="0">
                <a:solidFill>
                  <a:srgbClr val="5E6E5E"/>
                </a:solidFill>
                <a:latin typeface="Calibri" pitchFamily="34" charset="0"/>
                <a:ea typeface="Calibri" pitchFamily="34" charset="-122"/>
                <a:cs typeface="Calibri" pitchFamily="34" charset="-120"/>
              </a:rPr>
              <a:t>calls InitiateAuth</a:t>
            </a:r>
            <a:endParaRPr lang="en-US" sz="1200" dirty="0"/>
          </a:p>
        </p:txBody>
      </p:sp>
      <p:sp>
        <p:nvSpPr>
          <p:cNvPr id="21" name="Shape 16"/>
          <p:cNvSpPr/>
          <p:nvPr/>
        </p:nvSpPr>
        <p:spPr>
          <a:xfrm>
            <a:off x="6629400" y="1645920"/>
            <a:ext cx="1280160" cy="0"/>
          </a:xfrm>
          <a:prstGeom prst="line">
            <a:avLst/>
          </a:prstGeom>
          <a:noFill/>
          <a:ln w="19050">
            <a:solidFill>
              <a:srgbClr val="5E6E5E"/>
            </a:solidFill>
            <a:prstDash val="solid"/>
            <a:tailEnd type="triangle"/>
          </a:ln>
        </p:spPr>
      </p:sp>
      <p:sp>
        <p:nvSpPr>
          <p:cNvPr id="22" name="Shape 17"/>
          <p:cNvSpPr/>
          <p:nvPr/>
        </p:nvSpPr>
        <p:spPr>
          <a:xfrm>
            <a:off x="8046720" y="1280160"/>
            <a:ext cx="731520" cy="731520"/>
          </a:xfrm>
          <a:prstGeom prst="ellipse">
            <a:avLst/>
          </a:prstGeom>
          <a:solidFill>
            <a:srgbClr val="DD344C"/>
          </a:solidFill>
          <a:ln w="12700">
            <a:solidFill>
              <a:srgbClr val="DD344C"/>
            </a:solidFill>
            <a:prstDash val="solid"/>
          </a:ln>
        </p:spPr>
      </p:sp>
      <p:pic>
        <p:nvPicPr>
          <p:cNvPr id="23" name="Image 3" descr="preencoded.png"/>
          <p:cNvPicPr>
            <a:picLocks noChangeAspect="1"/>
          </p:cNvPicPr>
          <p:nvPr/>
        </p:nvPicPr>
        <p:blipFill>
          <a:blip r:embed="rId6"/>
          <a:stretch>
            <a:fillRect/>
          </a:stretch>
        </p:blipFill>
        <p:spPr>
          <a:xfrm>
            <a:off x="8207654" y="1441094"/>
            <a:ext cx="409651" cy="409651"/>
          </a:xfrm>
          <a:prstGeom prst="rect">
            <a:avLst/>
          </a:prstGeom>
        </p:spPr>
      </p:pic>
      <p:sp>
        <p:nvSpPr>
          <p:cNvPr id="24" name="Text 18"/>
          <p:cNvSpPr txBox="1"/>
          <p:nvPr/>
        </p:nvSpPr>
        <p:spPr>
          <a:xfrm>
            <a:off x="7543800" y="2103120"/>
            <a:ext cx="1737360" cy="292608"/>
          </a:xfrm>
          <a:prstGeom prst="rect">
            <a:avLst/>
          </a:prstGeom>
          <a:noFill/>
          <a:ln/>
        </p:spPr>
        <p:txBody>
          <a:bodyPr wrap="square" lIns="0" tIns="0" rIns="0" bIns="0" rtlCol="0" anchor="ctr"/>
          <a:lstStyle/>
          <a:p>
            <a:pPr marL="0" indent="0" algn="ctr">
              <a:buNone/>
            </a:pPr>
            <a:r>
              <a:rPr lang="en-US" sz="1500" b="1" dirty="0">
                <a:solidFill>
                  <a:srgbClr val="1B2E1B"/>
                </a:solidFill>
                <a:latin typeface="Calibri" pitchFamily="34" charset="0"/>
                <a:ea typeface="Calibri" pitchFamily="34" charset="-122"/>
                <a:cs typeface="Calibri" pitchFamily="34" charset="-120"/>
              </a:rPr>
              <a:t>Cognito</a:t>
            </a:r>
            <a:endParaRPr lang="en-US" sz="1500" dirty="0"/>
          </a:p>
        </p:txBody>
      </p:sp>
      <p:sp>
        <p:nvSpPr>
          <p:cNvPr id="25" name="Text 19"/>
          <p:cNvSpPr txBox="1"/>
          <p:nvPr/>
        </p:nvSpPr>
        <p:spPr>
          <a:xfrm>
            <a:off x="7543800" y="2395728"/>
            <a:ext cx="1737360" cy="274320"/>
          </a:xfrm>
          <a:prstGeom prst="rect">
            <a:avLst/>
          </a:prstGeom>
          <a:noFill/>
          <a:ln/>
        </p:spPr>
        <p:txBody>
          <a:bodyPr wrap="square" lIns="0" tIns="0" rIns="0" bIns="0" rtlCol="0" anchor="ctr"/>
          <a:lstStyle/>
          <a:p>
            <a:pPr marL="0" indent="0" algn="ctr">
              <a:buNone/>
            </a:pPr>
            <a:r>
              <a:rPr lang="en-US" sz="1200" dirty="0">
                <a:solidFill>
                  <a:srgbClr val="5E6E5E"/>
                </a:solidFill>
                <a:latin typeface="Calibri" pitchFamily="34" charset="0"/>
                <a:ea typeface="Calibri" pitchFamily="34" charset="-122"/>
                <a:cs typeface="Calibri" pitchFamily="34" charset="-120"/>
              </a:rPr>
              <a:t>checks the password</a:t>
            </a:r>
            <a:endParaRPr lang="en-US" sz="1200" dirty="0"/>
          </a:p>
        </p:txBody>
      </p:sp>
      <p:sp>
        <p:nvSpPr>
          <p:cNvPr id="26" name="Shape 20"/>
          <p:cNvSpPr/>
          <p:nvPr/>
        </p:nvSpPr>
        <p:spPr>
          <a:xfrm>
            <a:off x="8915400" y="1645920"/>
            <a:ext cx="1280160" cy="0"/>
          </a:xfrm>
          <a:prstGeom prst="line">
            <a:avLst/>
          </a:prstGeom>
          <a:noFill/>
          <a:ln w="19050">
            <a:solidFill>
              <a:srgbClr val="5E6E5E"/>
            </a:solidFill>
            <a:prstDash val="solid"/>
            <a:tailEnd type="triangle"/>
          </a:ln>
        </p:spPr>
      </p:sp>
      <p:sp>
        <p:nvSpPr>
          <p:cNvPr id="27" name="Shape 21"/>
          <p:cNvSpPr/>
          <p:nvPr/>
        </p:nvSpPr>
        <p:spPr>
          <a:xfrm>
            <a:off x="10332720" y="1280160"/>
            <a:ext cx="731520" cy="731520"/>
          </a:xfrm>
          <a:prstGeom prst="ellipse">
            <a:avLst/>
          </a:prstGeom>
          <a:solidFill>
            <a:srgbClr val="6A4898"/>
          </a:solidFill>
          <a:ln w="12700">
            <a:solidFill>
              <a:srgbClr val="6A4898"/>
            </a:solidFill>
            <a:prstDash val="solid"/>
          </a:ln>
        </p:spPr>
      </p:sp>
      <p:pic>
        <p:nvPicPr>
          <p:cNvPr id="28" name="Image 4" descr="preencoded.png"/>
          <p:cNvPicPr>
            <a:picLocks noChangeAspect="1"/>
          </p:cNvPicPr>
          <p:nvPr/>
        </p:nvPicPr>
        <p:blipFill>
          <a:blip r:embed="rId7"/>
          <a:stretch>
            <a:fillRect/>
          </a:stretch>
        </p:blipFill>
        <p:spPr>
          <a:xfrm>
            <a:off x="10493654" y="1441094"/>
            <a:ext cx="409651" cy="409651"/>
          </a:xfrm>
          <a:prstGeom prst="rect">
            <a:avLst/>
          </a:prstGeom>
        </p:spPr>
      </p:pic>
      <p:sp>
        <p:nvSpPr>
          <p:cNvPr id="29" name="Text 22"/>
          <p:cNvSpPr txBox="1"/>
          <p:nvPr/>
        </p:nvSpPr>
        <p:spPr>
          <a:xfrm>
            <a:off x="9829800" y="2103120"/>
            <a:ext cx="1737360" cy="292608"/>
          </a:xfrm>
          <a:prstGeom prst="rect">
            <a:avLst/>
          </a:prstGeom>
          <a:noFill/>
          <a:ln/>
        </p:spPr>
        <p:txBody>
          <a:bodyPr wrap="square" lIns="0" tIns="0" rIns="0" bIns="0" rtlCol="0" anchor="ctr"/>
          <a:lstStyle/>
          <a:p>
            <a:pPr marL="0" indent="0" algn="ctr">
              <a:buNone/>
            </a:pPr>
            <a:r>
              <a:rPr lang="en-US" sz="1500" b="1" dirty="0">
                <a:solidFill>
                  <a:srgbClr val="1B2E1B"/>
                </a:solidFill>
                <a:latin typeface="Calibri" pitchFamily="34" charset="0"/>
                <a:ea typeface="Calibri" pitchFamily="34" charset="-122"/>
                <a:cs typeface="Calibri" pitchFamily="34" charset="-120"/>
              </a:rPr>
              <a:t>JWT</a:t>
            </a:r>
            <a:endParaRPr lang="en-US" sz="1500" dirty="0"/>
          </a:p>
        </p:txBody>
      </p:sp>
      <p:sp>
        <p:nvSpPr>
          <p:cNvPr id="30" name="Text 23"/>
          <p:cNvSpPr txBox="1"/>
          <p:nvPr/>
        </p:nvSpPr>
        <p:spPr>
          <a:xfrm>
            <a:off x="9829800" y="2395728"/>
            <a:ext cx="1737360" cy="274320"/>
          </a:xfrm>
          <a:prstGeom prst="rect">
            <a:avLst/>
          </a:prstGeom>
          <a:noFill/>
          <a:ln/>
        </p:spPr>
        <p:txBody>
          <a:bodyPr wrap="square" lIns="0" tIns="0" rIns="0" bIns="0" rtlCol="0" anchor="ctr"/>
          <a:lstStyle/>
          <a:p>
            <a:pPr marL="0" indent="0" algn="ctr">
              <a:buNone/>
            </a:pPr>
            <a:r>
              <a:rPr lang="en-US" sz="1200" dirty="0">
                <a:solidFill>
                  <a:srgbClr val="5E6E5E"/>
                </a:solidFill>
                <a:latin typeface="Calibri" pitchFamily="34" charset="0"/>
                <a:ea typeface="Calibri" pitchFamily="34" charset="-122"/>
                <a:cs typeface="Calibri" pitchFamily="34" charset="-120"/>
              </a:rPr>
              <a:t>60 min · carries group</a:t>
            </a:r>
            <a:endParaRPr lang="en-US" sz="1200" dirty="0"/>
          </a:p>
        </p:txBody>
      </p:sp>
      <p:sp>
        <p:nvSpPr>
          <p:cNvPr id="31" name="Shape 24"/>
          <p:cNvSpPr/>
          <p:nvPr/>
        </p:nvSpPr>
        <p:spPr>
          <a:xfrm>
            <a:off x="548640" y="3063240"/>
            <a:ext cx="5394960" cy="1417320"/>
          </a:xfrm>
          <a:prstGeom prst="roundRect">
            <a:avLst>
              <a:gd name="adj" fmla="val 5161"/>
            </a:avLst>
          </a:prstGeom>
          <a:solidFill>
            <a:srgbClr val="FFFFFF"/>
          </a:solidFill>
          <a:ln w="12700">
            <a:solidFill>
              <a:srgbClr val="C8D5C8"/>
            </a:solidFill>
            <a:prstDash val="solid"/>
          </a:ln>
        </p:spPr>
      </p:sp>
      <p:sp>
        <p:nvSpPr>
          <p:cNvPr id="32" name="Shape 25"/>
          <p:cNvSpPr/>
          <p:nvPr/>
        </p:nvSpPr>
        <p:spPr>
          <a:xfrm>
            <a:off x="777240" y="3337560"/>
            <a:ext cx="548640" cy="548640"/>
          </a:xfrm>
          <a:prstGeom prst="ellipse">
            <a:avLst/>
          </a:prstGeom>
          <a:solidFill>
            <a:srgbClr val="EFE8F7"/>
          </a:solidFill>
          <a:ln w="12700">
            <a:solidFill>
              <a:srgbClr val="EFE8F7"/>
            </a:solidFill>
            <a:prstDash val="solid"/>
          </a:ln>
        </p:spPr>
      </p:sp>
      <p:pic>
        <p:nvPicPr>
          <p:cNvPr id="33" name="Image 5" descr="preencoded.png"/>
          <p:cNvPicPr>
            <a:picLocks noChangeAspect="1"/>
          </p:cNvPicPr>
          <p:nvPr/>
        </p:nvPicPr>
        <p:blipFill>
          <a:blip r:embed="rId8"/>
          <a:stretch>
            <a:fillRect/>
          </a:stretch>
        </p:blipFill>
        <p:spPr>
          <a:xfrm>
            <a:off x="897941" y="3458261"/>
            <a:ext cx="307238" cy="307238"/>
          </a:xfrm>
          <a:prstGeom prst="rect">
            <a:avLst/>
          </a:prstGeom>
        </p:spPr>
      </p:pic>
      <p:sp>
        <p:nvSpPr>
          <p:cNvPr id="34" name="Text 26"/>
          <p:cNvSpPr txBox="1"/>
          <p:nvPr/>
        </p:nvSpPr>
        <p:spPr>
          <a:xfrm>
            <a:off x="1508760" y="3264408"/>
            <a:ext cx="4206240" cy="320040"/>
          </a:xfrm>
          <a:prstGeom prst="rect">
            <a:avLst/>
          </a:prstGeom>
          <a:noFill/>
          <a:ln/>
        </p:spPr>
        <p:txBody>
          <a:bodyPr wrap="square" lIns="0" tIns="0" rIns="0" bIns="0" rtlCol="0" anchor="ctr"/>
          <a:lstStyle/>
          <a:p>
            <a:pPr marL="0" indent="0">
              <a:buNone/>
            </a:pPr>
            <a:r>
              <a:rPr lang="en-US" sz="1600" b="1" dirty="0">
                <a:solidFill>
                  <a:srgbClr val="6A4898"/>
                </a:solidFill>
                <a:latin typeface="Calibri" pitchFamily="34" charset="0"/>
                <a:ea typeface="Calibri" pitchFamily="34" charset="-122"/>
                <a:cs typeface="Calibri" pitchFamily="34" charset="-120"/>
              </a:rPr>
              <a:t>Email is the username</a:t>
            </a:r>
            <a:endParaRPr lang="en-US" sz="1600" dirty="0"/>
          </a:p>
        </p:txBody>
      </p:sp>
      <p:sp>
        <p:nvSpPr>
          <p:cNvPr id="35" name="Text 27"/>
          <p:cNvSpPr txBox="1"/>
          <p:nvPr/>
        </p:nvSpPr>
        <p:spPr>
          <a:xfrm>
            <a:off x="1508760" y="3630168"/>
            <a:ext cx="4206240" cy="685800"/>
          </a:xfrm>
          <a:prstGeom prst="rect">
            <a:avLst/>
          </a:prstGeom>
          <a:noFill/>
          <a:ln/>
        </p:spPr>
        <p:txBody>
          <a:bodyPr wrap="square" lIns="0" tIns="0" rIns="0" bIns="0" rtlCol="0" anchor="t"/>
          <a:lstStyle/>
          <a:p>
            <a:pPr marL="0" indent="0">
              <a:buNone/>
            </a:pPr>
            <a:r>
              <a:rPr lang="en-US" sz="1300" dirty="0">
                <a:solidFill>
                  <a:srgbClr val="3E4E3E"/>
                </a:solidFill>
                <a:latin typeface="Calibri" pitchFamily="34" charset="0"/>
                <a:ea typeface="Calibri" pitchFamily="34" charset="-122"/>
                <a:cs typeface="Calibri" pitchFamily="34" charset="-120"/>
              </a:rPr>
              <a:t>Users are created by an admin only; there is no public sign-up page.</a:t>
            </a:r>
            <a:endParaRPr lang="en-US" sz="1300" dirty="0"/>
          </a:p>
        </p:txBody>
      </p:sp>
      <p:sp>
        <p:nvSpPr>
          <p:cNvPr id="36" name="Shape 28"/>
          <p:cNvSpPr/>
          <p:nvPr/>
        </p:nvSpPr>
        <p:spPr>
          <a:xfrm>
            <a:off x="6126480" y="3063240"/>
            <a:ext cx="5394960" cy="1417320"/>
          </a:xfrm>
          <a:prstGeom prst="roundRect">
            <a:avLst>
              <a:gd name="adj" fmla="val 5161"/>
            </a:avLst>
          </a:prstGeom>
          <a:solidFill>
            <a:srgbClr val="FFFFFF"/>
          </a:solidFill>
          <a:ln w="12700">
            <a:solidFill>
              <a:srgbClr val="C8D5C8"/>
            </a:solidFill>
            <a:prstDash val="solid"/>
          </a:ln>
        </p:spPr>
      </p:sp>
      <p:sp>
        <p:nvSpPr>
          <p:cNvPr id="37" name="Shape 29"/>
          <p:cNvSpPr/>
          <p:nvPr/>
        </p:nvSpPr>
        <p:spPr>
          <a:xfrm>
            <a:off x="6355080" y="3337560"/>
            <a:ext cx="548640" cy="548640"/>
          </a:xfrm>
          <a:prstGeom prst="ellipse">
            <a:avLst/>
          </a:prstGeom>
          <a:solidFill>
            <a:srgbClr val="EFE8F7"/>
          </a:solidFill>
          <a:ln w="12700">
            <a:solidFill>
              <a:srgbClr val="EFE8F7"/>
            </a:solidFill>
            <a:prstDash val="solid"/>
          </a:ln>
        </p:spPr>
      </p:sp>
      <p:pic>
        <p:nvPicPr>
          <p:cNvPr id="38" name="Image 6" descr="preencoded.png"/>
          <p:cNvPicPr>
            <a:picLocks noChangeAspect="1"/>
          </p:cNvPicPr>
          <p:nvPr/>
        </p:nvPicPr>
        <p:blipFill>
          <a:blip r:embed="rId9"/>
          <a:stretch>
            <a:fillRect/>
          </a:stretch>
        </p:blipFill>
        <p:spPr>
          <a:xfrm>
            <a:off x="6475781" y="3458261"/>
            <a:ext cx="307238" cy="307238"/>
          </a:xfrm>
          <a:prstGeom prst="rect">
            <a:avLst/>
          </a:prstGeom>
        </p:spPr>
      </p:pic>
      <p:sp>
        <p:nvSpPr>
          <p:cNvPr id="39" name="Text 30"/>
          <p:cNvSpPr txBox="1"/>
          <p:nvPr/>
        </p:nvSpPr>
        <p:spPr>
          <a:xfrm>
            <a:off x="7086600" y="3264408"/>
            <a:ext cx="4206240" cy="320040"/>
          </a:xfrm>
          <a:prstGeom prst="rect">
            <a:avLst/>
          </a:prstGeom>
          <a:noFill/>
          <a:ln/>
        </p:spPr>
        <p:txBody>
          <a:bodyPr wrap="square" lIns="0" tIns="0" rIns="0" bIns="0" rtlCol="0" anchor="ctr"/>
          <a:lstStyle/>
          <a:p>
            <a:pPr marL="0" indent="0">
              <a:buNone/>
            </a:pPr>
            <a:r>
              <a:rPr lang="en-US" sz="1600" b="1" dirty="0">
                <a:solidFill>
                  <a:srgbClr val="6A4898"/>
                </a:solidFill>
                <a:latin typeface="Calibri" pitchFamily="34" charset="0"/>
                <a:ea typeface="Calibri" pitchFamily="34" charset="-122"/>
                <a:cs typeface="Calibri" pitchFamily="34" charset="-120"/>
              </a:rPr>
              <a:t>No username guessing</a:t>
            </a:r>
            <a:endParaRPr lang="en-US" sz="1600" dirty="0"/>
          </a:p>
        </p:txBody>
      </p:sp>
      <p:sp>
        <p:nvSpPr>
          <p:cNvPr id="40" name="Text 31"/>
          <p:cNvSpPr txBox="1"/>
          <p:nvPr/>
        </p:nvSpPr>
        <p:spPr>
          <a:xfrm>
            <a:off x="7086600" y="3630168"/>
            <a:ext cx="4206240" cy="685800"/>
          </a:xfrm>
          <a:prstGeom prst="rect">
            <a:avLst/>
          </a:prstGeom>
          <a:noFill/>
          <a:ln/>
        </p:spPr>
        <p:txBody>
          <a:bodyPr wrap="square" lIns="0" tIns="0" rIns="0" bIns="0" rtlCol="0" anchor="t"/>
          <a:lstStyle/>
          <a:p>
            <a:pPr marL="0" indent="0">
              <a:buNone/>
            </a:pPr>
            <a:r>
              <a:rPr lang="en-US" sz="1300" dirty="0">
                <a:solidFill>
                  <a:srgbClr val="3E4E3E"/>
                </a:solidFill>
                <a:latin typeface="Calibri" pitchFamily="34" charset="0"/>
                <a:ea typeface="Calibri" pitchFamily="34" charset="-122"/>
                <a:cs typeface="Calibri" pitchFamily="34" charset="-120"/>
              </a:rPr>
              <a:t>Wrong password and unknown user return the identical error message.</a:t>
            </a:r>
            <a:endParaRPr lang="en-US" sz="1300" dirty="0"/>
          </a:p>
        </p:txBody>
      </p:sp>
      <p:sp>
        <p:nvSpPr>
          <p:cNvPr id="41" name="Shape 32"/>
          <p:cNvSpPr/>
          <p:nvPr/>
        </p:nvSpPr>
        <p:spPr>
          <a:xfrm>
            <a:off x="548640" y="4663440"/>
            <a:ext cx="5394960" cy="1417320"/>
          </a:xfrm>
          <a:prstGeom prst="roundRect">
            <a:avLst>
              <a:gd name="adj" fmla="val 5161"/>
            </a:avLst>
          </a:prstGeom>
          <a:solidFill>
            <a:srgbClr val="FFFFFF"/>
          </a:solidFill>
          <a:ln w="12700">
            <a:solidFill>
              <a:srgbClr val="C8D5C8"/>
            </a:solidFill>
            <a:prstDash val="solid"/>
          </a:ln>
        </p:spPr>
      </p:sp>
      <p:sp>
        <p:nvSpPr>
          <p:cNvPr id="42" name="Shape 33"/>
          <p:cNvSpPr/>
          <p:nvPr/>
        </p:nvSpPr>
        <p:spPr>
          <a:xfrm>
            <a:off x="777240" y="4937760"/>
            <a:ext cx="548640" cy="548640"/>
          </a:xfrm>
          <a:prstGeom prst="ellipse">
            <a:avLst/>
          </a:prstGeom>
          <a:solidFill>
            <a:srgbClr val="EFE8F7"/>
          </a:solidFill>
          <a:ln w="12700">
            <a:solidFill>
              <a:srgbClr val="EFE8F7"/>
            </a:solidFill>
            <a:prstDash val="solid"/>
          </a:ln>
        </p:spPr>
      </p:sp>
      <p:pic>
        <p:nvPicPr>
          <p:cNvPr id="43" name="Image 7" descr="preencoded.png"/>
          <p:cNvPicPr>
            <a:picLocks noChangeAspect="1"/>
          </p:cNvPicPr>
          <p:nvPr/>
        </p:nvPicPr>
        <p:blipFill>
          <a:blip r:embed="rId10"/>
          <a:stretch>
            <a:fillRect/>
          </a:stretch>
        </p:blipFill>
        <p:spPr>
          <a:xfrm>
            <a:off x="897941" y="5058461"/>
            <a:ext cx="307238" cy="307238"/>
          </a:xfrm>
          <a:prstGeom prst="rect">
            <a:avLst/>
          </a:prstGeom>
        </p:spPr>
      </p:pic>
      <p:sp>
        <p:nvSpPr>
          <p:cNvPr id="44" name="Text 34"/>
          <p:cNvSpPr txBox="1"/>
          <p:nvPr/>
        </p:nvSpPr>
        <p:spPr>
          <a:xfrm>
            <a:off x="1508760" y="4864608"/>
            <a:ext cx="4206240" cy="320040"/>
          </a:xfrm>
          <a:prstGeom prst="rect">
            <a:avLst/>
          </a:prstGeom>
          <a:noFill/>
          <a:ln/>
        </p:spPr>
        <p:txBody>
          <a:bodyPr wrap="square" lIns="0" tIns="0" rIns="0" bIns="0" rtlCol="0" anchor="ctr"/>
          <a:lstStyle/>
          <a:p>
            <a:pPr marL="0" indent="0">
              <a:buNone/>
            </a:pPr>
            <a:r>
              <a:rPr lang="en-US" sz="1600" b="1" dirty="0">
                <a:solidFill>
                  <a:srgbClr val="6A4898"/>
                </a:solidFill>
                <a:latin typeface="Calibri" pitchFamily="34" charset="0"/>
                <a:ea typeface="Calibri" pitchFamily="34" charset="-122"/>
                <a:cs typeface="Calibri" pitchFamily="34" charset="-120"/>
              </a:rPr>
              <a:t>Two groups in the token</a:t>
            </a:r>
            <a:endParaRPr lang="en-US" sz="1600" dirty="0"/>
          </a:p>
        </p:txBody>
      </p:sp>
      <p:sp>
        <p:nvSpPr>
          <p:cNvPr id="45" name="Text 35"/>
          <p:cNvSpPr txBox="1"/>
          <p:nvPr/>
        </p:nvSpPr>
        <p:spPr>
          <a:xfrm>
            <a:off x="1508760" y="5230368"/>
            <a:ext cx="4206240" cy="685800"/>
          </a:xfrm>
          <a:prstGeom prst="rect">
            <a:avLst/>
          </a:prstGeom>
          <a:noFill/>
          <a:ln/>
        </p:spPr>
        <p:txBody>
          <a:bodyPr wrap="square" lIns="0" tIns="0" rIns="0" bIns="0" rtlCol="0" anchor="t"/>
          <a:lstStyle/>
          <a:p>
            <a:pPr marL="0" indent="0">
              <a:buNone/>
            </a:pPr>
            <a:r>
              <a:rPr lang="en-US" sz="1300" dirty="0">
                <a:solidFill>
                  <a:srgbClr val="3E4E3E"/>
                </a:solidFill>
                <a:latin typeface="Calibri" pitchFamily="34" charset="0"/>
                <a:ea typeface="Calibri" pitchFamily="34" charset="-122"/>
                <a:cs typeface="Calibri" pitchFamily="34" charset="-120"/>
              </a:rPr>
              <a:t>ops (operations team) and staff (teaching staff) travel inside the JWT.</a:t>
            </a:r>
            <a:endParaRPr lang="en-US" sz="1300" dirty="0"/>
          </a:p>
        </p:txBody>
      </p:sp>
      <p:sp>
        <p:nvSpPr>
          <p:cNvPr id="46" name="Shape 36"/>
          <p:cNvSpPr/>
          <p:nvPr/>
        </p:nvSpPr>
        <p:spPr>
          <a:xfrm>
            <a:off x="6126480" y="4663440"/>
            <a:ext cx="5394960" cy="1417320"/>
          </a:xfrm>
          <a:prstGeom prst="roundRect">
            <a:avLst>
              <a:gd name="adj" fmla="val 5161"/>
            </a:avLst>
          </a:prstGeom>
          <a:solidFill>
            <a:srgbClr val="FFFFFF"/>
          </a:solidFill>
          <a:ln w="12700">
            <a:solidFill>
              <a:srgbClr val="C8D5C8"/>
            </a:solidFill>
            <a:prstDash val="solid"/>
          </a:ln>
        </p:spPr>
      </p:sp>
      <p:sp>
        <p:nvSpPr>
          <p:cNvPr id="47" name="Shape 37"/>
          <p:cNvSpPr/>
          <p:nvPr/>
        </p:nvSpPr>
        <p:spPr>
          <a:xfrm>
            <a:off x="6355080" y="4937760"/>
            <a:ext cx="548640" cy="548640"/>
          </a:xfrm>
          <a:prstGeom prst="ellipse">
            <a:avLst/>
          </a:prstGeom>
          <a:solidFill>
            <a:srgbClr val="EFE8F7"/>
          </a:solidFill>
          <a:ln w="12700">
            <a:solidFill>
              <a:srgbClr val="EFE8F7"/>
            </a:solidFill>
            <a:prstDash val="solid"/>
          </a:ln>
        </p:spPr>
      </p:sp>
      <p:pic>
        <p:nvPicPr>
          <p:cNvPr id="48" name="Image 8" descr="preencoded.png"/>
          <p:cNvPicPr>
            <a:picLocks noChangeAspect="1"/>
          </p:cNvPicPr>
          <p:nvPr/>
        </p:nvPicPr>
        <p:blipFill>
          <a:blip r:embed="rId11"/>
          <a:stretch>
            <a:fillRect/>
          </a:stretch>
        </p:blipFill>
        <p:spPr>
          <a:xfrm>
            <a:off x="6475781" y="5058461"/>
            <a:ext cx="307238" cy="307238"/>
          </a:xfrm>
          <a:prstGeom prst="rect">
            <a:avLst/>
          </a:prstGeom>
        </p:spPr>
      </p:pic>
      <p:sp>
        <p:nvSpPr>
          <p:cNvPr id="49" name="Text 38"/>
          <p:cNvSpPr txBox="1"/>
          <p:nvPr/>
        </p:nvSpPr>
        <p:spPr>
          <a:xfrm>
            <a:off x="7086600" y="4864608"/>
            <a:ext cx="4206240" cy="320040"/>
          </a:xfrm>
          <a:prstGeom prst="rect">
            <a:avLst/>
          </a:prstGeom>
          <a:noFill/>
          <a:ln/>
        </p:spPr>
        <p:txBody>
          <a:bodyPr wrap="square" lIns="0" tIns="0" rIns="0" bIns="0" rtlCol="0" anchor="ctr"/>
          <a:lstStyle/>
          <a:p>
            <a:pPr marL="0" indent="0">
              <a:buNone/>
            </a:pPr>
            <a:r>
              <a:rPr lang="en-US" sz="1600" b="1" dirty="0">
                <a:solidFill>
                  <a:srgbClr val="6A4898"/>
                </a:solidFill>
                <a:latin typeface="Calibri" pitchFamily="34" charset="0"/>
                <a:ea typeface="Calibri" pitchFamily="34" charset="-122"/>
                <a:cs typeface="Calibri" pitchFamily="34" charset="-120"/>
              </a:rPr>
              <a:t>Essentials tier on purpose</a:t>
            </a:r>
            <a:endParaRPr lang="en-US" sz="1600" dirty="0"/>
          </a:p>
        </p:txBody>
      </p:sp>
      <p:sp>
        <p:nvSpPr>
          <p:cNvPr id="50" name="Text 39"/>
          <p:cNvSpPr txBox="1"/>
          <p:nvPr/>
        </p:nvSpPr>
        <p:spPr>
          <a:xfrm>
            <a:off x="7086600" y="5230368"/>
            <a:ext cx="4206240" cy="685800"/>
          </a:xfrm>
          <a:prstGeom prst="rect">
            <a:avLst/>
          </a:prstGeom>
          <a:noFill/>
          <a:ln/>
        </p:spPr>
        <p:txBody>
          <a:bodyPr wrap="square" lIns="0" tIns="0" rIns="0" bIns="0" rtlCol="0" anchor="t"/>
          <a:lstStyle/>
          <a:p>
            <a:pPr marL="0" indent="0">
              <a:buNone/>
            </a:pPr>
            <a:r>
              <a:rPr lang="en-US" sz="1300" dirty="0">
                <a:solidFill>
                  <a:srgbClr val="3E4E3E"/>
                </a:solidFill>
                <a:latin typeface="Calibri" pitchFamily="34" charset="0"/>
                <a:ea typeface="Calibri" pitchFamily="34" charset="-122"/>
                <a:cs typeface="Calibri" pitchFamily="34" charset="-120"/>
              </a:rPr>
              <a:t>10,000 monthly users free; the Plus tier has no free allowance at all.</a:t>
            </a:r>
            <a:endParaRPr lang="en-US" sz="1300" dirty="0"/>
          </a:p>
        </p:txBody>
      </p:sp>
      <p:sp>
        <p:nvSpPr>
          <p:cNvPr id="51"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E6E5E"/>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595360" cy="685800"/>
          </a:xfrm>
          <a:prstGeom prst="rect">
            <a:avLst/>
          </a:prstGeom>
          <a:noFill/>
          <a:ln/>
        </p:spPr>
        <p:txBody>
          <a:bodyPr wrap="square" lIns="0" tIns="0" rIns="0" bIns="0" rtlCol="0" anchor="ctr"/>
          <a:lstStyle/>
          <a:p>
            <a:pPr marL="0" indent="0" algn="l">
              <a:buNone/>
            </a:pPr>
            <a:r>
              <a:rPr lang="en-US" sz="3200" b="1" dirty="0">
                <a:solidFill>
                  <a:srgbClr val="2A7A4A"/>
                </a:solidFill>
                <a:latin typeface="Cambria" pitchFamily="34" charset="0"/>
                <a:ea typeface="Cambria" pitchFamily="34" charset="-122"/>
                <a:cs typeface="Cambria" pitchFamily="34" charset="-120"/>
              </a:rPr>
              <a:t>Three independent security layers</a:t>
            </a:r>
            <a:endParaRPr lang="en-US" sz="3200" dirty="0"/>
          </a:p>
        </p:txBody>
      </p:sp>
      <p:sp>
        <p:nvSpPr>
          <p:cNvPr id="7" name="Shape 5"/>
          <p:cNvSpPr/>
          <p:nvPr/>
        </p:nvSpPr>
        <p:spPr>
          <a:xfrm>
            <a:off x="548640" y="1234440"/>
            <a:ext cx="3566160" cy="1783080"/>
          </a:xfrm>
          <a:prstGeom prst="roundRect">
            <a:avLst>
              <a:gd name="adj" fmla="val 4103"/>
            </a:avLst>
          </a:prstGeom>
          <a:solidFill>
            <a:srgbClr val="FFFFFF"/>
          </a:solidFill>
          <a:ln w="12700">
            <a:solidFill>
              <a:srgbClr val="C8D5C8"/>
            </a:solidFill>
            <a:prstDash val="solid"/>
          </a:ln>
        </p:spPr>
      </p:sp>
      <p:sp>
        <p:nvSpPr>
          <p:cNvPr id="8" name="Shape 6"/>
          <p:cNvSpPr/>
          <p:nvPr/>
        </p:nvSpPr>
        <p:spPr>
          <a:xfrm>
            <a:off x="731520" y="1417320"/>
            <a:ext cx="411480" cy="411480"/>
          </a:xfrm>
          <a:prstGeom prst="ellipse">
            <a:avLst/>
          </a:prstGeom>
          <a:solidFill>
            <a:srgbClr val="6A4898"/>
          </a:solidFill>
          <a:ln w="12700">
            <a:solidFill>
              <a:srgbClr val="6A4898"/>
            </a:solidFill>
            <a:prstDash val="solid"/>
          </a:ln>
        </p:spPr>
      </p:sp>
      <p:sp>
        <p:nvSpPr>
          <p:cNvPr id="9" name="Text 7"/>
          <p:cNvSpPr txBox="1"/>
          <p:nvPr/>
        </p:nvSpPr>
        <p:spPr>
          <a:xfrm>
            <a:off x="731520" y="14173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txBox="1"/>
          <p:nvPr/>
        </p:nvSpPr>
        <p:spPr>
          <a:xfrm>
            <a:off x="1280160" y="1444752"/>
            <a:ext cx="1828800" cy="365760"/>
          </a:xfrm>
          <a:prstGeom prst="rect">
            <a:avLst/>
          </a:prstGeom>
          <a:noFill/>
          <a:ln/>
        </p:spPr>
        <p:txBody>
          <a:bodyPr wrap="square" lIns="0" tIns="0" rIns="0" bIns="0" rtlCol="0" anchor="ctr"/>
          <a:lstStyle/>
          <a:p>
            <a:pPr marL="0" indent="0">
              <a:buNone/>
            </a:pPr>
            <a:r>
              <a:rPr lang="en-US" sz="1600" b="1" dirty="0">
                <a:solidFill>
                  <a:srgbClr val="6A4898"/>
                </a:solidFill>
                <a:latin typeface="Calibri" pitchFamily="34" charset="0"/>
                <a:ea typeface="Calibri" pitchFamily="34" charset="-122"/>
                <a:cs typeface="Calibri" pitchFamily="34" charset="-120"/>
              </a:rPr>
              <a:t>JWT authorizer</a:t>
            </a:r>
            <a:endParaRPr lang="en-US" sz="1600" dirty="0"/>
          </a:p>
        </p:txBody>
      </p:sp>
      <p:sp>
        <p:nvSpPr>
          <p:cNvPr id="11" name="Shape 9"/>
          <p:cNvSpPr/>
          <p:nvPr/>
        </p:nvSpPr>
        <p:spPr>
          <a:xfrm>
            <a:off x="3063240" y="1444752"/>
            <a:ext cx="868680" cy="365760"/>
          </a:xfrm>
          <a:prstGeom prst="roundRect">
            <a:avLst>
              <a:gd name="adj" fmla="val 15000"/>
            </a:avLst>
          </a:prstGeom>
          <a:solidFill>
            <a:srgbClr val="F6E3E3"/>
          </a:solidFill>
          <a:ln w="12700">
            <a:solidFill>
              <a:srgbClr val="F6E3E3"/>
            </a:solidFill>
            <a:prstDash val="solid"/>
          </a:ln>
        </p:spPr>
      </p:sp>
      <p:sp>
        <p:nvSpPr>
          <p:cNvPr id="12" name="Text 10"/>
          <p:cNvSpPr txBox="1"/>
          <p:nvPr/>
        </p:nvSpPr>
        <p:spPr>
          <a:xfrm>
            <a:off x="3063240" y="1444752"/>
            <a:ext cx="868680" cy="365760"/>
          </a:xfrm>
          <a:prstGeom prst="rect">
            <a:avLst/>
          </a:prstGeom>
          <a:noFill/>
          <a:ln/>
        </p:spPr>
        <p:txBody>
          <a:bodyPr wrap="square" lIns="0" tIns="0" rIns="0" bIns="0" rtlCol="0" anchor="ctr"/>
          <a:lstStyle/>
          <a:p>
            <a:pPr marL="0" indent="0" algn="ctr">
              <a:buNone/>
            </a:pPr>
            <a:r>
              <a:rPr lang="en-US" sz="1300" b="1" dirty="0">
                <a:solidFill>
                  <a:srgbClr val="8A2A2A"/>
                </a:solidFill>
                <a:latin typeface="Courier New" pitchFamily="34" charset="0"/>
                <a:ea typeface="Courier New" pitchFamily="34" charset="-122"/>
                <a:cs typeface="Courier New" pitchFamily="34" charset="-120"/>
              </a:rPr>
              <a:t>401</a:t>
            </a:r>
            <a:endParaRPr lang="en-US" sz="1300" dirty="0"/>
          </a:p>
        </p:txBody>
      </p:sp>
      <p:sp>
        <p:nvSpPr>
          <p:cNvPr id="13" name="Text 11"/>
          <p:cNvSpPr txBox="1"/>
          <p:nvPr/>
        </p:nvSpPr>
        <p:spPr>
          <a:xfrm>
            <a:off x="731520" y="2011680"/>
            <a:ext cx="3200400" cy="868680"/>
          </a:xfrm>
          <a:prstGeom prst="rect">
            <a:avLst/>
          </a:prstGeom>
          <a:noFill/>
          <a:ln/>
        </p:spPr>
        <p:txBody>
          <a:bodyPr wrap="square" lIns="0" tIns="0" rIns="0" bIns="0" rtlCol="0" anchor="t"/>
          <a:lstStyle/>
          <a:p>
            <a:pPr marL="0" indent="0">
              <a:buNone/>
            </a:pPr>
            <a:r>
              <a:rPr lang="en-US" sz="1300" dirty="0">
                <a:solidFill>
                  <a:srgbClr val="3E4E3E"/>
                </a:solidFill>
                <a:latin typeface="Calibri" pitchFamily="34" charset="0"/>
                <a:ea typeface="Calibri" pitchFamily="34" charset="-122"/>
                <a:cs typeface="Calibri" pitchFamily="34" charset="-120"/>
              </a:rPr>
              <a:t>API Gateway checks signature, issuer and expiry before our code runs</a:t>
            </a:r>
            <a:endParaRPr lang="en-US" sz="1300" dirty="0"/>
          </a:p>
        </p:txBody>
      </p:sp>
      <p:sp>
        <p:nvSpPr>
          <p:cNvPr id="14" name="Shape 12"/>
          <p:cNvSpPr/>
          <p:nvPr/>
        </p:nvSpPr>
        <p:spPr>
          <a:xfrm>
            <a:off x="4297680" y="1234440"/>
            <a:ext cx="3566160" cy="1783080"/>
          </a:xfrm>
          <a:prstGeom prst="roundRect">
            <a:avLst>
              <a:gd name="adj" fmla="val 4103"/>
            </a:avLst>
          </a:prstGeom>
          <a:solidFill>
            <a:srgbClr val="FFFFFF"/>
          </a:solidFill>
          <a:ln w="12700">
            <a:solidFill>
              <a:srgbClr val="C8D5C8"/>
            </a:solidFill>
            <a:prstDash val="solid"/>
          </a:ln>
        </p:spPr>
      </p:sp>
      <p:sp>
        <p:nvSpPr>
          <p:cNvPr id="15" name="Shape 13"/>
          <p:cNvSpPr/>
          <p:nvPr/>
        </p:nvSpPr>
        <p:spPr>
          <a:xfrm>
            <a:off x="4480560" y="1417320"/>
            <a:ext cx="411480" cy="411480"/>
          </a:xfrm>
          <a:prstGeom prst="ellipse">
            <a:avLst/>
          </a:prstGeom>
          <a:solidFill>
            <a:srgbClr val="6A4898"/>
          </a:solidFill>
          <a:ln w="12700">
            <a:solidFill>
              <a:srgbClr val="6A4898"/>
            </a:solidFill>
            <a:prstDash val="solid"/>
          </a:ln>
        </p:spPr>
      </p:sp>
      <p:sp>
        <p:nvSpPr>
          <p:cNvPr id="16" name="Text 14"/>
          <p:cNvSpPr txBox="1"/>
          <p:nvPr/>
        </p:nvSpPr>
        <p:spPr>
          <a:xfrm>
            <a:off x="4480560" y="14173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5"/>
          <p:cNvSpPr txBox="1"/>
          <p:nvPr/>
        </p:nvSpPr>
        <p:spPr>
          <a:xfrm>
            <a:off x="5029200" y="1444752"/>
            <a:ext cx="1828800" cy="365760"/>
          </a:xfrm>
          <a:prstGeom prst="rect">
            <a:avLst/>
          </a:prstGeom>
          <a:noFill/>
          <a:ln/>
        </p:spPr>
        <p:txBody>
          <a:bodyPr wrap="square" lIns="0" tIns="0" rIns="0" bIns="0" rtlCol="0" anchor="ctr"/>
          <a:lstStyle/>
          <a:p>
            <a:pPr marL="0" indent="0">
              <a:buNone/>
            </a:pPr>
            <a:r>
              <a:rPr lang="en-US" sz="1600" b="1" dirty="0">
                <a:solidFill>
                  <a:srgbClr val="6A4898"/>
                </a:solidFill>
                <a:latin typeface="Calibri" pitchFamily="34" charset="0"/>
                <a:ea typeface="Calibri" pitchFamily="34" charset="-122"/>
                <a:cs typeface="Calibri" pitchFamily="34" charset="-120"/>
              </a:rPr>
              <a:t>Group check</a:t>
            </a:r>
            <a:endParaRPr lang="en-US" sz="1600" dirty="0"/>
          </a:p>
        </p:txBody>
      </p:sp>
      <p:sp>
        <p:nvSpPr>
          <p:cNvPr id="18" name="Shape 16"/>
          <p:cNvSpPr/>
          <p:nvPr/>
        </p:nvSpPr>
        <p:spPr>
          <a:xfrm>
            <a:off x="6812280" y="1444752"/>
            <a:ext cx="868680" cy="365760"/>
          </a:xfrm>
          <a:prstGeom prst="roundRect">
            <a:avLst>
              <a:gd name="adj" fmla="val 15000"/>
            </a:avLst>
          </a:prstGeom>
          <a:solidFill>
            <a:srgbClr val="F6E3E3"/>
          </a:solidFill>
          <a:ln w="12700">
            <a:solidFill>
              <a:srgbClr val="F6E3E3"/>
            </a:solidFill>
            <a:prstDash val="solid"/>
          </a:ln>
        </p:spPr>
      </p:sp>
      <p:sp>
        <p:nvSpPr>
          <p:cNvPr id="19" name="Text 17"/>
          <p:cNvSpPr txBox="1"/>
          <p:nvPr/>
        </p:nvSpPr>
        <p:spPr>
          <a:xfrm>
            <a:off x="6812280" y="1444752"/>
            <a:ext cx="868680" cy="365760"/>
          </a:xfrm>
          <a:prstGeom prst="rect">
            <a:avLst/>
          </a:prstGeom>
          <a:noFill/>
          <a:ln/>
        </p:spPr>
        <p:txBody>
          <a:bodyPr wrap="square" lIns="0" tIns="0" rIns="0" bIns="0" rtlCol="0" anchor="ctr"/>
          <a:lstStyle/>
          <a:p>
            <a:pPr marL="0" indent="0" algn="ctr">
              <a:buNone/>
            </a:pPr>
            <a:r>
              <a:rPr lang="en-US" sz="1300" b="1" dirty="0">
                <a:solidFill>
                  <a:srgbClr val="8A2A2A"/>
                </a:solidFill>
                <a:latin typeface="Courier New" pitchFamily="34" charset="0"/>
                <a:ea typeface="Courier New" pitchFamily="34" charset="-122"/>
                <a:cs typeface="Courier New" pitchFamily="34" charset="-120"/>
              </a:rPr>
              <a:t>403</a:t>
            </a:r>
            <a:endParaRPr lang="en-US" sz="1300" dirty="0"/>
          </a:p>
        </p:txBody>
      </p:sp>
      <p:sp>
        <p:nvSpPr>
          <p:cNvPr id="20" name="Text 18"/>
          <p:cNvSpPr txBox="1"/>
          <p:nvPr/>
        </p:nvSpPr>
        <p:spPr>
          <a:xfrm>
            <a:off x="4480560" y="2011680"/>
            <a:ext cx="3200400" cy="868680"/>
          </a:xfrm>
          <a:prstGeom prst="rect">
            <a:avLst/>
          </a:prstGeom>
          <a:noFill/>
          <a:ln/>
        </p:spPr>
        <p:txBody>
          <a:bodyPr wrap="square" lIns="0" tIns="0" rIns="0" bIns="0" rtlCol="0" anchor="t"/>
          <a:lstStyle/>
          <a:p>
            <a:pPr marL="0" indent="0">
              <a:buNone/>
            </a:pPr>
            <a:r>
              <a:rPr lang="en-US" sz="1300" dirty="0">
                <a:solidFill>
                  <a:srgbClr val="3E4E3E"/>
                </a:solidFill>
                <a:latin typeface="Calibri" pitchFamily="34" charset="0"/>
                <a:ea typeface="Calibri" pitchFamily="34" charset="-122"/>
                <a:cs typeface="Calibri" pitchFamily="34" charset="-120"/>
              </a:rPr>
              <a:t>The Lambda reads the group in the token and checks the route</a:t>
            </a:r>
            <a:endParaRPr lang="en-US" sz="1300" dirty="0"/>
          </a:p>
        </p:txBody>
      </p:sp>
      <p:sp>
        <p:nvSpPr>
          <p:cNvPr id="21" name="Shape 19"/>
          <p:cNvSpPr/>
          <p:nvPr/>
        </p:nvSpPr>
        <p:spPr>
          <a:xfrm>
            <a:off x="8046720" y="1234440"/>
            <a:ext cx="3566160" cy="1783080"/>
          </a:xfrm>
          <a:prstGeom prst="roundRect">
            <a:avLst>
              <a:gd name="adj" fmla="val 4103"/>
            </a:avLst>
          </a:prstGeom>
          <a:solidFill>
            <a:srgbClr val="FFFFFF"/>
          </a:solidFill>
          <a:ln w="12700">
            <a:solidFill>
              <a:srgbClr val="C8D5C8"/>
            </a:solidFill>
            <a:prstDash val="solid"/>
          </a:ln>
        </p:spPr>
      </p:sp>
      <p:sp>
        <p:nvSpPr>
          <p:cNvPr id="22" name="Shape 20"/>
          <p:cNvSpPr/>
          <p:nvPr/>
        </p:nvSpPr>
        <p:spPr>
          <a:xfrm>
            <a:off x="8229600" y="1417320"/>
            <a:ext cx="411480" cy="411480"/>
          </a:xfrm>
          <a:prstGeom prst="ellipse">
            <a:avLst/>
          </a:prstGeom>
          <a:solidFill>
            <a:srgbClr val="6A4898"/>
          </a:solidFill>
          <a:ln w="12700">
            <a:solidFill>
              <a:srgbClr val="6A4898"/>
            </a:solidFill>
            <a:prstDash val="solid"/>
          </a:ln>
        </p:spPr>
      </p:sp>
      <p:sp>
        <p:nvSpPr>
          <p:cNvPr id="23" name="Text 21"/>
          <p:cNvSpPr txBox="1"/>
          <p:nvPr/>
        </p:nvSpPr>
        <p:spPr>
          <a:xfrm>
            <a:off x="8229600" y="141732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4" name="Text 22"/>
          <p:cNvSpPr txBox="1"/>
          <p:nvPr/>
        </p:nvSpPr>
        <p:spPr>
          <a:xfrm>
            <a:off x="8778240" y="1444752"/>
            <a:ext cx="1828800" cy="365760"/>
          </a:xfrm>
          <a:prstGeom prst="rect">
            <a:avLst/>
          </a:prstGeom>
          <a:noFill/>
          <a:ln/>
        </p:spPr>
        <p:txBody>
          <a:bodyPr wrap="square" lIns="0" tIns="0" rIns="0" bIns="0" rtlCol="0" anchor="ctr"/>
          <a:lstStyle/>
          <a:p>
            <a:pPr marL="0" indent="0">
              <a:buNone/>
            </a:pPr>
            <a:r>
              <a:rPr lang="en-US" sz="1600" b="1" dirty="0">
                <a:solidFill>
                  <a:srgbClr val="6A4898"/>
                </a:solidFill>
                <a:latin typeface="Calibri" pitchFamily="34" charset="0"/>
                <a:ea typeface="Calibri" pitchFamily="34" charset="-122"/>
                <a:cs typeface="Calibri" pitchFamily="34" charset="-120"/>
              </a:rPr>
              <a:t>IAM role</a:t>
            </a:r>
            <a:endParaRPr lang="en-US" sz="1600" dirty="0"/>
          </a:p>
        </p:txBody>
      </p:sp>
      <p:sp>
        <p:nvSpPr>
          <p:cNvPr id="25" name="Shape 23"/>
          <p:cNvSpPr/>
          <p:nvPr/>
        </p:nvSpPr>
        <p:spPr>
          <a:xfrm>
            <a:off x="10561320" y="1444752"/>
            <a:ext cx="868680" cy="365760"/>
          </a:xfrm>
          <a:prstGeom prst="roundRect">
            <a:avLst>
              <a:gd name="adj" fmla="val 15000"/>
            </a:avLst>
          </a:prstGeom>
          <a:solidFill>
            <a:srgbClr val="F6E3E3"/>
          </a:solidFill>
          <a:ln w="12700">
            <a:solidFill>
              <a:srgbClr val="F6E3E3"/>
            </a:solidFill>
            <a:prstDash val="solid"/>
          </a:ln>
        </p:spPr>
      </p:sp>
      <p:sp>
        <p:nvSpPr>
          <p:cNvPr id="26" name="Text 24"/>
          <p:cNvSpPr txBox="1"/>
          <p:nvPr/>
        </p:nvSpPr>
        <p:spPr>
          <a:xfrm>
            <a:off x="10561320" y="1444752"/>
            <a:ext cx="868680" cy="365760"/>
          </a:xfrm>
          <a:prstGeom prst="rect">
            <a:avLst/>
          </a:prstGeom>
          <a:noFill/>
          <a:ln/>
        </p:spPr>
        <p:txBody>
          <a:bodyPr wrap="square" lIns="0" tIns="0" rIns="0" bIns="0" rtlCol="0" anchor="ctr"/>
          <a:lstStyle/>
          <a:p>
            <a:pPr marL="0" indent="0" algn="ctr">
              <a:buNone/>
            </a:pPr>
            <a:r>
              <a:rPr lang="en-US" sz="1300" b="1" dirty="0">
                <a:solidFill>
                  <a:srgbClr val="8A2A2A"/>
                </a:solidFill>
                <a:latin typeface="Courier New" pitchFamily="34" charset="0"/>
                <a:ea typeface="Courier New" pitchFamily="34" charset="-122"/>
                <a:cs typeface="Courier New" pitchFamily="34" charset="-120"/>
              </a:rPr>
              <a:t>Denied</a:t>
            </a:r>
            <a:endParaRPr lang="en-US" sz="1300" dirty="0"/>
          </a:p>
        </p:txBody>
      </p:sp>
      <p:sp>
        <p:nvSpPr>
          <p:cNvPr id="27" name="Text 25"/>
          <p:cNvSpPr txBox="1"/>
          <p:nvPr/>
        </p:nvSpPr>
        <p:spPr>
          <a:xfrm>
            <a:off x="8229600" y="2011680"/>
            <a:ext cx="3200400" cy="868680"/>
          </a:xfrm>
          <a:prstGeom prst="rect">
            <a:avLst/>
          </a:prstGeom>
          <a:noFill/>
          <a:ln/>
        </p:spPr>
        <p:txBody>
          <a:bodyPr wrap="square" lIns="0" tIns="0" rIns="0" bIns="0" rtlCol="0" anchor="t"/>
          <a:lstStyle/>
          <a:p>
            <a:pPr marL="0" indent="0">
              <a:buNone/>
            </a:pPr>
            <a:r>
              <a:rPr lang="en-US" sz="1300" dirty="0">
                <a:solidFill>
                  <a:srgbClr val="3E4E3E"/>
                </a:solidFill>
                <a:latin typeface="Calibri" pitchFamily="34" charset="0"/>
                <a:ea typeface="Calibri" pitchFamily="34" charset="-122"/>
                <a:cs typeface="Calibri" pitchFamily="34" charset="-120"/>
              </a:rPr>
              <a:t>Each function may touch only its own resource and action</a:t>
            </a:r>
            <a:endParaRPr lang="en-US" sz="1300" dirty="0"/>
          </a:p>
        </p:txBody>
      </p:sp>
      <p:sp>
        <p:nvSpPr>
          <p:cNvPr id="28" name="Text 26"/>
          <p:cNvSpPr txBox="1"/>
          <p:nvPr/>
        </p:nvSpPr>
        <p:spPr>
          <a:xfrm>
            <a:off x="548640" y="3246120"/>
            <a:ext cx="5029200" cy="292608"/>
          </a:xfrm>
          <a:prstGeom prst="rect">
            <a:avLst/>
          </a:prstGeom>
          <a:noFill/>
          <a:ln/>
        </p:spPr>
        <p:txBody>
          <a:bodyPr wrap="square" lIns="0" tIns="0" rIns="0" bIns="0" rtlCol="0" anchor="ctr"/>
          <a:lstStyle/>
          <a:p>
            <a:pPr marL="0" indent="0">
              <a:buNone/>
            </a:pPr>
            <a:r>
              <a:rPr lang="en-US" sz="1500" b="1" dirty="0">
                <a:solidFill>
                  <a:srgbClr val="1B2E1B"/>
                </a:solidFill>
                <a:latin typeface="Calibri" pitchFamily="34" charset="0"/>
                <a:ea typeface="Calibri" pitchFamily="34" charset="-122"/>
                <a:cs typeface="Calibri" pitchFamily="34" charset="-120"/>
              </a:rPr>
              <a:t>Route permissions by role</a:t>
            </a:r>
            <a:endParaRPr lang="en-US" sz="15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3611880"/>
          <a:ext cx="4937760" cy="2359152"/>
        </p:xfrm>
        <a:graphic>
          <a:graphicData uri="http://schemas.openxmlformats.org/drawingml/2006/table">
            <a:tbl>
              <a:tblPr/>
              <a:tblGrid>
                <a:gridCol w="237744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39319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Route</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6A489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ops</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6A4898"/>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staff</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6A4898"/>
                    </a:solidFill>
                  </a:tcPr>
                </a:tc>
                <a:extLst>
                  <a:ext uri="{0D108BD9-81ED-4DB2-BD59-A6C34878D82A}">
                    <a16:rowId xmlns:a16="http://schemas.microsoft.com/office/drawing/2014/main" val="10000"/>
                  </a:ext>
                </a:extLst>
              </a:tr>
              <a:tr h="393192">
                <a:tc>
                  <a:txBody>
                    <a:bodyPr/>
                    <a:lstStyle/>
                    <a:p>
                      <a:pPr marL="0" indent="0">
                        <a:buNone/>
                      </a:pPr>
                      <a:r>
                        <a:rPr lang="en-US" sz="1300" dirty="0">
                          <a:solidFill>
                            <a:srgbClr val="1B2E1B"/>
                          </a:solidFill>
                          <a:latin typeface="Courier New" pitchFamily="34" charset="0"/>
                          <a:ea typeface="Courier New" pitchFamily="34" charset="-122"/>
                          <a:cs typeface="Courier New" pitchFamily="34" charset="-120"/>
                        </a:rPr>
                        <a:t>POST /events</a:t>
                      </a:r>
                      <a:endParaRPr lang="en-US" sz="1300" dirty="0">
                        <a:latin typeface="Courier New" charset="0"/>
                        <a:ea typeface="Courier New" charset="0"/>
                        <a:cs typeface="Courier New"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A7A4A"/>
                          </a:solidFill>
                          <a:latin typeface="Calibri" pitchFamily="34" charset="0"/>
                          <a:ea typeface="Calibri" pitchFamily="34" charset="-122"/>
                          <a:cs typeface="Calibri" pitchFamily="34" charset="-120"/>
                        </a:rPr>
                        <a:t>✓ 201</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8A2A2A"/>
                          </a:solidFill>
                          <a:latin typeface="Calibri" pitchFamily="34" charset="0"/>
                          <a:ea typeface="Calibri" pitchFamily="34" charset="-122"/>
                          <a:cs typeface="Calibri" pitchFamily="34" charset="-120"/>
                        </a:rPr>
                        <a:t>✗ 403</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3192">
                <a:tc>
                  <a:txBody>
                    <a:bodyPr/>
                    <a:lstStyle/>
                    <a:p>
                      <a:pPr marL="0" indent="0">
                        <a:buNone/>
                      </a:pPr>
                      <a:r>
                        <a:rPr lang="en-US" sz="1300" dirty="0">
                          <a:solidFill>
                            <a:srgbClr val="1B2E1B"/>
                          </a:solidFill>
                          <a:latin typeface="Courier New" pitchFamily="34" charset="0"/>
                          <a:ea typeface="Courier New" pitchFamily="34" charset="-122"/>
                          <a:cs typeface="Courier New" pitchFamily="34" charset="-120"/>
                        </a:rPr>
                        <a:t>GET /events</a:t>
                      </a:r>
                      <a:endParaRPr lang="en-US" sz="1300" dirty="0">
                        <a:latin typeface="Courier New" charset="0"/>
                        <a:ea typeface="Courier New" charset="0"/>
                        <a:cs typeface="Courier New"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marL="0" indent="0" algn="ctr">
                        <a:buNone/>
                      </a:pPr>
                      <a:r>
                        <a:rPr lang="en-US" sz="1300" b="1" dirty="0">
                          <a:solidFill>
                            <a:srgbClr val="2A7A4A"/>
                          </a:solidFill>
                          <a:latin typeface="Calibri" pitchFamily="34" charset="0"/>
                          <a:ea typeface="Calibri" pitchFamily="34" charset="-122"/>
                          <a:cs typeface="Calibri" pitchFamily="34" charset="-120"/>
                        </a:rPr>
                        <a:t>✓ 200</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marL="0" indent="0" algn="ctr">
                        <a:buNone/>
                      </a:pPr>
                      <a:r>
                        <a:rPr lang="en-US" sz="1300" b="1" dirty="0">
                          <a:solidFill>
                            <a:srgbClr val="2A7A4A"/>
                          </a:solidFill>
                          <a:latin typeface="Calibri" pitchFamily="34" charset="0"/>
                          <a:ea typeface="Calibri" pitchFamily="34" charset="-122"/>
                          <a:cs typeface="Calibri" pitchFamily="34" charset="-120"/>
                        </a:rPr>
                        <a:t>✓ 200</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extLst>
                  <a:ext uri="{0D108BD9-81ED-4DB2-BD59-A6C34878D82A}">
                    <a16:rowId xmlns:a16="http://schemas.microsoft.com/office/drawing/2014/main" val="10002"/>
                  </a:ext>
                </a:extLst>
              </a:tr>
              <a:tr h="393192">
                <a:tc>
                  <a:txBody>
                    <a:bodyPr/>
                    <a:lstStyle/>
                    <a:p>
                      <a:pPr marL="0" indent="0">
                        <a:buNone/>
                      </a:pPr>
                      <a:r>
                        <a:rPr lang="en-US" sz="1300" dirty="0">
                          <a:solidFill>
                            <a:srgbClr val="1B2E1B"/>
                          </a:solidFill>
                          <a:latin typeface="Courier New" pitchFamily="34" charset="0"/>
                          <a:ea typeface="Courier New" pitchFamily="34" charset="-122"/>
                          <a:cs typeface="Courier New" pitchFamily="34" charset="-120"/>
                        </a:rPr>
                        <a:t>GET /stats</a:t>
                      </a:r>
                      <a:endParaRPr lang="en-US" sz="1300" dirty="0">
                        <a:latin typeface="Courier New" charset="0"/>
                        <a:ea typeface="Courier New" charset="0"/>
                        <a:cs typeface="Courier New"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A7A4A"/>
                          </a:solidFill>
                          <a:latin typeface="Calibri" pitchFamily="34" charset="0"/>
                          <a:ea typeface="Calibri" pitchFamily="34" charset="-122"/>
                          <a:cs typeface="Calibri" pitchFamily="34" charset="-120"/>
                        </a:rPr>
                        <a:t>✓ 200</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A7A4A"/>
                          </a:solidFill>
                          <a:latin typeface="Calibri" pitchFamily="34" charset="0"/>
                          <a:ea typeface="Calibri" pitchFamily="34" charset="-122"/>
                          <a:cs typeface="Calibri" pitchFamily="34" charset="-120"/>
                        </a:rPr>
                        <a:t>✓ 200</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3192">
                <a:tc>
                  <a:txBody>
                    <a:bodyPr/>
                    <a:lstStyle/>
                    <a:p>
                      <a:pPr marL="0" indent="0">
                        <a:buNone/>
                      </a:pPr>
                      <a:r>
                        <a:rPr lang="en-US" sz="1300" dirty="0">
                          <a:solidFill>
                            <a:srgbClr val="1B2E1B"/>
                          </a:solidFill>
                          <a:latin typeface="Courier New" pitchFamily="34" charset="0"/>
                          <a:ea typeface="Courier New" pitchFamily="34" charset="-122"/>
                          <a:cs typeface="Courier New" pitchFamily="34" charset="-120"/>
                        </a:rPr>
                        <a:t>GET /alerts</a:t>
                      </a:r>
                      <a:endParaRPr lang="en-US" sz="1300" dirty="0">
                        <a:latin typeface="Courier New" charset="0"/>
                        <a:ea typeface="Courier New" charset="0"/>
                        <a:cs typeface="Courier New"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marL="0" indent="0" algn="ctr">
                        <a:buNone/>
                      </a:pPr>
                      <a:r>
                        <a:rPr lang="en-US" sz="1300" b="1" dirty="0">
                          <a:solidFill>
                            <a:srgbClr val="2A7A4A"/>
                          </a:solidFill>
                          <a:latin typeface="Calibri" pitchFamily="34" charset="0"/>
                          <a:ea typeface="Calibri" pitchFamily="34" charset="-122"/>
                          <a:cs typeface="Calibri" pitchFamily="34" charset="-120"/>
                        </a:rPr>
                        <a:t>✓ 200</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marL="0" indent="0" algn="ctr">
                        <a:buNone/>
                      </a:pPr>
                      <a:r>
                        <a:rPr lang="en-US" sz="1300" b="1" dirty="0">
                          <a:solidFill>
                            <a:srgbClr val="8A2A2A"/>
                          </a:solidFill>
                          <a:latin typeface="Calibri" pitchFamily="34" charset="0"/>
                          <a:ea typeface="Calibri" pitchFamily="34" charset="-122"/>
                          <a:cs typeface="Calibri" pitchFamily="34" charset="-120"/>
                        </a:rPr>
                        <a:t>✗ 403</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extLst>
                  <a:ext uri="{0D108BD9-81ED-4DB2-BD59-A6C34878D82A}">
                    <a16:rowId xmlns:a16="http://schemas.microsoft.com/office/drawing/2014/main" val="10004"/>
                  </a:ext>
                </a:extLst>
              </a:tr>
              <a:tr h="393192">
                <a:tc>
                  <a:txBody>
                    <a:bodyPr/>
                    <a:lstStyle/>
                    <a:p>
                      <a:pPr marL="0" indent="0">
                        <a:buNone/>
                      </a:pPr>
                      <a:r>
                        <a:rPr lang="en-US" sz="1300" dirty="0">
                          <a:solidFill>
                            <a:srgbClr val="1B2E1B"/>
                          </a:solidFill>
                          <a:latin typeface="Courier New" pitchFamily="34" charset="0"/>
                          <a:ea typeface="Courier New" pitchFamily="34" charset="-122"/>
                          <a:cs typeface="Courier New" pitchFamily="34" charset="-120"/>
                        </a:rPr>
                        <a:t>POST /requests</a:t>
                      </a:r>
                      <a:endParaRPr lang="en-US" sz="1300" dirty="0">
                        <a:latin typeface="Courier New" charset="0"/>
                        <a:ea typeface="Courier New" charset="0"/>
                        <a:cs typeface="Courier New"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A7A4A"/>
                          </a:solidFill>
                          <a:latin typeface="Calibri" pitchFamily="34" charset="0"/>
                          <a:ea typeface="Calibri" pitchFamily="34" charset="-122"/>
                          <a:cs typeface="Calibri" pitchFamily="34" charset="-120"/>
                        </a:rPr>
                        <a:t>✓ 201</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marL="0" indent="0" algn="ctr">
                        <a:buNone/>
                      </a:pPr>
                      <a:r>
                        <a:rPr lang="en-US" sz="1300" b="1" dirty="0">
                          <a:solidFill>
                            <a:srgbClr val="2A7A4A"/>
                          </a:solidFill>
                          <a:latin typeface="Calibri" pitchFamily="34" charset="0"/>
                          <a:ea typeface="Calibri" pitchFamily="34" charset="-122"/>
                          <a:cs typeface="Calibri" pitchFamily="34" charset="-120"/>
                        </a:rPr>
                        <a:t>✓ 201</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30" name="Text 27"/>
          <p:cNvSpPr txBox="1"/>
          <p:nvPr/>
        </p:nvSpPr>
        <p:spPr>
          <a:xfrm>
            <a:off x="5852160" y="3246120"/>
            <a:ext cx="5760720" cy="292608"/>
          </a:xfrm>
          <a:prstGeom prst="rect">
            <a:avLst/>
          </a:prstGeom>
          <a:noFill/>
          <a:ln/>
        </p:spPr>
        <p:txBody>
          <a:bodyPr wrap="square" lIns="0" tIns="0" rIns="0" bIns="0" rtlCol="0" anchor="ctr"/>
          <a:lstStyle/>
          <a:p>
            <a:pPr marL="0" indent="0">
              <a:buNone/>
            </a:pPr>
            <a:r>
              <a:rPr lang="en-US" sz="1500" b="1" dirty="0">
                <a:solidFill>
                  <a:srgbClr val="1B2E1B"/>
                </a:solidFill>
                <a:latin typeface="Calibri" pitchFamily="34" charset="0"/>
                <a:ea typeface="Calibri" pitchFamily="34" charset="-122"/>
                <a:cs typeface="Calibri" pitchFamily="34" charset="-120"/>
              </a:rPr>
              <a:t>Evidence from the live API (5 Oct 2026)</a:t>
            </a:r>
            <a:endParaRPr lang="en-US" sz="1500" dirty="0"/>
          </a:p>
        </p:txBody>
      </p:sp>
      <p:sp>
        <p:nvSpPr>
          <p:cNvPr id="31" name="Shape 28"/>
          <p:cNvSpPr/>
          <p:nvPr/>
        </p:nvSpPr>
        <p:spPr>
          <a:xfrm>
            <a:off x="5852160" y="3611880"/>
            <a:ext cx="5760720" cy="2011680"/>
          </a:xfrm>
          <a:prstGeom prst="roundRect">
            <a:avLst>
              <a:gd name="adj" fmla="val 3636"/>
            </a:avLst>
          </a:prstGeom>
          <a:solidFill>
            <a:srgbClr val="1B2E1B"/>
          </a:solidFill>
          <a:ln w="12700">
            <a:solidFill>
              <a:srgbClr val="1B2E1B"/>
            </a:solidFill>
            <a:prstDash val="solid"/>
          </a:ln>
        </p:spPr>
      </p:sp>
      <p:sp>
        <p:nvSpPr>
          <p:cNvPr id="32" name="Text 29"/>
          <p:cNvSpPr txBox="1"/>
          <p:nvPr/>
        </p:nvSpPr>
        <p:spPr>
          <a:xfrm>
            <a:off x="6035040" y="3703320"/>
            <a:ext cx="5486400" cy="1828800"/>
          </a:xfrm>
          <a:prstGeom prst="rect">
            <a:avLst/>
          </a:prstGeom>
          <a:noFill/>
          <a:ln/>
        </p:spPr>
        <p:txBody>
          <a:bodyPr wrap="square" lIns="0" tIns="0" rIns="0" bIns="0" rtlCol="0" anchor="t"/>
          <a:lstStyle/>
          <a:p>
            <a:pPr marL="0" indent="0">
              <a:spcAft>
                <a:spcPts val="200"/>
              </a:spcAft>
              <a:buNone/>
            </a:pPr>
            <a:r>
              <a:rPr lang="en-US" sz="1150" dirty="0">
                <a:solidFill>
                  <a:srgbClr val="8FA88F"/>
                </a:solidFill>
                <a:latin typeface="Courier New" pitchFamily="34" charset="0"/>
                <a:ea typeface="Courier New" pitchFamily="34" charset="-122"/>
                <a:cs typeface="Courier New" pitchFamily="34" charset="-120"/>
              </a:rPr>
              <a:t># no token  →  GET /events</a:t>
            </a:r>
            <a:endParaRPr lang="en-US" sz="1150" dirty="0"/>
          </a:p>
          <a:p>
            <a:pPr marL="0" indent="0">
              <a:spcAft>
                <a:spcPts val="200"/>
              </a:spcAft>
              <a:buNone/>
            </a:pPr>
            <a:r>
              <a:rPr lang="en-US" sz="1150" dirty="0">
                <a:solidFill>
                  <a:srgbClr val="F2A0A0"/>
                </a:solidFill>
                <a:latin typeface="Courier New" pitchFamily="34" charset="0"/>
                <a:ea typeface="Courier New" pitchFamily="34" charset="-122"/>
                <a:cs typeface="Courier New" pitchFamily="34" charset="-120"/>
              </a:rPr>
              <a:t>{"message":"Unauthorized"}</a:t>
            </a:r>
            <a:endParaRPr lang="en-US" sz="1150" dirty="0"/>
          </a:p>
          <a:p>
            <a:pPr marL="0" indent="0">
              <a:spcAft>
                <a:spcPts val="200"/>
              </a:spcAft>
              <a:buNone/>
            </a:pPr>
            <a:r>
              <a:rPr lang="en-US" sz="1150" dirty="0">
                <a:solidFill>
                  <a:srgbClr val="8FA88F"/>
                </a:solidFill>
                <a:latin typeface="Courier New" pitchFamily="34" charset="0"/>
                <a:ea typeface="Courier New" pitchFamily="34" charset="-122"/>
                <a:cs typeface="Courier New" pitchFamily="34" charset="-120"/>
              </a:rPr>
              <a:t># staff token  →  GET /alerts</a:t>
            </a:r>
            <a:endParaRPr lang="en-US" sz="1150" dirty="0"/>
          </a:p>
          <a:p>
            <a:pPr marL="0" indent="0">
              <a:spcAft>
                <a:spcPts val="200"/>
              </a:spcAft>
              <a:buNone/>
            </a:pPr>
            <a:r>
              <a:rPr lang="en-US" sz="1150" dirty="0">
                <a:solidFill>
                  <a:srgbClr val="F2A0A0"/>
                </a:solidFill>
                <a:latin typeface="Courier New" pitchFamily="34" charset="0"/>
                <a:ea typeface="Courier New" pitchFamily="34" charset="-122"/>
                <a:cs typeface="Courier New" pitchFamily="34" charset="-120"/>
              </a:rPr>
              <a:t>{"error": "Forbidden",</a:t>
            </a:r>
            <a:endParaRPr lang="en-US" sz="1150" dirty="0"/>
          </a:p>
          <a:p>
            <a:pPr marL="0" indent="0">
              <a:spcAft>
                <a:spcPts val="200"/>
              </a:spcAft>
              <a:buNone/>
            </a:pPr>
            <a:r>
              <a:rPr lang="en-US" sz="1150" dirty="0">
                <a:solidFill>
                  <a:srgbClr val="F2A0A0"/>
                </a:solidFill>
                <a:latin typeface="Courier New" pitchFamily="34" charset="0"/>
                <a:ea typeface="Courier New" pitchFamily="34" charset="-122"/>
                <a:cs typeface="Courier New" pitchFamily="34" charset="-120"/>
              </a:rPr>
              <a:t> "message": "This action requires one of: ops"}</a:t>
            </a:r>
            <a:endParaRPr lang="en-US" sz="1150" dirty="0"/>
          </a:p>
          <a:p>
            <a:pPr marL="0" indent="0">
              <a:spcAft>
                <a:spcPts val="200"/>
              </a:spcAft>
              <a:buNone/>
            </a:pPr>
            <a:r>
              <a:rPr lang="en-US" sz="1150" dirty="0">
                <a:solidFill>
                  <a:srgbClr val="8FA88F"/>
                </a:solidFill>
                <a:latin typeface="Courier New" pitchFamily="34" charset="0"/>
                <a:ea typeface="Courier New" pitchFamily="34" charset="-122"/>
                <a:cs typeface="Courier New" pitchFamily="34" charset="-120"/>
              </a:rPr>
              <a:t># staff token  →  GET /events</a:t>
            </a:r>
            <a:endParaRPr lang="en-US" sz="1150" dirty="0"/>
          </a:p>
          <a:p>
            <a:pPr marL="0" indent="0">
              <a:spcAft>
                <a:spcPts val="200"/>
              </a:spcAft>
              <a:buNone/>
            </a:pPr>
            <a:r>
              <a:rPr lang="en-US" sz="1150" dirty="0">
                <a:solidFill>
                  <a:srgbClr val="A8D5B8"/>
                </a:solidFill>
                <a:latin typeface="Courier New" pitchFamily="34" charset="0"/>
                <a:ea typeface="Courier New" pitchFamily="34" charset="-122"/>
                <a:cs typeface="Courier New" pitchFamily="34" charset="-120"/>
              </a:rPr>
              <a:t>{"count": 36, "date": "2026-10-05", "events": [...]}</a:t>
            </a:r>
            <a:endParaRPr lang="en-US" sz="1150" dirty="0"/>
          </a:p>
        </p:txBody>
      </p:sp>
      <p:sp>
        <p:nvSpPr>
          <p:cNvPr id="33" name="Text 30"/>
          <p:cNvSpPr txBox="1"/>
          <p:nvPr/>
        </p:nvSpPr>
        <p:spPr>
          <a:xfrm>
            <a:off x="5852160" y="5669280"/>
            <a:ext cx="5760720" cy="228600"/>
          </a:xfrm>
          <a:prstGeom prst="rect">
            <a:avLst/>
          </a:prstGeom>
          <a:noFill/>
          <a:ln/>
        </p:spPr>
        <p:txBody>
          <a:bodyPr wrap="square" lIns="0" tIns="0" rIns="0" bIns="0" rtlCol="0" anchor="ctr"/>
          <a:lstStyle/>
          <a:p>
            <a:pPr marL="0" indent="0">
              <a:buNone/>
            </a:pPr>
            <a:r>
              <a:rPr lang="en-US" sz="1000" i="1" dirty="0">
                <a:solidFill>
                  <a:srgbClr val="5E6E5E"/>
                </a:solidFill>
                <a:latin typeface="Calibri" pitchFamily="34" charset="0"/>
                <a:ea typeface="Calibri" pitchFamily="34" charset="-122"/>
                <a:cs typeface="Calibri" pitchFamily="34" charset="-120"/>
              </a:rPr>
              <a:t>Output from docs/evidence/auth-401.png and auth-403-200.png</a:t>
            </a:r>
            <a:endParaRPr lang="en-US" sz="1000" dirty="0"/>
          </a:p>
        </p:txBody>
      </p:sp>
      <p:sp>
        <p:nvSpPr>
          <p:cNvPr id="34" name="Text 31"/>
          <p:cNvSpPr txBox="1"/>
          <p:nvPr/>
        </p:nvSpPr>
        <p:spPr>
          <a:xfrm>
            <a:off x="548640" y="5943600"/>
            <a:ext cx="5760720" cy="365760"/>
          </a:xfrm>
          <a:prstGeom prst="rect">
            <a:avLst/>
          </a:prstGeom>
          <a:noFill/>
          <a:ln/>
        </p:spPr>
        <p:txBody>
          <a:bodyPr wrap="square" lIns="0" tIns="0" rIns="0" bIns="0" rtlCol="0" anchor="ctr"/>
          <a:lstStyle/>
          <a:p>
            <a:pPr marL="0" indent="0">
              <a:buNone/>
            </a:pPr>
            <a:r>
              <a:rPr lang="en-US" sz="1400" b="1" i="1" dirty="0">
                <a:solidFill>
                  <a:srgbClr val="6A4898"/>
                </a:solidFill>
                <a:latin typeface="Calibri" pitchFamily="34" charset="0"/>
                <a:ea typeface="Calibri" pitchFamily="34" charset="-122"/>
                <a:cs typeface="Calibri" pitchFamily="34" charset="-120"/>
              </a:rPr>
              <a:t>Defeat one layer and the other two still stand.</a:t>
            </a:r>
            <a:endParaRPr lang="en-US" sz="1400" dirty="0"/>
          </a:p>
        </p:txBody>
      </p:sp>
      <p:sp>
        <p:nvSpPr>
          <p:cNvPr id="3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E6E5E"/>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595360" cy="685800"/>
          </a:xfrm>
          <a:prstGeom prst="rect">
            <a:avLst/>
          </a:prstGeom>
          <a:noFill/>
          <a:ln/>
        </p:spPr>
        <p:txBody>
          <a:bodyPr wrap="square" lIns="0" tIns="0" rIns="0" bIns="0" rtlCol="0" anchor="ctr"/>
          <a:lstStyle/>
          <a:p>
            <a:pPr marL="0" indent="0" algn="l">
              <a:buNone/>
            </a:pPr>
            <a:r>
              <a:rPr lang="en-US" sz="3200" b="1" dirty="0">
                <a:solidFill>
                  <a:srgbClr val="2A7A4A"/>
                </a:solidFill>
                <a:latin typeface="Cambria" pitchFamily="34" charset="0"/>
                <a:ea typeface="Cambria" pitchFamily="34" charset="-122"/>
                <a:cs typeface="Cambria" pitchFamily="34" charset="-120"/>
              </a:rPr>
              <a:t>Least privilege, audited</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5669280" cy="2523744"/>
        </p:xfrm>
        <a:graphic>
          <a:graphicData uri="http://schemas.openxmlformats.org/drawingml/2006/table">
            <a:tbl>
              <a:tblPr/>
              <a:tblGrid>
                <a:gridCol w="141732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tblGrid>
              <a:tr h="420624">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Function</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6A4898"/>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Allowed</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6A4898"/>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Cannot</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6A4898"/>
                    </a:solidFill>
                  </a:tcPr>
                </a:tc>
                <a:extLst>
                  <a:ext uri="{0D108BD9-81ED-4DB2-BD59-A6C34878D82A}">
                    <a16:rowId xmlns:a16="http://schemas.microsoft.com/office/drawing/2014/main" val="10000"/>
                  </a:ext>
                </a:extLst>
              </a:tr>
              <a:tr h="420624">
                <a:tc>
                  <a:txBody>
                    <a:bodyPr/>
                    <a:lstStyle/>
                    <a:p>
                      <a:pPr marL="0" indent="0">
                        <a:buNone/>
                      </a:pPr>
                      <a:r>
                        <a:rPr lang="en-US" sz="1300" b="1" dirty="0">
                          <a:solidFill>
                            <a:srgbClr val="1B2E1B"/>
                          </a:solidFill>
                          <a:latin typeface="Courier New" pitchFamily="34" charset="0"/>
                          <a:ea typeface="Courier New" pitchFamily="34" charset="-122"/>
                          <a:cs typeface="Courier New" pitchFamily="34" charset="-120"/>
                        </a:rPr>
                        <a:t>cp-ingest</a:t>
                      </a:r>
                      <a:endParaRPr lang="en-US" sz="1300" dirty="0">
                        <a:latin typeface="Courier New" charset="0"/>
                        <a:ea typeface="Courier New" charset="0"/>
                        <a:cs typeface="Courier New"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marL="0" indent="0">
                        <a:buNone/>
                      </a:pPr>
                      <a:r>
                        <a:rPr lang="en-US" sz="1300" dirty="0">
                          <a:solidFill>
                            <a:srgbClr val="2A7A4A"/>
                          </a:solidFill>
                          <a:latin typeface="Calibri" pitchFamily="34" charset="0"/>
                          <a:ea typeface="Calibri" pitchFamily="34" charset="-122"/>
                          <a:cs typeface="Calibri" pitchFamily="34" charset="-120"/>
                        </a:rPr>
                        <a:t>dynamodb:PutItem on one table</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marL="0" indent="0">
                        <a:buNone/>
                      </a:pPr>
                      <a:r>
                        <a:rPr lang="en-US" sz="1300" dirty="0">
                          <a:solidFill>
                            <a:srgbClr val="8A2A2A"/>
                          </a:solidFill>
                          <a:latin typeface="Calibri" pitchFamily="34" charset="0"/>
                          <a:ea typeface="Calibri" pitchFamily="34" charset="-122"/>
                          <a:cs typeface="Calibri" pitchFamily="34" charset="-120"/>
                        </a:rPr>
                        <a:t>read anything</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300" b="1" dirty="0">
                          <a:solidFill>
                            <a:srgbClr val="1B2E1B"/>
                          </a:solidFill>
                          <a:latin typeface="Courier New" pitchFamily="34" charset="0"/>
                          <a:ea typeface="Courier New" pitchFamily="34" charset="-122"/>
                          <a:cs typeface="Courier New" pitchFamily="34" charset="-120"/>
                        </a:rPr>
                        <a:t>cp-query</a:t>
                      </a:r>
                      <a:endParaRPr lang="en-US" sz="1300" dirty="0">
                        <a:latin typeface="Courier New" charset="0"/>
                        <a:ea typeface="Courier New" charset="0"/>
                        <a:cs typeface="Courier New"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marL="0" indent="0">
                        <a:buNone/>
                      </a:pPr>
                      <a:r>
                        <a:rPr lang="en-US" sz="1300" dirty="0">
                          <a:solidFill>
                            <a:srgbClr val="2A7A4A"/>
                          </a:solidFill>
                          <a:latin typeface="Calibri" pitchFamily="34" charset="0"/>
                          <a:ea typeface="Calibri" pitchFamily="34" charset="-122"/>
                          <a:cs typeface="Calibri" pitchFamily="34" charset="-120"/>
                        </a:rPr>
                        <a:t>dynamodb:Query</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marL="0" indent="0">
                        <a:buNone/>
                      </a:pPr>
                      <a:r>
                        <a:rPr lang="en-US" sz="1300" dirty="0">
                          <a:solidFill>
                            <a:srgbClr val="8A2A2A"/>
                          </a:solidFill>
                          <a:latin typeface="Calibri" pitchFamily="34" charset="0"/>
                          <a:ea typeface="Calibri" pitchFamily="34" charset="-122"/>
                          <a:cs typeface="Calibri" pitchFamily="34" charset="-120"/>
                        </a:rPr>
                        <a:t>write anything</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extLst>
                  <a:ext uri="{0D108BD9-81ED-4DB2-BD59-A6C34878D82A}">
                    <a16:rowId xmlns:a16="http://schemas.microsoft.com/office/drawing/2014/main" val="10002"/>
                  </a:ext>
                </a:extLst>
              </a:tr>
              <a:tr h="420624">
                <a:tc>
                  <a:txBody>
                    <a:bodyPr/>
                    <a:lstStyle/>
                    <a:p>
                      <a:pPr marL="0" indent="0">
                        <a:buNone/>
                      </a:pPr>
                      <a:r>
                        <a:rPr lang="en-US" sz="1300" b="1" dirty="0">
                          <a:solidFill>
                            <a:srgbClr val="1B2E1B"/>
                          </a:solidFill>
                          <a:latin typeface="Courier New" pitchFamily="34" charset="0"/>
                          <a:ea typeface="Courier New" pitchFamily="34" charset="-122"/>
                          <a:cs typeface="Courier New" pitchFamily="34" charset="-120"/>
                        </a:rPr>
                        <a:t>cp-stats</a:t>
                      </a:r>
                      <a:endParaRPr lang="en-US" sz="1300" dirty="0">
                        <a:latin typeface="Courier New" charset="0"/>
                        <a:ea typeface="Courier New" charset="0"/>
                        <a:cs typeface="Courier New"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marL="0" indent="0">
                        <a:buNone/>
                      </a:pPr>
                      <a:r>
                        <a:rPr lang="en-US" sz="1300" dirty="0">
                          <a:solidFill>
                            <a:srgbClr val="2A7A4A"/>
                          </a:solidFill>
                          <a:latin typeface="Calibri" pitchFamily="34" charset="0"/>
                          <a:ea typeface="Calibri" pitchFamily="34" charset="-122"/>
                          <a:cs typeface="Calibri" pitchFamily="34" charset="-120"/>
                        </a:rPr>
                        <a:t>dynamodb:Query</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marL="0" indent="0">
                        <a:buNone/>
                      </a:pPr>
                      <a:r>
                        <a:rPr lang="en-US" sz="1300" dirty="0">
                          <a:solidFill>
                            <a:srgbClr val="8A2A2A"/>
                          </a:solidFill>
                          <a:latin typeface="Calibri" pitchFamily="34" charset="0"/>
                          <a:ea typeface="Calibri" pitchFamily="34" charset="-122"/>
                          <a:cs typeface="Calibri" pitchFamily="34" charset="-120"/>
                        </a:rPr>
                        <a:t>write anything</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300" b="1" dirty="0">
                          <a:solidFill>
                            <a:srgbClr val="1B2E1B"/>
                          </a:solidFill>
                          <a:latin typeface="Courier New" pitchFamily="34" charset="0"/>
                          <a:ea typeface="Courier New" pitchFamily="34" charset="-122"/>
                          <a:cs typeface="Courier New" pitchFamily="34" charset="-120"/>
                        </a:rPr>
                        <a:t>cp-auth</a:t>
                      </a:r>
                      <a:endParaRPr lang="en-US" sz="1300" dirty="0">
                        <a:latin typeface="Courier New" charset="0"/>
                        <a:ea typeface="Courier New" charset="0"/>
                        <a:cs typeface="Courier New"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marL="0" indent="0">
                        <a:buNone/>
                      </a:pPr>
                      <a:r>
                        <a:rPr lang="en-US" sz="1300" dirty="0">
                          <a:solidFill>
                            <a:srgbClr val="2A7A4A"/>
                          </a:solidFill>
                          <a:latin typeface="Calibri" pitchFamily="34" charset="0"/>
                          <a:ea typeface="Calibri" pitchFamily="34" charset="-122"/>
                          <a:cs typeface="Calibri" pitchFamily="34" charset="-120"/>
                        </a:rPr>
                        <a:t>cognito-idp:InitiateAuth</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marL="0" indent="0">
                        <a:buNone/>
                      </a:pPr>
                      <a:r>
                        <a:rPr lang="en-US" sz="1300" dirty="0">
                          <a:solidFill>
                            <a:srgbClr val="8A2A2A"/>
                          </a:solidFill>
                          <a:latin typeface="Calibri" pitchFamily="34" charset="0"/>
                          <a:ea typeface="Calibri" pitchFamily="34" charset="-122"/>
                          <a:cs typeface="Calibri" pitchFamily="34" charset="-120"/>
                        </a:rPr>
                        <a:t>touch the database</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extLst>
                  <a:ext uri="{0D108BD9-81ED-4DB2-BD59-A6C34878D82A}">
                    <a16:rowId xmlns:a16="http://schemas.microsoft.com/office/drawing/2014/main" val="10004"/>
                  </a:ext>
                </a:extLst>
              </a:tr>
              <a:tr h="420624">
                <a:tc>
                  <a:txBody>
                    <a:bodyPr/>
                    <a:lstStyle/>
                    <a:p>
                      <a:pPr marL="0" indent="0">
                        <a:buNone/>
                      </a:pPr>
                      <a:r>
                        <a:rPr lang="en-US" sz="1300" b="1" dirty="0">
                          <a:solidFill>
                            <a:srgbClr val="1B2E1B"/>
                          </a:solidFill>
                          <a:latin typeface="Courier New" pitchFamily="34" charset="0"/>
                          <a:ea typeface="Courier New" pitchFamily="34" charset="-122"/>
                          <a:cs typeface="Courier New" pitchFamily="34" charset="-120"/>
                        </a:rPr>
                        <a:t>cp-health</a:t>
                      </a:r>
                      <a:endParaRPr lang="en-US" sz="1300" dirty="0">
                        <a:latin typeface="Courier New" charset="0"/>
                        <a:ea typeface="Courier New" charset="0"/>
                        <a:cs typeface="Courier New"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marL="0" indent="0">
                        <a:buNone/>
                      </a:pPr>
                      <a:r>
                        <a:rPr lang="en-US" sz="1300" dirty="0">
                          <a:solidFill>
                            <a:srgbClr val="2A7A4A"/>
                          </a:solidFill>
                          <a:latin typeface="Calibri" pitchFamily="34" charset="0"/>
                          <a:ea typeface="Calibri" pitchFamily="34" charset="-122"/>
                          <a:cs typeface="Calibri" pitchFamily="34" charset="-120"/>
                        </a:rPr>
                        <a:t>write its own logs</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marL="0" indent="0">
                        <a:buNone/>
                      </a:pPr>
                      <a:r>
                        <a:rPr lang="en-US" sz="1300" dirty="0">
                          <a:solidFill>
                            <a:srgbClr val="8A2A2A"/>
                          </a:solidFill>
                          <a:latin typeface="Calibri" pitchFamily="34" charset="0"/>
                          <a:ea typeface="Calibri" pitchFamily="34" charset="-122"/>
                          <a:cs typeface="Calibri" pitchFamily="34" charset="-120"/>
                        </a:rPr>
                        <a:t>anything else</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5"/>
          <p:cNvSpPr/>
          <p:nvPr/>
        </p:nvSpPr>
        <p:spPr>
          <a:xfrm>
            <a:off x="548640" y="3977640"/>
            <a:ext cx="384048" cy="384048"/>
          </a:xfrm>
          <a:prstGeom prst="ellipse">
            <a:avLst/>
          </a:prstGeom>
          <a:solidFill>
            <a:srgbClr val="EFE8F7"/>
          </a:solidFill>
          <a:ln w="12700">
            <a:solidFill>
              <a:srgbClr val="EFE8F7"/>
            </a:solidFill>
            <a:prstDash val="solid"/>
          </a:ln>
        </p:spPr>
      </p:sp>
      <p:pic>
        <p:nvPicPr>
          <p:cNvPr id="9" name="Image 0" descr="preencoded.png"/>
          <p:cNvPicPr>
            <a:picLocks noChangeAspect="1"/>
          </p:cNvPicPr>
          <p:nvPr/>
        </p:nvPicPr>
        <p:blipFill>
          <a:blip r:embed="rId3"/>
          <a:stretch>
            <a:fillRect/>
          </a:stretch>
        </p:blipFill>
        <p:spPr>
          <a:xfrm>
            <a:off x="633131" y="4062131"/>
            <a:ext cx="215067" cy="215067"/>
          </a:xfrm>
          <a:prstGeom prst="rect">
            <a:avLst/>
          </a:prstGeom>
        </p:spPr>
      </p:pic>
      <p:sp>
        <p:nvSpPr>
          <p:cNvPr id="10" name="Text 6"/>
          <p:cNvSpPr txBox="1"/>
          <p:nvPr/>
        </p:nvSpPr>
        <p:spPr>
          <a:xfrm>
            <a:off x="1097280" y="3941064"/>
            <a:ext cx="5212080" cy="457200"/>
          </a:xfrm>
          <a:prstGeom prst="rect">
            <a:avLst/>
          </a:prstGeom>
          <a:noFill/>
          <a:ln/>
        </p:spPr>
        <p:txBody>
          <a:bodyPr wrap="square" lIns="0" tIns="0" rIns="0" bIns="0" rtlCol="0" anchor="ctr"/>
          <a:lstStyle/>
          <a:p>
            <a:pPr marL="0" indent="0">
              <a:buNone/>
            </a:pPr>
            <a:r>
              <a:rPr lang="en-US" sz="1300" dirty="0">
                <a:solidFill>
                  <a:srgbClr val="1B2E1B"/>
                </a:solidFill>
                <a:latin typeface="Calibri" pitchFamily="34" charset="0"/>
                <a:ea typeface="Calibri" pitchFamily="34" charset="-122"/>
                <a:cs typeface="Calibri" pitchFamily="34" charset="-120"/>
              </a:rPr>
              <a:t>Every AWS call in the code matched against every permission granted: exact match, no extras</a:t>
            </a:r>
            <a:endParaRPr lang="en-US" sz="1300" dirty="0"/>
          </a:p>
        </p:txBody>
      </p:sp>
      <p:sp>
        <p:nvSpPr>
          <p:cNvPr id="11" name="Shape 7"/>
          <p:cNvSpPr/>
          <p:nvPr/>
        </p:nvSpPr>
        <p:spPr>
          <a:xfrm>
            <a:off x="548640" y="4526280"/>
            <a:ext cx="384048" cy="384048"/>
          </a:xfrm>
          <a:prstGeom prst="ellipse">
            <a:avLst/>
          </a:prstGeom>
          <a:solidFill>
            <a:srgbClr val="EFE8F7"/>
          </a:solidFill>
          <a:ln w="12700">
            <a:solidFill>
              <a:srgbClr val="EFE8F7"/>
            </a:solidFill>
            <a:prstDash val="solid"/>
          </a:ln>
        </p:spPr>
      </p:sp>
      <p:pic>
        <p:nvPicPr>
          <p:cNvPr id="12" name="Image 1" descr="preencoded.png"/>
          <p:cNvPicPr>
            <a:picLocks noChangeAspect="1"/>
          </p:cNvPicPr>
          <p:nvPr/>
        </p:nvPicPr>
        <p:blipFill>
          <a:blip r:embed="rId4"/>
          <a:stretch>
            <a:fillRect/>
          </a:stretch>
        </p:blipFill>
        <p:spPr>
          <a:xfrm>
            <a:off x="633131" y="4610771"/>
            <a:ext cx="215067" cy="215067"/>
          </a:xfrm>
          <a:prstGeom prst="rect">
            <a:avLst/>
          </a:prstGeom>
        </p:spPr>
      </p:pic>
      <p:sp>
        <p:nvSpPr>
          <p:cNvPr id="13" name="Text 8"/>
          <p:cNvSpPr txBox="1"/>
          <p:nvPr/>
        </p:nvSpPr>
        <p:spPr>
          <a:xfrm>
            <a:off x="1097280" y="4489704"/>
            <a:ext cx="5212080" cy="457200"/>
          </a:xfrm>
          <a:prstGeom prst="rect">
            <a:avLst/>
          </a:prstGeom>
          <a:noFill/>
          <a:ln/>
        </p:spPr>
        <p:txBody>
          <a:bodyPr wrap="square" lIns="0" tIns="0" rIns="0" bIns="0" rtlCol="0" anchor="ctr"/>
          <a:lstStyle/>
          <a:p>
            <a:pPr marL="0" indent="0">
              <a:buNone/>
            </a:pPr>
            <a:r>
              <a:rPr lang="en-US" sz="1300" dirty="0">
                <a:solidFill>
                  <a:srgbClr val="1B2E1B"/>
                </a:solidFill>
                <a:latin typeface="Calibri" pitchFamily="34" charset="0"/>
                <a:ea typeface="Calibri" pitchFamily="34" charset="-122"/>
                <a:cs typeface="Calibri" pitchFamily="34" charset="-120"/>
              </a:rPr>
              <a:t>dynamodb:Scan is granted to nobody, so an accidental full-table read fails loudly</a:t>
            </a:r>
            <a:endParaRPr lang="en-US" sz="1300" dirty="0"/>
          </a:p>
        </p:txBody>
      </p:sp>
      <p:sp>
        <p:nvSpPr>
          <p:cNvPr id="14" name="Shape 9"/>
          <p:cNvSpPr/>
          <p:nvPr/>
        </p:nvSpPr>
        <p:spPr>
          <a:xfrm>
            <a:off x="548640" y="5074920"/>
            <a:ext cx="384048" cy="384048"/>
          </a:xfrm>
          <a:prstGeom prst="ellipse">
            <a:avLst/>
          </a:prstGeom>
          <a:solidFill>
            <a:srgbClr val="EFE8F7"/>
          </a:solidFill>
          <a:ln w="12700">
            <a:solidFill>
              <a:srgbClr val="EFE8F7"/>
            </a:solidFill>
            <a:prstDash val="solid"/>
          </a:ln>
        </p:spPr>
      </p:sp>
      <p:pic>
        <p:nvPicPr>
          <p:cNvPr id="15" name="Image 2" descr="preencoded.png"/>
          <p:cNvPicPr>
            <a:picLocks noChangeAspect="1"/>
          </p:cNvPicPr>
          <p:nvPr/>
        </p:nvPicPr>
        <p:blipFill>
          <a:blip r:embed="rId5"/>
          <a:stretch>
            <a:fillRect/>
          </a:stretch>
        </p:blipFill>
        <p:spPr>
          <a:xfrm>
            <a:off x="633131" y="5159411"/>
            <a:ext cx="215067" cy="215067"/>
          </a:xfrm>
          <a:prstGeom prst="rect">
            <a:avLst/>
          </a:prstGeom>
        </p:spPr>
      </p:pic>
      <p:sp>
        <p:nvSpPr>
          <p:cNvPr id="16" name="Text 10"/>
          <p:cNvSpPr txBox="1"/>
          <p:nvPr/>
        </p:nvSpPr>
        <p:spPr>
          <a:xfrm>
            <a:off x="1097280" y="5038344"/>
            <a:ext cx="5212080" cy="457200"/>
          </a:xfrm>
          <a:prstGeom prst="rect">
            <a:avLst/>
          </a:prstGeom>
          <a:noFill/>
          <a:ln/>
        </p:spPr>
        <p:txBody>
          <a:bodyPr wrap="square" lIns="0" tIns="0" rIns="0" bIns="0" rtlCol="0" anchor="ctr"/>
          <a:lstStyle/>
          <a:p>
            <a:pPr marL="0" indent="0">
              <a:buNone/>
            </a:pPr>
            <a:r>
              <a:rPr lang="en-US" sz="1300" dirty="0">
                <a:solidFill>
                  <a:srgbClr val="1B2E1B"/>
                </a:solidFill>
                <a:latin typeface="Calibri" pitchFamily="34" charset="0"/>
                <a:ea typeface="Calibri" pitchFamily="34" charset="-122"/>
                <a:cs typeface="Calibri" pitchFamily="34" charset="-120"/>
              </a:rPr>
              <a:t>No AWS keys anywhere in the code; functions get temporary credentials from their role</a:t>
            </a:r>
            <a:endParaRPr lang="en-US" sz="1300" dirty="0"/>
          </a:p>
        </p:txBody>
      </p:sp>
      <p:sp>
        <p:nvSpPr>
          <p:cNvPr id="17" name="Shape 11"/>
          <p:cNvSpPr/>
          <p:nvPr/>
        </p:nvSpPr>
        <p:spPr>
          <a:xfrm>
            <a:off x="548640" y="5623560"/>
            <a:ext cx="384048" cy="384048"/>
          </a:xfrm>
          <a:prstGeom prst="ellipse">
            <a:avLst/>
          </a:prstGeom>
          <a:solidFill>
            <a:srgbClr val="EFE8F7"/>
          </a:solidFill>
          <a:ln w="12700">
            <a:solidFill>
              <a:srgbClr val="EFE8F7"/>
            </a:solidFill>
            <a:prstDash val="solid"/>
          </a:ln>
        </p:spPr>
      </p:sp>
      <p:pic>
        <p:nvPicPr>
          <p:cNvPr id="18" name="Image 3" descr="preencoded.png"/>
          <p:cNvPicPr>
            <a:picLocks noChangeAspect="1"/>
          </p:cNvPicPr>
          <p:nvPr/>
        </p:nvPicPr>
        <p:blipFill>
          <a:blip r:embed="rId6"/>
          <a:stretch>
            <a:fillRect/>
          </a:stretch>
        </p:blipFill>
        <p:spPr>
          <a:xfrm>
            <a:off x="633131" y="5708051"/>
            <a:ext cx="215067" cy="215067"/>
          </a:xfrm>
          <a:prstGeom prst="rect">
            <a:avLst/>
          </a:prstGeom>
        </p:spPr>
      </p:pic>
      <p:sp>
        <p:nvSpPr>
          <p:cNvPr id="19" name="Text 12"/>
          <p:cNvSpPr txBox="1"/>
          <p:nvPr/>
        </p:nvSpPr>
        <p:spPr>
          <a:xfrm>
            <a:off x="1097280" y="5586984"/>
            <a:ext cx="5212080" cy="457200"/>
          </a:xfrm>
          <a:prstGeom prst="rect">
            <a:avLst/>
          </a:prstGeom>
          <a:noFill/>
          <a:ln/>
        </p:spPr>
        <p:txBody>
          <a:bodyPr wrap="square" lIns="0" tIns="0" rIns="0" bIns="0" rtlCol="0" anchor="ctr"/>
          <a:lstStyle/>
          <a:p>
            <a:pPr marL="0" indent="0">
              <a:buNone/>
            </a:pPr>
            <a:r>
              <a:rPr lang="en-US" sz="1300" dirty="0">
                <a:solidFill>
                  <a:srgbClr val="1B2E1B"/>
                </a:solidFill>
                <a:latin typeface="Calibri" pitchFamily="34" charset="0"/>
                <a:ea typeface="Calibri" pitchFamily="34" charset="-122"/>
                <a:cs typeface="Calibri" pitchFamily="34" charset="-120"/>
              </a:rPr>
              <a:t>Threat model: 7 threats, each with controls marked implemented or configured</a:t>
            </a:r>
            <a:endParaRPr lang="en-US" sz="1300" dirty="0"/>
          </a:p>
        </p:txBody>
      </p:sp>
      <p:sp>
        <p:nvSpPr>
          <p:cNvPr id="20" name="Text 13"/>
          <p:cNvSpPr txBox="1"/>
          <p:nvPr/>
        </p:nvSpPr>
        <p:spPr>
          <a:xfrm>
            <a:off x="6583680" y="1234440"/>
            <a:ext cx="5029200" cy="292608"/>
          </a:xfrm>
          <a:prstGeom prst="rect">
            <a:avLst/>
          </a:prstGeom>
          <a:noFill/>
          <a:ln/>
        </p:spPr>
        <p:txBody>
          <a:bodyPr wrap="square" lIns="0" tIns="0" rIns="0" bIns="0" rtlCol="0" anchor="ctr"/>
          <a:lstStyle/>
          <a:p>
            <a:pPr marL="0" indent="0">
              <a:buNone/>
            </a:pPr>
            <a:r>
              <a:rPr lang="en-US" sz="1500" b="1" dirty="0">
                <a:solidFill>
                  <a:srgbClr val="1B2E1B"/>
                </a:solidFill>
                <a:latin typeface="Calibri" pitchFamily="34" charset="0"/>
                <a:ea typeface="Calibri" pitchFamily="34" charset="-122"/>
                <a:cs typeface="Calibri" pitchFamily="34" charset="-120"/>
              </a:rPr>
              <a:t>Proof: IAM policy simulator on the cp-ingest role</a:t>
            </a:r>
            <a:endParaRPr lang="en-US" sz="1500" dirty="0"/>
          </a:p>
        </p:txBody>
      </p:sp>
      <p:sp>
        <p:nvSpPr>
          <p:cNvPr id="21" name="Shape 14"/>
          <p:cNvSpPr/>
          <p:nvPr/>
        </p:nvSpPr>
        <p:spPr>
          <a:xfrm>
            <a:off x="6547104" y="1609344"/>
            <a:ext cx="5102352" cy="1503331"/>
          </a:xfrm>
          <a:prstGeom prst="rect">
            <a:avLst/>
          </a:prstGeom>
          <a:solidFill>
            <a:srgbClr val="FFFFFF"/>
          </a:solidFill>
          <a:ln w="9525">
            <a:solidFill>
              <a:srgbClr val="C8D5C8"/>
            </a:solidFill>
            <a:prstDash val="solid"/>
          </a:ln>
        </p:spPr>
      </p:sp>
      <p:pic>
        <p:nvPicPr>
          <p:cNvPr id="22" name="Image 4" descr="preencoded.png"/>
          <p:cNvPicPr>
            <a:picLocks noChangeAspect="1"/>
          </p:cNvPicPr>
          <p:nvPr/>
        </p:nvPicPr>
        <p:blipFill>
          <a:blip r:embed="rId7"/>
          <a:stretch>
            <a:fillRect/>
          </a:stretch>
        </p:blipFill>
        <p:spPr>
          <a:xfrm>
            <a:off x="6583680" y="1645920"/>
            <a:ext cx="5029200" cy="1430179"/>
          </a:xfrm>
          <a:prstGeom prst="rect">
            <a:avLst/>
          </a:prstGeom>
        </p:spPr>
      </p:pic>
      <p:sp>
        <p:nvSpPr>
          <p:cNvPr id="23" name="Text 15"/>
          <p:cNvSpPr txBox="1"/>
          <p:nvPr/>
        </p:nvSpPr>
        <p:spPr>
          <a:xfrm>
            <a:off x="6583680" y="3149251"/>
            <a:ext cx="5029200" cy="219456"/>
          </a:xfrm>
          <a:prstGeom prst="rect">
            <a:avLst/>
          </a:prstGeom>
          <a:noFill/>
          <a:ln/>
        </p:spPr>
        <p:txBody>
          <a:bodyPr wrap="square" lIns="0" tIns="0" rIns="0" bIns="0" rtlCol="0" anchor="ctr"/>
          <a:lstStyle/>
          <a:p>
            <a:pPr marL="0" indent="0">
              <a:buNone/>
            </a:pPr>
            <a:r>
              <a:rPr lang="en-US" sz="1000" i="1" dirty="0">
                <a:solidFill>
                  <a:srgbClr val="5E6E5E"/>
                </a:solidFill>
                <a:latin typeface="Calibri" pitchFamily="34" charset="0"/>
                <a:ea typeface="Calibri" pitchFamily="34" charset="-122"/>
                <a:cs typeface="Calibri" pitchFamily="34" charset="-120"/>
              </a:rPr>
              <a:t>aws iam simulate-principal-policy: PutItem allowed; S3 writes and log-group creation denied</a:t>
            </a:r>
            <a:endParaRPr lang="en-US" sz="1000" dirty="0"/>
          </a:p>
        </p:txBody>
      </p:sp>
      <p:sp>
        <p:nvSpPr>
          <p:cNvPr id="24" name="Shape 16"/>
          <p:cNvSpPr/>
          <p:nvPr/>
        </p:nvSpPr>
        <p:spPr>
          <a:xfrm>
            <a:off x="6583680" y="3611880"/>
            <a:ext cx="5029200" cy="1600200"/>
          </a:xfrm>
          <a:prstGeom prst="roundRect">
            <a:avLst>
              <a:gd name="adj" fmla="val 4571"/>
            </a:avLst>
          </a:prstGeom>
          <a:solidFill>
            <a:srgbClr val="EFE8F7"/>
          </a:solidFill>
          <a:ln w="12700">
            <a:solidFill>
              <a:srgbClr val="EFE8F7"/>
            </a:solidFill>
            <a:prstDash val="solid"/>
          </a:ln>
        </p:spPr>
      </p:sp>
      <p:sp>
        <p:nvSpPr>
          <p:cNvPr id="25" name="Text 17"/>
          <p:cNvSpPr txBox="1"/>
          <p:nvPr/>
        </p:nvSpPr>
        <p:spPr>
          <a:xfrm>
            <a:off x="6812280" y="3749040"/>
            <a:ext cx="4572000" cy="320040"/>
          </a:xfrm>
          <a:prstGeom prst="rect">
            <a:avLst/>
          </a:prstGeom>
          <a:noFill/>
          <a:ln/>
        </p:spPr>
        <p:txBody>
          <a:bodyPr wrap="square" lIns="0" tIns="0" rIns="0" bIns="0" rtlCol="0" anchor="ctr"/>
          <a:lstStyle/>
          <a:p>
            <a:pPr marL="0" indent="0">
              <a:buNone/>
            </a:pPr>
            <a:r>
              <a:rPr lang="en-US" sz="1500" b="1" dirty="0">
                <a:solidFill>
                  <a:srgbClr val="6A4898"/>
                </a:solidFill>
                <a:latin typeface="Calibri" pitchFamily="34" charset="0"/>
                <a:ea typeface="Calibri" pitchFamily="34" charset="-122"/>
                <a:cs typeface="Calibri" pitchFamily="34" charset="-120"/>
              </a:rPr>
              <a:t>Why five small functions?</a:t>
            </a:r>
            <a:endParaRPr lang="en-US" sz="1500" dirty="0"/>
          </a:p>
        </p:txBody>
      </p:sp>
      <p:sp>
        <p:nvSpPr>
          <p:cNvPr id="26" name="Text 18"/>
          <p:cNvSpPr txBox="1"/>
          <p:nvPr/>
        </p:nvSpPr>
        <p:spPr>
          <a:xfrm>
            <a:off x="6812280" y="4114800"/>
            <a:ext cx="4572000" cy="1554480"/>
          </a:xfrm>
          <a:prstGeom prst="rect">
            <a:avLst/>
          </a:prstGeom>
          <a:noFill/>
          <a:ln/>
        </p:spPr>
        <p:txBody>
          <a:bodyPr wrap="square" lIns="0" tIns="0" rIns="0" bIns="0" rtlCol="0" anchor="t"/>
          <a:lstStyle/>
          <a:p>
            <a:pPr marL="0" indent="0">
              <a:buNone/>
            </a:pPr>
            <a:r>
              <a:rPr lang="en-US" sz="1400" dirty="0">
                <a:solidFill>
                  <a:srgbClr val="1B2E1B"/>
                </a:solidFill>
                <a:latin typeface="Calibri" pitchFamily="34" charset="0"/>
                <a:ea typeface="Calibri" pitchFamily="34" charset="-122"/>
                <a:cs typeface="Calibri" pitchFamily="34" charset="-120"/>
              </a:rPr>
              <a:t>cp-ingest faces the internet. If someone found a flaw in it, the worst they could do is add junk events. They could not read a single student request, delete data or reach another service.</a:t>
            </a:r>
            <a:endParaRPr lang="en-US" sz="1400" dirty="0"/>
          </a:p>
        </p:txBody>
      </p:sp>
      <p:sp>
        <p:nvSpPr>
          <p:cNvPr id="27"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E6E5E"/>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595360" cy="685800"/>
          </a:xfrm>
          <a:prstGeom prst="rect">
            <a:avLst/>
          </a:prstGeom>
          <a:noFill/>
          <a:ln/>
        </p:spPr>
        <p:txBody>
          <a:bodyPr wrap="square" lIns="0" tIns="0" rIns="0" bIns="0" rtlCol="0" anchor="ctr"/>
          <a:lstStyle/>
          <a:p>
            <a:pPr marL="0" indent="0" algn="l">
              <a:buNone/>
            </a:pPr>
            <a:r>
              <a:rPr lang="en-US" sz="3200" b="1" dirty="0">
                <a:solidFill>
                  <a:srgbClr val="2A7A4A"/>
                </a:solidFill>
                <a:latin typeface="Cambria" pitchFamily="34" charset="0"/>
                <a:ea typeface="Cambria" pitchFamily="34" charset="-122"/>
                <a:cs typeface="Cambria" pitchFamily="34" charset="-120"/>
              </a:rPr>
              <a:t>The campus simulator</a:t>
            </a:r>
            <a:endParaRPr lang="en-US" sz="3200" dirty="0"/>
          </a:p>
        </p:txBody>
      </p:sp>
      <p:sp>
        <p:nvSpPr>
          <p:cNvPr id="3" name="Shape 1"/>
          <p:cNvSpPr/>
          <p:nvPr/>
        </p:nvSpPr>
        <p:spPr>
          <a:xfrm>
            <a:off x="9281160" y="429768"/>
            <a:ext cx="2377440" cy="457200"/>
          </a:xfrm>
          <a:prstGeom prst="roundRect">
            <a:avLst>
              <a:gd name="adj" fmla="val 50000"/>
            </a:avLst>
          </a:prstGeom>
          <a:solidFill>
            <a:srgbClr val="FFFFFF"/>
          </a:solidFill>
          <a:ln w="15875">
            <a:solidFill>
              <a:srgbClr val="3A6888"/>
            </a:solidFill>
            <a:prstDash val="solid"/>
          </a:ln>
        </p:spPr>
      </p:sp>
      <p:sp>
        <p:nvSpPr>
          <p:cNvPr id="4" name="Shape 2"/>
          <p:cNvSpPr/>
          <p:nvPr/>
        </p:nvSpPr>
        <p:spPr>
          <a:xfrm>
            <a:off x="9326880" y="475488"/>
            <a:ext cx="365760" cy="365760"/>
          </a:xfrm>
          <a:prstGeom prst="ellipse">
            <a:avLst/>
          </a:prstGeom>
          <a:solidFill>
            <a:srgbClr val="3A6888"/>
          </a:solidFill>
          <a:ln w="12700">
            <a:solidFill>
              <a:srgbClr val="3A6888"/>
            </a:solidFill>
            <a:prstDash val="solid"/>
          </a:ln>
        </p:spPr>
      </p:sp>
      <p:sp>
        <p:nvSpPr>
          <p:cNvPr id="5" name="Text 3"/>
          <p:cNvSpPr txBox="1"/>
          <p:nvPr/>
        </p:nvSpPr>
        <p:spPr>
          <a:xfrm>
            <a:off x="9326880" y="475488"/>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MA</a:t>
            </a:r>
            <a:endParaRPr lang="en-US" sz="1000" dirty="0"/>
          </a:p>
        </p:txBody>
      </p:sp>
      <p:sp>
        <p:nvSpPr>
          <p:cNvPr id="6" name="Text 4"/>
          <p:cNvSpPr txBox="1"/>
          <p:nvPr/>
        </p:nvSpPr>
        <p:spPr>
          <a:xfrm>
            <a:off x="9784080" y="457200"/>
            <a:ext cx="1828800" cy="402336"/>
          </a:xfrm>
          <a:prstGeom prst="rect">
            <a:avLst/>
          </a:prstGeom>
          <a:noFill/>
          <a:ln/>
        </p:spPr>
        <p:txBody>
          <a:bodyPr wrap="square" lIns="0" tIns="0" rIns="0" bIns="0" rtlCol="0" anchor="ctr"/>
          <a:lstStyle/>
          <a:p>
            <a:pPr marL="0" indent="0">
              <a:buNone/>
            </a:pPr>
            <a:r>
              <a:rPr lang="en-US" sz="1200" b="1" dirty="0" err="1" smtClean="0">
                <a:solidFill>
                  <a:srgbClr val="3A6888"/>
                </a:solidFill>
                <a:latin typeface="Calibri" pitchFamily="34" charset="0"/>
                <a:ea typeface="Calibri" pitchFamily="34" charset="-122"/>
                <a:cs typeface="Calibri" pitchFamily="34" charset="-120"/>
              </a:rPr>
              <a:t>Madhavan</a:t>
            </a:r>
            <a:endParaRPr lang="en-US" sz="1200" dirty="0"/>
          </a:p>
        </p:txBody>
      </p:sp>
      <p:sp>
        <p:nvSpPr>
          <p:cNvPr id="7" name="Shape 5"/>
          <p:cNvSpPr/>
          <p:nvPr/>
        </p:nvSpPr>
        <p:spPr>
          <a:xfrm>
            <a:off x="548640" y="1234440"/>
            <a:ext cx="5486400" cy="2788920"/>
          </a:xfrm>
          <a:prstGeom prst="roundRect">
            <a:avLst>
              <a:gd name="adj" fmla="val 2623"/>
            </a:avLst>
          </a:prstGeom>
          <a:solidFill>
            <a:srgbClr val="FFFFFF"/>
          </a:solidFill>
          <a:ln w="12700">
            <a:solidFill>
              <a:srgbClr val="C8D5C8"/>
            </a:solidFill>
            <a:prstDash val="solid"/>
          </a:ln>
        </p:spPr>
      </p:sp>
      <p:sp>
        <p:nvSpPr>
          <p:cNvPr id="8" name="Text 6"/>
          <p:cNvSpPr txBox="1"/>
          <p:nvPr/>
        </p:nvSpPr>
        <p:spPr>
          <a:xfrm>
            <a:off x="777240" y="1371600"/>
            <a:ext cx="5029200" cy="320040"/>
          </a:xfrm>
          <a:prstGeom prst="rect">
            <a:avLst/>
          </a:prstGeom>
          <a:noFill/>
          <a:ln/>
        </p:spPr>
        <p:txBody>
          <a:bodyPr wrap="square" lIns="0" tIns="0" rIns="0" bIns="0" rtlCol="0" anchor="ctr"/>
          <a:lstStyle/>
          <a:p>
            <a:pPr marL="0" indent="0">
              <a:buNone/>
            </a:pPr>
            <a:r>
              <a:rPr lang="en-US" sz="1600" b="1" dirty="0">
                <a:solidFill>
                  <a:srgbClr val="3A6888"/>
                </a:solidFill>
                <a:latin typeface="Calibri" pitchFamily="34" charset="0"/>
                <a:ea typeface="Calibri" pitchFamily="34" charset="-122"/>
                <a:cs typeface="Calibri" pitchFamily="34" charset="-120"/>
              </a:rPr>
              <a:t>What it does</a:t>
            </a:r>
            <a:endParaRPr lang="en-US" sz="1600" dirty="0"/>
          </a:p>
        </p:txBody>
      </p:sp>
      <p:sp>
        <p:nvSpPr>
          <p:cNvPr id="9" name="Text 7"/>
          <p:cNvSpPr txBox="1"/>
          <p:nvPr/>
        </p:nvSpPr>
        <p:spPr>
          <a:xfrm>
            <a:off x="777240" y="1755648"/>
            <a:ext cx="5120640" cy="21488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3E4E3E"/>
                </a:solidFill>
                <a:latin typeface="Calibri" pitchFamily="34" charset="0"/>
                <a:ea typeface="Calibri" pitchFamily="34" charset="-122"/>
                <a:cs typeface="Calibri" pitchFamily="34" charset="-120"/>
              </a:rPr>
              <a:t>Plays the role of the campus IoT sensors</a:t>
            </a:r>
            <a:endParaRPr lang="en-US" sz="1400" dirty="0"/>
          </a:p>
          <a:p>
            <a:pPr marL="342900" indent="-342900">
              <a:spcAft>
                <a:spcPts val="500"/>
              </a:spcAft>
              <a:buSzPct val="100000"/>
              <a:buChar char="•"/>
            </a:pPr>
            <a:r>
              <a:rPr lang="en-US" sz="1400" dirty="0">
                <a:solidFill>
                  <a:srgbClr val="3E4E3E"/>
                </a:solidFill>
                <a:latin typeface="Calibri" pitchFamily="34" charset="0"/>
                <a:ea typeface="Calibri" pitchFamily="34" charset="-122"/>
                <a:cs typeface="Calibri" pitchFamily="34" charset="-120"/>
              </a:rPr>
              <a:t>Logs in through Cognito like any user and refreshes its token</a:t>
            </a:r>
            <a:endParaRPr lang="en-US" sz="1400" dirty="0"/>
          </a:p>
          <a:p>
            <a:pPr marL="342900" indent="-342900">
              <a:spcAft>
                <a:spcPts val="500"/>
              </a:spcAft>
              <a:buSzPct val="100000"/>
              <a:buChar char="•"/>
            </a:pPr>
            <a:r>
              <a:rPr lang="en-US" sz="1400" dirty="0">
                <a:solidFill>
                  <a:srgbClr val="3E4E3E"/>
                </a:solidFill>
                <a:latin typeface="Calibri" pitchFamily="34" charset="0"/>
                <a:ea typeface="Calibri" pitchFamily="34" charset="-122"/>
                <a:cs typeface="Calibri" pitchFamily="34" charset="-120"/>
              </a:rPr>
              <a:t>Sends realistic readings for 5 buildings and 11 rooms</a:t>
            </a:r>
            <a:endParaRPr lang="en-US" sz="1400" dirty="0"/>
          </a:p>
          <a:p>
            <a:pPr marL="342900" indent="-342900">
              <a:spcAft>
                <a:spcPts val="500"/>
              </a:spcAft>
              <a:buSzPct val="100000"/>
              <a:buChar char="•"/>
            </a:pPr>
            <a:r>
              <a:rPr lang="en-US" sz="1400" dirty="0">
                <a:solidFill>
                  <a:srgbClr val="3E4E3E"/>
                </a:solidFill>
                <a:latin typeface="Calibri" pitchFamily="34" charset="0"/>
                <a:ea typeface="Calibri" pitchFamily="34" charset="-122"/>
                <a:cs typeface="Calibri" pitchFamily="34" charset="-120"/>
              </a:rPr>
              <a:t>Mixes normal readings with a controllable rate of anomalies</a:t>
            </a:r>
            <a:endParaRPr lang="en-US" sz="1400" dirty="0"/>
          </a:p>
          <a:p>
            <a:pPr marL="342900" indent="-342900">
              <a:spcAft>
                <a:spcPts val="500"/>
              </a:spcAft>
              <a:buSzPct val="100000"/>
              <a:buChar char="•"/>
            </a:pPr>
            <a:r>
              <a:rPr lang="en-US" sz="1400" dirty="0">
                <a:solidFill>
                  <a:srgbClr val="3E4E3E"/>
                </a:solidFill>
                <a:latin typeface="Calibri" pitchFamily="34" charset="0"/>
                <a:ea typeface="Calibri" pitchFamily="34" charset="-122"/>
                <a:cs typeface="Calibri" pitchFamily="34" charset="-120"/>
              </a:rPr>
              <a:t>Python standard library only: nothing to install on demo day</a:t>
            </a:r>
            <a:endParaRPr lang="en-US" sz="1400" dirty="0"/>
          </a:p>
        </p:txBody>
      </p:sp>
      <p:sp>
        <p:nvSpPr>
          <p:cNvPr id="10" name="Shape 8"/>
          <p:cNvSpPr/>
          <p:nvPr/>
        </p:nvSpPr>
        <p:spPr>
          <a:xfrm>
            <a:off x="6309360" y="1234440"/>
            <a:ext cx="5303520" cy="2788920"/>
          </a:xfrm>
          <a:prstGeom prst="roundRect">
            <a:avLst>
              <a:gd name="adj" fmla="val 2623"/>
            </a:avLst>
          </a:prstGeom>
          <a:solidFill>
            <a:srgbClr val="1B2E1B"/>
          </a:solidFill>
          <a:ln w="12700">
            <a:solidFill>
              <a:srgbClr val="1B2E1B"/>
            </a:solidFill>
            <a:prstDash val="solid"/>
          </a:ln>
        </p:spPr>
      </p:sp>
      <p:sp>
        <p:nvSpPr>
          <p:cNvPr id="11" name="Text 9"/>
          <p:cNvSpPr txBox="1"/>
          <p:nvPr/>
        </p:nvSpPr>
        <p:spPr>
          <a:xfrm>
            <a:off x="6537960" y="1344168"/>
            <a:ext cx="2743200" cy="256032"/>
          </a:xfrm>
          <a:prstGeom prst="rect">
            <a:avLst/>
          </a:prstGeom>
          <a:noFill/>
          <a:ln/>
        </p:spPr>
        <p:txBody>
          <a:bodyPr wrap="square" lIns="0" tIns="0" rIns="0" bIns="0" rtlCol="0" anchor="ctr"/>
          <a:lstStyle/>
          <a:p>
            <a:pPr marL="0" indent="0">
              <a:buNone/>
            </a:pPr>
            <a:r>
              <a:rPr lang="en-US" sz="1100" b="1" dirty="0">
                <a:solidFill>
                  <a:srgbClr val="8FA88F"/>
                </a:solidFill>
                <a:latin typeface="Calibri" pitchFamily="34" charset="0"/>
                <a:ea typeface="Calibri" pitchFamily="34" charset="-122"/>
                <a:cs typeface="Calibri" pitchFamily="34" charset="-120"/>
              </a:rPr>
              <a:t>Terminal</a:t>
            </a:r>
            <a:endParaRPr lang="en-US" sz="1100" dirty="0"/>
          </a:p>
        </p:txBody>
      </p:sp>
      <p:sp>
        <p:nvSpPr>
          <p:cNvPr id="12" name="Text 10"/>
          <p:cNvSpPr txBox="1"/>
          <p:nvPr/>
        </p:nvSpPr>
        <p:spPr>
          <a:xfrm>
            <a:off x="6537960" y="1691640"/>
            <a:ext cx="4937760" cy="2194560"/>
          </a:xfrm>
          <a:prstGeom prst="rect">
            <a:avLst/>
          </a:prstGeom>
          <a:noFill/>
          <a:ln/>
        </p:spPr>
        <p:txBody>
          <a:bodyPr wrap="square" lIns="0" tIns="0" rIns="0" bIns="0" rtlCol="0" anchor="t"/>
          <a:lstStyle/>
          <a:p>
            <a:pPr marL="0" indent="0">
              <a:spcAft>
                <a:spcPts val="200"/>
              </a:spcAft>
              <a:buNone/>
            </a:pPr>
            <a:r>
              <a:rPr lang="en-US" sz="1300" dirty="0">
                <a:solidFill>
                  <a:srgbClr val="8FA88F"/>
                </a:solidFill>
                <a:latin typeface="Courier New" pitchFamily="34" charset="0"/>
                <a:ea typeface="Courier New" pitchFamily="34" charset="-122"/>
                <a:cs typeface="Courier New" pitchFamily="34" charset="-120"/>
              </a:rPr>
              <a:t># steady stream, 1 event every 5 s (default)</a:t>
            </a:r>
            <a:endParaRPr lang="en-US" sz="1300" dirty="0"/>
          </a:p>
          <a:p>
            <a:pPr marL="0" indent="0">
              <a:spcAft>
                <a:spcPts val="200"/>
              </a:spcAft>
              <a:buNone/>
            </a:pPr>
            <a:r>
              <a:rPr lang="en-US" sz="1300" dirty="0">
                <a:solidFill>
                  <a:srgbClr val="A8D5B8"/>
                </a:solidFill>
                <a:latin typeface="Courier New" pitchFamily="34" charset="0"/>
                <a:ea typeface="Courier New" pitchFamily="34" charset="-122"/>
                <a:cs typeface="Courier New" pitchFamily="34" charset="-120"/>
              </a:rPr>
              <a:t>python simulator.py --interval 5</a:t>
            </a:r>
            <a:endParaRPr lang="en-US" sz="1300" dirty="0"/>
          </a:p>
          <a:p>
            <a:pPr marL="0" indent="0">
              <a:spcAft>
                <a:spcPts val="200"/>
              </a:spcAft>
              <a:buNone/>
            </a:pPr>
            <a:r>
              <a:rPr lang="en-US" sz="1300" dirty="0">
                <a:solidFill>
                  <a:srgbClr val="1B2E1B"/>
                </a:solidFill>
                <a:latin typeface="Courier New" pitchFamily="34" charset="0"/>
                <a:ea typeface="Courier New" pitchFamily="34" charset="-122"/>
                <a:cs typeface="Courier New" pitchFamily="34" charset="-120"/>
              </a:rPr>
              <a:t> </a:t>
            </a:r>
            <a:endParaRPr lang="en-US" sz="1300" dirty="0"/>
          </a:p>
          <a:p>
            <a:pPr marL="0" indent="0">
              <a:spcAft>
                <a:spcPts val="200"/>
              </a:spcAft>
              <a:buNone/>
            </a:pPr>
            <a:r>
              <a:rPr lang="en-US" sz="1300" dirty="0">
                <a:solidFill>
                  <a:srgbClr val="8FA88F"/>
                </a:solidFill>
                <a:latin typeface="Courier New" pitchFamily="34" charset="0"/>
                <a:ea typeface="Courier New" pitchFamily="34" charset="-122"/>
                <a:cs typeface="Courier New" pitchFamily="34" charset="-120"/>
              </a:rPr>
              <a:t># guarantee a critical alert for the demo</a:t>
            </a:r>
            <a:endParaRPr lang="en-US" sz="1300" dirty="0"/>
          </a:p>
          <a:p>
            <a:pPr marL="0" indent="0">
              <a:spcAft>
                <a:spcPts val="200"/>
              </a:spcAft>
              <a:buNone/>
            </a:pPr>
            <a:r>
              <a:rPr lang="en-US" sz="1300" dirty="0">
                <a:solidFill>
                  <a:srgbClr val="A8D5B8"/>
                </a:solidFill>
                <a:latin typeface="Courier New" pitchFamily="34" charset="0"/>
                <a:ea typeface="Courier New" pitchFamily="34" charset="-122"/>
                <a:cs typeface="Courier New" pitchFamily="34" charset="-120"/>
              </a:rPr>
              <a:t>python simulator.py --force-alert -n 1</a:t>
            </a:r>
            <a:endParaRPr lang="en-US" sz="1300" dirty="0"/>
          </a:p>
          <a:p>
            <a:pPr marL="0" indent="0">
              <a:spcAft>
                <a:spcPts val="200"/>
              </a:spcAft>
              <a:buNone/>
            </a:pPr>
            <a:r>
              <a:rPr lang="en-US" sz="1300" dirty="0">
                <a:solidFill>
                  <a:srgbClr val="1B2E1B"/>
                </a:solidFill>
                <a:latin typeface="Courier New" pitchFamily="34" charset="0"/>
                <a:ea typeface="Courier New" pitchFamily="34" charset="-122"/>
                <a:cs typeface="Courier New" pitchFamily="34" charset="-120"/>
              </a:rPr>
              <a:t> </a:t>
            </a:r>
            <a:endParaRPr lang="en-US" sz="1300" dirty="0"/>
          </a:p>
          <a:p>
            <a:pPr marL="0" indent="0">
              <a:spcAft>
                <a:spcPts val="200"/>
              </a:spcAft>
              <a:buNone/>
            </a:pPr>
            <a:r>
              <a:rPr lang="en-US" sz="1300" dirty="0">
                <a:solidFill>
                  <a:srgbClr val="E8C08A"/>
                </a:solidFill>
                <a:latin typeface="Courier New" pitchFamily="34" charset="0"/>
                <a:ea typeface="Courier New" pitchFamily="34" charset="-122"/>
                <a:cs typeface="Courier New" pitchFamily="34" charset="-120"/>
              </a:rPr>
              <a:t># refuses --interval below 0.5 s (cost guard)</a:t>
            </a:r>
            <a:endParaRPr lang="en-US" sz="1300" dirty="0"/>
          </a:p>
        </p:txBody>
      </p:sp>
      <p:sp>
        <p:nvSpPr>
          <p:cNvPr id="13" name="Text 11"/>
          <p:cNvSpPr txBox="1"/>
          <p:nvPr/>
        </p:nvSpPr>
        <p:spPr>
          <a:xfrm>
            <a:off x="548640" y="4251960"/>
            <a:ext cx="5486400" cy="292608"/>
          </a:xfrm>
          <a:prstGeom prst="rect">
            <a:avLst/>
          </a:prstGeom>
          <a:noFill/>
          <a:ln/>
        </p:spPr>
        <p:txBody>
          <a:bodyPr wrap="square" lIns="0" tIns="0" rIns="0" bIns="0" rtlCol="0" anchor="ctr"/>
          <a:lstStyle/>
          <a:p>
            <a:pPr marL="0" indent="0">
              <a:buNone/>
            </a:pPr>
            <a:r>
              <a:rPr lang="en-US" sz="1500" b="1" dirty="0">
                <a:solidFill>
                  <a:srgbClr val="1B2E1B"/>
                </a:solidFill>
                <a:latin typeface="Calibri" pitchFamily="34" charset="0"/>
                <a:ea typeface="Calibri" pitchFamily="34" charset="-122"/>
                <a:cs typeface="Calibri" pitchFamily="34" charset="-120"/>
              </a:rPr>
              <a:t>Six event types</a:t>
            </a:r>
            <a:endParaRPr lang="en-US" sz="1500" dirty="0"/>
          </a:p>
        </p:txBody>
      </p:sp>
      <p:sp>
        <p:nvSpPr>
          <p:cNvPr id="14" name="Shape 12"/>
          <p:cNvSpPr/>
          <p:nvPr/>
        </p:nvSpPr>
        <p:spPr>
          <a:xfrm>
            <a:off x="548640" y="4663440"/>
            <a:ext cx="1691640" cy="548640"/>
          </a:xfrm>
          <a:prstGeom prst="roundRect">
            <a:avLst>
              <a:gd name="adj" fmla="val 13333"/>
            </a:avLst>
          </a:prstGeom>
          <a:solidFill>
            <a:srgbClr val="E6EEF4"/>
          </a:solidFill>
          <a:ln w="12700">
            <a:solidFill>
              <a:srgbClr val="C4D4E2"/>
            </a:solidFill>
            <a:prstDash val="solid"/>
          </a:ln>
        </p:spPr>
      </p:sp>
      <p:sp>
        <p:nvSpPr>
          <p:cNvPr id="15" name="Text 13"/>
          <p:cNvSpPr txBox="1"/>
          <p:nvPr/>
        </p:nvSpPr>
        <p:spPr>
          <a:xfrm>
            <a:off x="640080" y="4663440"/>
            <a:ext cx="1554480" cy="548640"/>
          </a:xfrm>
          <a:prstGeom prst="rect">
            <a:avLst/>
          </a:prstGeom>
          <a:noFill/>
          <a:ln/>
        </p:spPr>
        <p:txBody>
          <a:bodyPr wrap="square" lIns="0" tIns="0" rIns="0" bIns="0" rtlCol="0" anchor="ctr"/>
          <a:lstStyle/>
          <a:p>
            <a:pPr marL="0" indent="0" algn="ctr">
              <a:buNone/>
            </a:pPr>
            <a:r>
              <a:rPr lang="en-US" sz="1200" b="1" dirty="0">
                <a:solidFill>
                  <a:srgbClr val="3A6888"/>
                </a:solidFill>
                <a:latin typeface="Calibri" pitchFamily="34" charset="0"/>
                <a:ea typeface="Calibri" pitchFamily="34" charset="-122"/>
                <a:cs typeface="Calibri" pitchFamily="34" charset="-120"/>
              </a:rPr>
              <a:t>occupancy</a:t>
            </a:r>
            <a:endParaRPr lang="en-US" sz="1200" dirty="0"/>
          </a:p>
          <a:p>
            <a:pPr marL="0" indent="0" algn="ctr">
              <a:buNone/>
            </a:pPr>
            <a:r>
              <a:rPr lang="en-US" sz="1000" dirty="0">
                <a:solidFill>
                  <a:srgbClr val="5E6E5E"/>
                </a:solidFill>
                <a:latin typeface="Calibri" pitchFamily="34" charset="0"/>
                <a:ea typeface="Calibri" pitchFamily="34" charset="-122"/>
                <a:cs typeface="Calibri" pitchFamily="34" charset="-120"/>
              </a:rPr>
              <a:t>people</a:t>
            </a:r>
            <a:endParaRPr lang="en-US" sz="1200" dirty="0"/>
          </a:p>
        </p:txBody>
      </p:sp>
      <p:sp>
        <p:nvSpPr>
          <p:cNvPr id="16" name="Shape 14"/>
          <p:cNvSpPr/>
          <p:nvPr/>
        </p:nvSpPr>
        <p:spPr>
          <a:xfrm>
            <a:off x="2377440" y="4663440"/>
            <a:ext cx="1691640" cy="548640"/>
          </a:xfrm>
          <a:prstGeom prst="roundRect">
            <a:avLst>
              <a:gd name="adj" fmla="val 13333"/>
            </a:avLst>
          </a:prstGeom>
          <a:solidFill>
            <a:srgbClr val="E6EEF4"/>
          </a:solidFill>
          <a:ln w="12700">
            <a:solidFill>
              <a:srgbClr val="C4D4E2"/>
            </a:solidFill>
            <a:prstDash val="solid"/>
          </a:ln>
        </p:spPr>
      </p:sp>
      <p:sp>
        <p:nvSpPr>
          <p:cNvPr id="17" name="Text 15"/>
          <p:cNvSpPr txBox="1"/>
          <p:nvPr/>
        </p:nvSpPr>
        <p:spPr>
          <a:xfrm>
            <a:off x="2468880" y="4663440"/>
            <a:ext cx="1554480" cy="548640"/>
          </a:xfrm>
          <a:prstGeom prst="rect">
            <a:avLst/>
          </a:prstGeom>
          <a:noFill/>
          <a:ln/>
        </p:spPr>
        <p:txBody>
          <a:bodyPr wrap="square" lIns="0" tIns="0" rIns="0" bIns="0" rtlCol="0" anchor="ctr"/>
          <a:lstStyle/>
          <a:p>
            <a:pPr marL="0" indent="0" algn="ctr">
              <a:buNone/>
            </a:pPr>
            <a:r>
              <a:rPr lang="en-US" sz="1200" b="1" dirty="0">
                <a:solidFill>
                  <a:srgbClr val="3A6888"/>
                </a:solidFill>
                <a:latin typeface="Calibri" pitchFamily="34" charset="0"/>
                <a:ea typeface="Calibri" pitchFamily="34" charset="-122"/>
                <a:cs typeface="Calibri" pitchFamily="34" charset="-120"/>
              </a:rPr>
              <a:t>temperature</a:t>
            </a:r>
            <a:endParaRPr lang="en-US" sz="1200" dirty="0"/>
          </a:p>
          <a:p>
            <a:pPr marL="0" indent="0" algn="ctr">
              <a:buNone/>
            </a:pPr>
            <a:r>
              <a:rPr lang="en-US" sz="1000" dirty="0">
                <a:solidFill>
                  <a:srgbClr val="5E6E5E"/>
                </a:solidFill>
                <a:latin typeface="Calibri" pitchFamily="34" charset="0"/>
                <a:ea typeface="Calibri" pitchFamily="34" charset="-122"/>
                <a:cs typeface="Calibri" pitchFamily="34" charset="-120"/>
              </a:rPr>
              <a:t>°C</a:t>
            </a:r>
            <a:endParaRPr lang="en-US" sz="1200" dirty="0"/>
          </a:p>
        </p:txBody>
      </p:sp>
      <p:sp>
        <p:nvSpPr>
          <p:cNvPr id="18" name="Shape 16"/>
          <p:cNvSpPr/>
          <p:nvPr/>
        </p:nvSpPr>
        <p:spPr>
          <a:xfrm>
            <a:off x="4206240" y="4663440"/>
            <a:ext cx="1691640" cy="548640"/>
          </a:xfrm>
          <a:prstGeom prst="roundRect">
            <a:avLst>
              <a:gd name="adj" fmla="val 13333"/>
            </a:avLst>
          </a:prstGeom>
          <a:solidFill>
            <a:srgbClr val="E6EEF4"/>
          </a:solidFill>
          <a:ln w="12700">
            <a:solidFill>
              <a:srgbClr val="C4D4E2"/>
            </a:solidFill>
            <a:prstDash val="solid"/>
          </a:ln>
        </p:spPr>
      </p:sp>
      <p:sp>
        <p:nvSpPr>
          <p:cNvPr id="19" name="Text 17"/>
          <p:cNvSpPr txBox="1"/>
          <p:nvPr/>
        </p:nvSpPr>
        <p:spPr>
          <a:xfrm>
            <a:off x="4297680" y="4663440"/>
            <a:ext cx="1554480" cy="548640"/>
          </a:xfrm>
          <a:prstGeom prst="rect">
            <a:avLst/>
          </a:prstGeom>
          <a:noFill/>
          <a:ln/>
        </p:spPr>
        <p:txBody>
          <a:bodyPr wrap="square" lIns="0" tIns="0" rIns="0" bIns="0" rtlCol="0" anchor="ctr"/>
          <a:lstStyle/>
          <a:p>
            <a:pPr marL="0" indent="0" algn="ctr">
              <a:buNone/>
            </a:pPr>
            <a:r>
              <a:rPr lang="en-US" sz="1200" b="1" dirty="0">
                <a:solidFill>
                  <a:srgbClr val="3A6888"/>
                </a:solidFill>
                <a:latin typeface="Calibri" pitchFamily="34" charset="0"/>
                <a:ea typeface="Calibri" pitchFamily="34" charset="-122"/>
                <a:cs typeface="Calibri" pitchFamily="34" charset="-120"/>
              </a:rPr>
              <a:t>humidity</a:t>
            </a:r>
            <a:endParaRPr lang="en-US" sz="1200" dirty="0"/>
          </a:p>
          <a:p>
            <a:pPr marL="0" indent="0" algn="ctr">
              <a:buNone/>
            </a:pPr>
            <a:r>
              <a:rPr lang="en-US" sz="1000" dirty="0">
                <a:solidFill>
                  <a:srgbClr val="5E6E5E"/>
                </a:solidFill>
                <a:latin typeface="Calibri" pitchFamily="34" charset="0"/>
                <a:ea typeface="Calibri" pitchFamily="34" charset="-122"/>
                <a:cs typeface="Calibri" pitchFamily="34" charset="-120"/>
              </a:rPr>
              <a:t>%</a:t>
            </a:r>
            <a:endParaRPr lang="en-US" sz="1200" dirty="0"/>
          </a:p>
        </p:txBody>
      </p:sp>
      <p:sp>
        <p:nvSpPr>
          <p:cNvPr id="20" name="Shape 18"/>
          <p:cNvSpPr/>
          <p:nvPr/>
        </p:nvSpPr>
        <p:spPr>
          <a:xfrm>
            <a:off x="548640" y="5349240"/>
            <a:ext cx="1691640" cy="548640"/>
          </a:xfrm>
          <a:prstGeom prst="roundRect">
            <a:avLst>
              <a:gd name="adj" fmla="val 13333"/>
            </a:avLst>
          </a:prstGeom>
          <a:solidFill>
            <a:srgbClr val="E6EEF4"/>
          </a:solidFill>
          <a:ln w="12700">
            <a:solidFill>
              <a:srgbClr val="C4D4E2"/>
            </a:solidFill>
            <a:prstDash val="solid"/>
          </a:ln>
        </p:spPr>
      </p:sp>
      <p:sp>
        <p:nvSpPr>
          <p:cNvPr id="21" name="Text 19"/>
          <p:cNvSpPr txBox="1"/>
          <p:nvPr/>
        </p:nvSpPr>
        <p:spPr>
          <a:xfrm>
            <a:off x="640080" y="5349240"/>
            <a:ext cx="1554480" cy="548640"/>
          </a:xfrm>
          <a:prstGeom prst="rect">
            <a:avLst/>
          </a:prstGeom>
          <a:noFill/>
          <a:ln/>
        </p:spPr>
        <p:txBody>
          <a:bodyPr wrap="square" lIns="0" tIns="0" rIns="0" bIns="0" rtlCol="0" anchor="ctr"/>
          <a:lstStyle/>
          <a:p>
            <a:pPr marL="0" indent="0" algn="ctr">
              <a:buNone/>
            </a:pPr>
            <a:r>
              <a:rPr lang="en-US" sz="1200" b="1" dirty="0">
                <a:solidFill>
                  <a:srgbClr val="3A6888"/>
                </a:solidFill>
                <a:latin typeface="Calibri" pitchFamily="34" charset="0"/>
                <a:ea typeface="Calibri" pitchFamily="34" charset="-122"/>
                <a:cs typeface="Calibri" pitchFamily="34" charset="-120"/>
              </a:rPr>
              <a:t>energy</a:t>
            </a:r>
            <a:endParaRPr lang="en-US" sz="1200" dirty="0"/>
          </a:p>
          <a:p>
            <a:pPr marL="0" indent="0" algn="ctr">
              <a:buNone/>
            </a:pPr>
            <a:r>
              <a:rPr lang="en-US" sz="1000" dirty="0">
                <a:solidFill>
                  <a:srgbClr val="5E6E5E"/>
                </a:solidFill>
                <a:latin typeface="Calibri" pitchFamily="34" charset="0"/>
                <a:ea typeface="Calibri" pitchFamily="34" charset="-122"/>
                <a:cs typeface="Calibri" pitchFamily="34" charset="-120"/>
              </a:rPr>
              <a:t>kWh</a:t>
            </a:r>
            <a:endParaRPr lang="en-US" sz="1200" dirty="0"/>
          </a:p>
        </p:txBody>
      </p:sp>
      <p:sp>
        <p:nvSpPr>
          <p:cNvPr id="22" name="Shape 20"/>
          <p:cNvSpPr/>
          <p:nvPr/>
        </p:nvSpPr>
        <p:spPr>
          <a:xfrm>
            <a:off x="2377440" y="5349240"/>
            <a:ext cx="1691640" cy="548640"/>
          </a:xfrm>
          <a:prstGeom prst="roundRect">
            <a:avLst>
              <a:gd name="adj" fmla="val 13333"/>
            </a:avLst>
          </a:prstGeom>
          <a:solidFill>
            <a:srgbClr val="E6EEF4"/>
          </a:solidFill>
          <a:ln w="12700">
            <a:solidFill>
              <a:srgbClr val="C4D4E2"/>
            </a:solidFill>
            <a:prstDash val="solid"/>
          </a:ln>
        </p:spPr>
      </p:sp>
      <p:sp>
        <p:nvSpPr>
          <p:cNvPr id="23" name="Text 21"/>
          <p:cNvSpPr txBox="1"/>
          <p:nvPr/>
        </p:nvSpPr>
        <p:spPr>
          <a:xfrm>
            <a:off x="2468880" y="5349240"/>
            <a:ext cx="1554480" cy="548640"/>
          </a:xfrm>
          <a:prstGeom prst="rect">
            <a:avLst/>
          </a:prstGeom>
          <a:noFill/>
          <a:ln/>
        </p:spPr>
        <p:txBody>
          <a:bodyPr wrap="square" lIns="0" tIns="0" rIns="0" bIns="0" rtlCol="0" anchor="ctr"/>
          <a:lstStyle/>
          <a:p>
            <a:pPr marL="0" indent="0" algn="ctr">
              <a:buNone/>
            </a:pPr>
            <a:r>
              <a:rPr lang="en-US" sz="1200" b="1" dirty="0">
                <a:solidFill>
                  <a:srgbClr val="3A6888"/>
                </a:solidFill>
                <a:latin typeface="Calibri" pitchFamily="34" charset="0"/>
                <a:ea typeface="Calibri" pitchFamily="34" charset="-122"/>
                <a:cs typeface="Calibri" pitchFamily="34" charset="-120"/>
              </a:rPr>
              <a:t>equipment</a:t>
            </a:r>
            <a:endParaRPr lang="en-US" sz="1200" dirty="0"/>
          </a:p>
          <a:p>
            <a:pPr marL="0" indent="0" algn="ctr">
              <a:buNone/>
            </a:pPr>
            <a:r>
              <a:rPr lang="en-US" sz="1000" dirty="0">
                <a:solidFill>
                  <a:srgbClr val="5E6E5E"/>
                </a:solidFill>
                <a:latin typeface="Calibri" pitchFamily="34" charset="0"/>
                <a:ea typeface="Calibri" pitchFamily="34" charset="-122"/>
                <a:cs typeface="Calibri" pitchFamily="34" charset="-120"/>
              </a:rPr>
              <a:t>status</a:t>
            </a:r>
            <a:endParaRPr lang="en-US" sz="1200" dirty="0"/>
          </a:p>
        </p:txBody>
      </p:sp>
      <p:sp>
        <p:nvSpPr>
          <p:cNvPr id="24" name="Shape 22"/>
          <p:cNvSpPr/>
          <p:nvPr/>
        </p:nvSpPr>
        <p:spPr>
          <a:xfrm>
            <a:off x="4206240" y="5349240"/>
            <a:ext cx="1691640" cy="548640"/>
          </a:xfrm>
          <a:prstGeom prst="roundRect">
            <a:avLst>
              <a:gd name="adj" fmla="val 13333"/>
            </a:avLst>
          </a:prstGeom>
          <a:solidFill>
            <a:srgbClr val="E6EEF4"/>
          </a:solidFill>
          <a:ln w="12700">
            <a:solidFill>
              <a:srgbClr val="C4D4E2"/>
            </a:solidFill>
            <a:prstDash val="solid"/>
          </a:ln>
        </p:spPr>
      </p:sp>
      <p:sp>
        <p:nvSpPr>
          <p:cNvPr id="25" name="Text 23"/>
          <p:cNvSpPr txBox="1"/>
          <p:nvPr/>
        </p:nvSpPr>
        <p:spPr>
          <a:xfrm>
            <a:off x="4297680" y="5349240"/>
            <a:ext cx="1554480" cy="548640"/>
          </a:xfrm>
          <a:prstGeom prst="rect">
            <a:avLst/>
          </a:prstGeom>
          <a:noFill/>
          <a:ln/>
        </p:spPr>
        <p:txBody>
          <a:bodyPr wrap="square" lIns="0" tIns="0" rIns="0" bIns="0" rtlCol="0" anchor="ctr"/>
          <a:lstStyle/>
          <a:p>
            <a:pPr marL="0" indent="0" algn="ctr">
              <a:buNone/>
            </a:pPr>
            <a:r>
              <a:rPr lang="en-US" sz="1200" b="1" dirty="0">
                <a:solidFill>
                  <a:srgbClr val="3A6888"/>
                </a:solidFill>
                <a:latin typeface="Calibri" pitchFamily="34" charset="0"/>
                <a:ea typeface="Calibri" pitchFamily="34" charset="-122"/>
                <a:cs typeface="Calibri" pitchFamily="34" charset="-120"/>
              </a:rPr>
              <a:t>service_request</a:t>
            </a:r>
            <a:endParaRPr lang="en-US" sz="1200" dirty="0"/>
          </a:p>
          <a:p>
            <a:pPr marL="0" indent="0" algn="ctr">
              <a:buNone/>
            </a:pPr>
            <a:r>
              <a:rPr lang="en-US" sz="1000" dirty="0">
                <a:solidFill>
                  <a:srgbClr val="5E6E5E"/>
                </a:solidFill>
                <a:latin typeface="Calibri" pitchFamily="34" charset="0"/>
                <a:ea typeface="Calibri" pitchFamily="34" charset="-122"/>
                <a:cs typeface="Calibri" pitchFamily="34" charset="-120"/>
              </a:rPr>
              <a:t>priority</a:t>
            </a:r>
            <a:endParaRPr lang="en-US" sz="1200" dirty="0"/>
          </a:p>
        </p:txBody>
      </p:sp>
      <p:sp>
        <p:nvSpPr>
          <p:cNvPr id="26" name="Shape 24"/>
          <p:cNvSpPr/>
          <p:nvPr/>
        </p:nvSpPr>
        <p:spPr>
          <a:xfrm>
            <a:off x="6309360" y="4251960"/>
            <a:ext cx="5303520" cy="1874520"/>
          </a:xfrm>
          <a:prstGeom prst="roundRect">
            <a:avLst>
              <a:gd name="adj" fmla="val 3902"/>
            </a:avLst>
          </a:prstGeom>
          <a:solidFill>
            <a:srgbClr val="FBEFE2"/>
          </a:solidFill>
          <a:ln w="12700">
            <a:solidFill>
              <a:srgbClr val="E8CFA0"/>
            </a:solidFill>
            <a:prstDash val="solid"/>
          </a:ln>
        </p:spPr>
      </p:sp>
      <p:sp>
        <p:nvSpPr>
          <p:cNvPr id="27" name="Text 25"/>
          <p:cNvSpPr txBox="1"/>
          <p:nvPr/>
        </p:nvSpPr>
        <p:spPr>
          <a:xfrm>
            <a:off x="6537960" y="4389120"/>
            <a:ext cx="4846320" cy="320040"/>
          </a:xfrm>
          <a:prstGeom prst="rect">
            <a:avLst/>
          </a:prstGeom>
          <a:noFill/>
          <a:ln/>
        </p:spPr>
        <p:txBody>
          <a:bodyPr wrap="square" lIns="0" tIns="0" rIns="0" bIns="0" rtlCol="0" anchor="ctr"/>
          <a:lstStyle/>
          <a:p>
            <a:pPr marL="0" indent="0">
              <a:buNone/>
            </a:pPr>
            <a:r>
              <a:rPr lang="en-US" sz="1500" b="1" dirty="0">
                <a:solidFill>
                  <a:srgbClr val="B05E10"/>
                </a:solidFill>
                <a:latin typeface="Calibri" pitchFamily="34" charset="0"/>
                <a:ea typeface="Calibri" pitchFamily="34" charset="-122"/>
                <a:cs typeface="Calibri" pitchFamily="34" charset="-120"/>
              </a:rPr>
              <a:t>A bug we found and fixed</a:t>
            </a:r>
            <a:endParaRPr lang="en-US" sz="1500" dirty="0"/>
          </a:p>
        </p:txBody>
      </p:sp>
      <p:sp>
        <p:nvSpPr>
          <p:cNvPr id="28" name="Text 26"/>
          <p:cNvSpPr txBox="1"/>
          <p:nvPr/>
        </p:nvSpPr>
        <p:spPr>
          <a:xfrm>
            <a:off x="6537960" y="4754880"/>
            <a:ext cx="4892040" cy="1280160"/>
          </a:xfrm>
          <a:prstGeom prst="rect">
            <a:avLst/>
          </a:prstGeom>
          <a:noFill/>
          <a:ln/>
        </p:spPr>
        <p:txBody>
          <a:bodyPr wrap="square" lIns="0" tIns="0" rIns="0" bIns="0" rtlCol="0" anchor="t"/>
          <a:lstStyle/>
          <a:p>
            <a:pPr marL="0" indent="0">
              <a:buNone/>
            </a:pPr>
            <a:r>
              <a:rPr lang="en-US" sz="1300" dirty="0">
                <a:solidFill>
                  <a:srgbClr val="5A4A3A"/>
                </a:solidFill>
                <a:latin typeface="Calibri" pitchFamily="34" charset="0"/>
                <a:ea typeface="Calibri" pitchFamily="34" charset="-122"/>
                <a:cs typeface="Calibri" pitchFamily="34" charset="-120"/>
              </a:rPr>
              <a:t>--force-alert first used 105-145 % occupancy, which straddles the 120 % critical line, so a forced alert sometimes arrived as only a warning. We moved the range well past critical and checked it over 300 generated events.</a:t>
            </a:r>
            <a:endParaRPr lang="en-US" sz="1300" dirty="0"/>
          </a:p>
        </p:txBody>
      </p:sp>
      <p:sp>
        <p:nvSpPr>
          <p:cNvPr id="29"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E6E5E"/>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595360" cy="685800"/>
          </a:xfrm>
          <a:prstGeom prst="rect">
            <a:avLst/>
          </a:prstGeom>
          <a:noFill/>
          <a:ln/>
        </p:spPr>
        <p:txBody>
          <a:bodyPr wrap="square" lIns="0" tIns="0" rIns="0" bIns="0" rtlCol="0" anchor="ctr"/>
          <a:lstStyle/>
          <a:p>
            <a:pPr marL="0" indent="0" algn="l">
              <a:buNone/>
            </a:pPr>
            <a:r>
              <a:rPr lang="en-US" sz="3200" b="1" dirty="0">
                <a:solidFill>
                  <a:srgbClr val="2A7A4A"/>
                </a:solidFill>
                <a:latin typeface="Cambria" pitchFamily="34" charset="0"/>
                <a:ea typeface="Cambria" pitchFamily="34" charset="-122"/>
                <a:cs typeface="Cambria" pitchFamily="34" charset="-120"/>
              </a:rPr>
              <a:t>Testing: 176 checks, 0 failures</a:t>
            </a:r>
            <a:endParaRPr lang="en-US" sz="3200" dirty="0"/>
          </a:p>
        </p:txBody>
      </p:sp>
      <p:sp>
        <p:nvSpPr>
          <p:cNvPr id="7" name="Shape 5"/>
          <p:cNvSpPr/>
          <p:nvPr/>
        </p:nvSpPr>
        <p:spPr>
          <a:xfrm>
            <a:off x="548640" y="1234440"/>
            <a:ext cx="3566160" cy="1463040"/>
          </a:xfrm>
          <a:prstGeom prst="roundRect">
            <a:avLst>
              <a:gd name="adj" fmla="val 5000"/>
            </a:avLst>
          </a:prstGeom>
          <a:solidFill>
            <a:srgbClr val="FFFFFF"/>
          </a:solidFill>
          <a:ln w="12700">
            <a:solidFill>
              <a:srgbClr val="C8D5C8"/>
            </a:solidFill>
            <a:prstDash val="solid"/>
          </a:ln>
        </p:spPr>
      </p:sp>
      <p:sp>
        <p:nvSpPr>
          <p:cNvPr id="8" name="Text 6"/>
          <p:cNvSpPr txBox="1"/>
          <p:nvPr/>
        </p:nvSpPr>
        <p:spPr>
          <a:xfrm>
            <a:off x="822960" y="1325880"/>
            <a:ext cx="3017520" cy="731520"/>
          </a:xfrm>
          <a:prstGeom prst="rect">
            <a:avLst/>
          </a:prstGeom>
          <a:noFill/>
          <a:ln/>
        </p:spPr>
        <p:txBody>
          <a:bodyPr wrap="square" lIns="0" tIns="0" rIns="0" bIns="0" rtlCol="0" anchor="ctr"/>
          <a:lstStyle/>
          <a:p>
            <a:pPr marL="0" indent="0">
              <a:buNone/>
            </a:pPr>
            <a:r>
              <a:rPr lang="en-US" sz="4400" b="1" dirty="0">
                <a:solidFill>
                  <a:srgbClr val="3A6888"/>
                </a:solidFill>
                <a:latin typeface="Cambria" pitchFamily="34" charset="0"/>
                <a:ea typeface="Cambria" pitchFamily="34" charset="-122"/>
                <a:cs typeface="Cambria" pitchFamily="34" charset="-120"/>
              </a:rPr>
              <a:t>131</a:t>
            </a:r>
            <a:endParaRPr lang="en-US" sz="4400" dirty="0"/>
          </a:p>
        </p:txBody>
      </p:sp>
      <p:sp>
        <p:nvSpPr>
          <p:cNvPr id="9" name="Text 7"/>
          <p:cNvSpPr txBox="1"/>
          <p:nvPr/>
        </p:nvSpPr>
        <p:spPr>
          <a:xfrm>
            <a:off x="822960" y="2057400"/>
            <a:ext cx="3108960" cy="548640"/>
          </a:xfrm>
          <a:prstGeom prst="rect">
            <a:avLst/>
          </a:prstGeom>
          <a:noFill/>
          <a:ln/>
        </p:spPr>
        <p:txBody>
          <a:bodyPr wrap="square" lIns="0" tIns="0" rIns="0" bIns="0" rtlCol="0" anchor="t"/>
          <a:lstStyle/>
          <a:p>
            <a:pPr marL="0" indent="0">
              <a:buNone/>
            </a:pPr>
            <a:r>
              <a:rPr lang="en-US" sz="1300" dirty="0">
                <a:solidFill>
                  <a:srgbClr val="3E4E3E"/>
                </a:solidFill>
                <a:latin typeface="Calibri" pitchFamily="34" charset="0"/>
                <a:ea typeface="Calibri" pitchFamily="34" charset="-122"/>
                <a:cs typeface="Calibri" pitchFamily="34" charset="-120"/>
              </a:rPr>
              <a:t>unit tests in about 1 second, no AWS account needed</a:t>
            </a:r>
            <a:endParaRPr lang="en-US" sz="1300" dirty="0"/>
          </a:p>
        </p:txBody>
      </p:sp>
      <p:sp>
        <p:nvSpPr>
          <p:cNvPr id="10" name="Shape 8"/>
          <p:cNvSpPr/>
          <p:nvPr/>
        </p:nvSpPr>
        <p:spPr>
          <a:xfrm>
            <a:off x="4297680" y="1234440"/>
            <a:ext cx="3566160" cy="1463040"/>
          </a:xfrm>
          <a:prstGeom prst="roundRect">
            <a:avLst>
              <a:gd name="adj" fmla="val 5000"/>
            </a:avLst>
          </a:prstGeom>
          <a:solidFill>
            <a:srgbClr val="FFFFFF"/>
          </a:solidFill>
          <a:ln w="12700">
            <a:solidFill>
              <a:srgbClr val="C8D5C8"/>
            </a:solidFill>
            <a:prstDash val="solid"/>
          </a:ln>
        </p:spPr>
      </p:sp>
      <p:sp>
        <p:nvSpPr>
          <p:cNvPr id="11" name="Text 9"/>
          <p:cNvSpPr txBox="1"/>
          <p:nvPr/>
        </p:nvSpPr>
        <p:spPr>
          <a:xfrm>
            <a:off x="4572000" y="1325880"/>
            <a:ext cx="3017520" cy="731520"/>
          </a:xfrm>
          <a:prstGeom prst="rect">
            <a:avLst/>
          </a:prstGeom>
          <a:noFill/>
          <a:ln/>
        </p:spPr>
        <p:txBody>
          <a:bodyPr wrap="square" lIns="0" tIns="0" rIns="0" bIns="0" rtlCol="0" anchor="ctr"/>
          <a:lstStyle/>
          <a:p>
            <a:pPr marL="0" indent="0">
              <a:buNone/>
            </a:pPr>
            <a:r>
              <a:rPr lang="en-US" sz="4400" b="1" dirty="0">
                <a:solidFill>
                  <a:srgbClr val="3A6888"/>
                </a:solidFill>
                <a:latin typeface="Cambria" pitchFamily="34" charset="0"/>
                <a:ea typeface="Cambria" pitchFamily="34" charset="-122"/>
                <a:cs typeface="Cambria" pitchFamily="34" charset="-120"/>
              </a:rPr>
              <a:t>45</a:t>
            </a:r>
            <a:endParaRPr lang="en-US" sz="4400" dirty="0"/>
          </a:p>
        </p:txBody>
      </p:sp>
      <p:sp>
        <p:nvSpPr>
          <p:cNvPr id="12" name="Text 10"/>
          <p:cNvSpPr txBox="1"/>
          <p:nvPr/>
        </p:nvSpPr>
        <p:spPr>
          <a:xfrm>
            <a:off x="4572000" y="2057400"/>
            <a:ext cx="3108960" cy="548640"/>
          </a:xfrm>
          <a:prstGeom prst="rect">
            <a:avLst/>
          </a:prstGeom>
          <a:noFill/>
          <a:ln/>
        </p:spPr>
        <p:txBody>
          <a:bodyPr wrap="square" lIns="0" tIns="0" rIns="0" bIns="0" rtlCol="0" anchor="t"/>
          <a:lstStyle/>
          <a:p>
            <a:pPr marL="0" indent="0">
              <a:buNone/>
            </a:pPr>
            <a:r>
              <a:rPr lang="en-US" sz="1300" dirty="0">
                <a:solidFill>
                  <a:srgbClr val="3E4E3E"/>
                </a:solidFill>
                <a:latin typeface="Calibri" pitchFamily="34" charset="0"/>
                <a:ea typeface="Calibri" pitchFamily="34" charset="-122"/>
                <a:cs typeface="Calibri" pitchFamily="34" charset="-120"/>
              </a:rPr>
              <a:t>API checks against the live deployment (5 Oct 2026)</a:t>
            </a:r>
            <a:endParaRPr lang="en-US" sz="1300" dirty="0"/>
          </a:p>
        </p:txBody>
      </p:sp>
      <p:sp>
        <p:nvSpPr>
          <p:cNvPr id="13" name="Shape 11"/>
          <p:cNvSpPr/>
          <p:nvPr/>
        </p:nvSpPr>
        <p:spPr>
          <a:xfrm>
            <a:off x="8046720" y="1234440"/>
            <a:ext cx="3566160" cy="1463040"/>
          </a:xfrm>
          <a:prstGeom prst="roundRect">
            <a:avLst>
              <a:gd name="adj" fmla="val 5000"/>
            </a:avLst>
          </a:prstGeom>
          <a:solidFill>
            <a:srgbClr val="FFFFFF"/>
          </a:solidFill>
          <a:ln w="12700">
            <a:solidFill>
              <a:srgbClr val="C8D5C8"/>
            </a:solidFill>
            <a:prstDash val="solid"/>
          </a:ln>
        </p:spPr>
      </p:sp>
      <p:sp>
        <p:nvSpPr>
          <p:cNvPr id="14" name="Text 12"/>
          <p:cNvSpPr txBox="1"/>
          <p:nvPr/>
        </p:nvSpPr>
        <p:spPr>
          <a:xfrm>
            <a:off x="8321040" y="1325880"/>
            <a:ext cx="3017520" cy="731520"/>
          </a:xfrm>
          <a:prstGeom prst="rect">
            <a:avLst/>
          </a:prstGeom>
          <a:noFill/>
          <a:ln/>
        </p:spPr>
        <p:txBody>
          <a:bodyPr wrap="square" lIns="0" tIns="0" rIns="0" bIns="0" rtlCol="0" anchor="ctr"/>
          <a:lstStyle/>
          <a:p>
            <a:pPr marL="0" indent="0">
              <a:buNone/>
            </a:pPr>
            <a:r>
              <a:rPr lang="en-US" sz="4400" b="1" dirty="0">
                <a:solidFill>
                  <a:srgbClr val="2A7A4A"/>
                </a:solidFill>
                <a:latin typeface="Cambria" pitchFamily="34" charset="0"/>
                <a:ea typeface="Cambria" pitchFamily="34" charset="-122"/>
                <a:cs typeface="Cambria" pitchFamily="34" charset="-120"/>
              </a:rPr>
              <a:t>0</a:t>
            </a:r>
            <a:endParaRPr lang="en-US" sz="4400" dirty="0"/>
          </a:p>
        </p:txBody>
      </p:sp>
      <p:sp>
        <p:nvSpPr>
          <p:cNvPr id="15" name="Text 13"/>
          <p:cNvSpPr txBox="1"/>
          <p:nvPr/>
        </p:nvSpPr>
        <p:spPr>
          <a:xfrm>
            <a:off x="8321040" y="2057400"/>
            <a:ext cx="3108960" cy="548640"/>
          </a:xfrm>
          <a:prstGeom prst="rect">
            <a:avLst/>
          </a:prstGeom>
          <a:noFill/>
          <a:ln/>
        </p:spPr>
        <p:txBody>
          <a:bodyPr wrap="square" lIns="0" tIns="0" rIns="0" bIns="0" rtlCol="0" anchor="t"/>
          <a:lstStyle/>
          <a:p>
            <a:pPr marL="0" indent="0">
              <a:buNone/>
            </a:pPr>
            <a:r>
              <a:rPr lang="en-US" sz="1300" dirty="0">
                <a:solidFill>
                  <a:srgbClr val="3E4E3E"/>
                </a:solidFill>
                <a:latin typeface="Calibri" pitchFamily="34" charset="0"/>
                <a:ea typeface="Calibri" pitchFamily="34" charset="-122"/>
                <a:cs typeface="Calibri" pitchFamily="34" charset="-120"/>
              </a:rPr>
              <a:t>failures in either suite</a:t>
            </a:r>
            <a:endParaRPr lang="en-US" sz="1300" dirty="0"/>
          </a:p>
        </p:txBody>
      </p:sp>
      <p:sp>
        <p:nvSpPr>
          <p:cNvPr id="16" name="Text 14"/>
          <p:cNvSpPr txBox="1"/>
          <p:nvPr/>
        </p:nvSpPr>
        <p:spPr>
          <a:xfrm>
            <a:off x="548640" y="2926080"/>
            <a:ext cx="5486400" cy="292608"/>
          </a:xfrm>
          <a:prstGeom prst="rect">
            <a:avLst/>
          </a:prstGeom>
          <a:noFill/>
          <a:ln/>
        </p:spPr>
        <p:txBody>
          <a:bodyPr wrap="square" lIns="0" tIns="0" rIns="0" bIns="0" rtlCol="0" anchor="ctr"/>
          <a:lstStyle/>
          <a:p>
            <a:pPr marL="0" indent="0">
              <a:buNone/>
            </a:pPr>
            <a:r>
              <a:rPr lang="en-US" sz="1500" b="1" dirty="0">
                <a:solidFill>
                  <a:srgbClr val="1B2E1B"/>
                </a:solidFill>
                <a:latin typeface="Calibri" pitchFamily="34" charset="0"/>
                <a:ea typeface="Calibri" pitchFamily="34" charset="-122"/>
                <a:cs typeface="Calibri" pitchFamily="34" charset="-120"/>
              </a:rPr>
              <a:t>Unit tests (pytest)</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3291840"/>
          <a:ext cx="5760720" cy="2688336"/>
        </p:xfrm>
        <a:graphic>
          <a:graphicData uri="http://schemas.openxmlformats.org/drawingml/2006/table">
            <a:tbl>
              <a:tblPr/>
              <a:tblGrid>
                <a:gridCol w="16002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3703320">
                  <a:extLst>
                    <a:ext uri="{9D8B030D-6E8A-4147-A177-3AD203B41FA5}">
                      <a16:colId xmlns:a16="http://schemas.microsoft.com/office/drawing/2014/main" val="20002"/>
                    </a:ext>
                  </a:extLst>
                </a:gridCol>
              </a:tblGrid>
              <a:tr h="384048">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Suite</a:t>
                      </a:r>
                      <a:endParaRPr lang="en-US" sz="12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3A6888"/>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3A6888"/>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Proves</a:t>
                      </a:r>
                      <a:endParaRPr lang="en-US" sz="12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3A6888"/>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1B2E1B"/>
                          </a:solidFill>
                          <a:latin typeface="Courier New" pitchFamily="34" charset="0"/>
                          <a:ea typeface="Courier New" pitchFamily="34" charset="-122"/>
                          <a:cs typeface="Courier New" pitchFamily="34" charset="-120"/>
                        </a:rPr>
                        <a:t>test_validation</a:t>
                      </a:r>
                      <a:endParaRPr lang="en-US" sz="1100" dirty="0">
                        <a:latin typeface="Courier New" charset="0"/>
                        <a:ea typeface="Courier New" charset="0"/>
                        <a:cs typeface="Courier New"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B2E1B"/>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marL="0" indent="0">
                        <a:buNone/>
                      </a:pPr>
                      <a:r>
                        <a:rPr lang="en-US" sz="1200" dirty="0">
                          <a:solidFill>
                            <a:srgbClr val="1B2E1B"/>
                          </a:solidFill>
                          <a:latin typeface="Calibri" pitchFamily="34" charset="0"/>
                          <a:ea typeface="Calibri" pitchFamily="34" charset="-122"/>
                          <a:cs typeface="Calibri" pitchFamily="34" charset="-120"/>
                        </a:rPr>
                        <a:t>every kind of invalid event rejected</a:t>
                      </a:r>
                      <a:endParaRPr lang="en-US" sz="12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100" dirty="0">
                          <a:solidFill>
                            <a:srgbClr val="1B2E1B"/>
                          </a:solidFill>
                          <a:latin typeface="Courier New" pitchFamily="34" charset="0"/>
                          <a:ea typeface="Courier New" pitchFamily="34" charset="-122"/>
                          <a:cs typeface="Courier New" pitchFamily="34" charset="-120"/>
                        </a:rPr>
                        <a:t>test_rules</a:t>
                      </a:r>
                      <a:endParaRPr lang="en-US" sz="1100" dirty="0">
                        <a:latin typeface="Courier New" charset="0"/>
                        <a:ea typeface="Courier New" charset="0"/>
                        <a:cs typeface="Courier New"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marL="0" indent="0" algn="ctr">
                        <a:buNone/>
                      </a:pPr>
                      <a:r>
                        <a:rPr lang="en-US" sz="1200" b="1" dirty="0">
                          <a:solidFill>
                            <a:srgbClr val="1B2E1B"/>
                          </a:solidFill>
                          <a:latin typeface="Calibri" pitchFamily="34" charset="0"/>
                          <a:ea typeface="Calibri" pitchFamily="34" charset="-122"/>
                          <a:cs typeface="Calibri" pitchFamily="34" charset="-120"/>
                        </a:rPr>
                        <a:t>37</a:t>
                      </a:r>
                      <a:endParaRPr lang="en-US" sz="12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marL="0" indent="0">
                        <a:buNone/>
                      </a:pPr>
                      <a:r>
                        <a:rPr lang="en-US" sz="1200" dirty="0">
                          <a:solidFill>
                            <a:srgbClr val="1B2E1B"/>
                          </a:solidFill>
                          <a:latin typeface="Calibri" pitchFamily="34" charset="0"/>
                          <a:ea typeface="Calibri" pitchFamily="34" charset="-122"/>
                          <a:cs typeface="Calibri" pitchFamily="34" charset="-120"/>
                        </a:rPr>
                        <a:t>both sides of every threshold</a:t>
                      </a:r>
                      <a:endParaRPr lang="en-US" sz="12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extLst>
                  <a:ext uri="{0D108BD9-81ED-4DB2-BD59-A6C34878D82A}">
                    <a16:rowId xmlns:a16="http://schemas.microsoft.com/office/drawing/2014/main" val="10002"/>
                  </a:ext>
                </a:extLst>
              </a:tr>
              <a:tr h="384048">
                <a:tc>
                  <a:txBody>
                    <a:bodyPr/>
                    <a:lstStyle/>
                    <a:p>
                      <a:pPr marL="0" indent="0">
                        <a:buNone/>
                      </a:pPr>
                      <a:r>
                        <a:rPr lang="en-US" sz="1100" dirty="0">
                          <a:solidFill>
                            <a:srgbClr val="1B2E1B"/>
                          </a:solidFill>
                          <a:latin typeface="Courier New" pitchFamily="34" charset="0"/>
                          <a:ea typeface="Courier New" pitchFamily="34" charset="-122"/>
                          <a:cs typeface="Courier New" pitchFamily="34" charset="-120"/>
                        </a:rPr>
                        <a:t>test_queries</a:t>
                      </a:r>
                      <a:endParaRPr lang="en-US" sz="1100" dirty="0">
                        <a:latin typeface="Courier New" charset="0"/>
                        <a:ea typeface="Courier New" charset="0"/>
                        <a:cs typeface="Courier New"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B2E1B"/>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marL="0" indent="0">
                        <a:buNone/>
                      </a:pPr>
                      <a:r>
                        <a:rPr lang="en-US" sz="1200" dirty="0">
                          <a:solidFill>
                            <a:srgbClr val="1B2E1B"/>
                          </a:solidFill>
                          <a:latin typeface="Calibri" pitchFamily="34" charset="0"/>
                          <a:ea typeface="Calibri" pitchFamily="34" charset="-122"/>
                          <a:cs typeface="Calibri" pitchFamily="34" charset="-120"/>
                        </a:rPr>
                        <a:t>5 access patterns; no query can become a Scan</a:t>
                      </a:r>
                      <a:endParaRPr lang="en-US" sz="12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100" dirty="0">
                          <a:solidFill>
                            <a:srgbClr val="1B2E1B"/>
                          </a:solidFill>
                          <a:latin typeface="Courier New" pitchFamily="34" charset="0"/>
                          <a:ea typeface="Courier New" pitchFamily="34" charset="-122"/>
                          <a:cs typeface="Courier New" pitchFamily="34" charset="-120"/>
                        </a:rPr>
                        <a:t>test_aggregate</a:t>
                      </a:r>
                      <a:endParaRPr lang="en-US" sz="1100" dirty="0">
                        <a:latin typeface="Courier New" charset="0"/>
                        <a:ea typeface="Courier New" charset="0"/>
                        <a:cs typeface="Courier New"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marL="0" indent="0" algn="ctr">
                        <a:buNone/>
                      </a:pPr>
                      <a:r>
                        <a:rPr lang="en-US" sz="1200" b="1" dirty="0">
                          <a:solidFill>
                            <a:srgbClr val="1B2E1B"/>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marL="0" indent="0">
                        <a:buNone/>
                      </a:pPr>
                      <a:r>
                        <a:rPr lang="en-US" sz="1200" dirty="0">
                          <a:solidFill>
                            <a:srgbClr val="1B2E1B"/>
                          </a:solidFill>
                          <a:latin typeface="Calibri" pitchFamily="34" charset="0"/>
                          <a:ea typeface="Calibri" pitchFamily="34" charset="-122"/>
                          <a:cs typeface="Calibri" pitchFamily="34" charset="-120"/>
                        </a:rPr>
                        <a:t>every /stats field</a:t>
                      </a:r>
                      <a:endParaRPr lang="en-US" sz="12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extLst>
                  <a:ext uri="{0D108BD9-81ED-4DB2-BD59-A6C34878D82A}">
                    <a16:rowId xmlns:a16="http://schemas.microsoft.com/office/drawing/2014/main" val="10004"/>
                  </a:ext>
                </a:extLst>
              </a:tr>
              <a:tr h="384048">
                <a:tc>
                  <a:txBody>
                    <a:bodyPr/>
                    <a:lstStyle/>
                    <a:p>
                      <a:pPr marL="0" indent="0">
                        <a:buNone/>
                      </a:pPr>
                      <a:r>
                        <a:rPr lang="en-US" sz="1100" dirty="0">
                          <a:solidFill>
                            <a:srgbClr val="1B2E1B"/>
                          </a:solidFill>
                          <a:latin typeface="Courier New" pitchFamily="34" charset="0"/>
                          <a:ea typeface="Courier New" pitchFamily="34" charset="-122"/>
                          <a:cs typeface="Courier New" pitchFamily="34" charset="-120"/>
                        </a:rPr>
                        <a:t>test_keys</a:t>
                      </a:r>
                      <a:endParaRPr lang="en-US" sz="1100" dirty="0">
                        <a:latin typeface="Courier New" charset="0"/>
                        <a:ea typeface="Courier New" charset="0"/>
                        <a:cs typeface="Courier New"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B2E1B"/>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marL="0" indent="0">
                        <a:buNone/>
                      </a:pPr>
                      <a:r>
                        <a:rPr lang="en-US" sz="1200" dirty="0">
                          <a:solidFill>
                            <a:srgbClr val="1B2E1B"/>
                          </a:solidFill>
                          <a:latin typeface="Calibri" pitchFamily="34" charset="0"/>
                          <a:ea typeface="Calibri" pitchFamily="34" charset="-122"/>
                          <a:cs typeface="Calibri" pitchFamily="34" charset="-120"/>
                        </a:rPr>
                        <a:t>keys, TTL, sparse alert index</a:t>
                      </a:r>
                      <a:endParaRPr lang="en-US" sz="12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100" dirty="0">
                          <a:solidFill>
                            <a:srgbClr val="1B2E1B"/>
                          </a:solidFill>
                          <a:latin typeface="Courier New" pitchFamily="34" charset="0"/>
                          <a:ea typeface="Courier New" pitchFamily="34" charset="-122"/>
                          <a:cs typeface="Courier New" pitchFamily="34" charset="-120"/>
                        </a:rPr>
                        <a:t>test_generator</a:t>
                      </a:r>
                      <a:endParaRPr lang="en-US" sz="1100" dirty="0">
                        <a:latin typeface="Courier New" charset="0"/>
                        <a:ea typeface="Courier New" charset="0"/>
                        <a:cs typeface="Courier New"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marL="0" indent="0" algn="ctr">
                        <a:buNone/>
                      </a:pPr>
                      <a:r>
                        <a:rPr lang="en-US" sz="1200" b="1" dirty="0">
                          <a:solidFill>
                            <a:srgbClr val="1B2E1B"/>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marL="0" indent="0">
                        <a:buNone/>
                      </a:pPr>
                      <a:r>
                        <a:rPr lang="en-US" sz="1200" dirty="0">
                          <a:solidFill>
                            <a:srgbClr val="1B2E1B"/>
                          </a:solidFill>
                          <a:latin typeface="Calibri" pitchFamily="34" charset="0"/>
                          <a:ea typeface="Calibri" pitchFamily="34" charset="-122"/>
                          <a:cs typeface="Calibri" pitchFamily="34" charset="-120"/>
                        </a:rPr>
                        <a:t>1,000 simulated events through the real validator</a:t>
                      </a:r>
                      <a:endParaRPr lang="en-US" sz="12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extLst>
                  <a:ext uri="{0D108BD9-81ED-4DB2-BD59-A6C34878D82A}">
                    <a16:rowId xmlns:a16="http://schemas.microsoft.com/office/drawing/2014/main" val="10006"/>
                  </a:ext>
                </a:extLst>
              </a:tr>
            </a:tbl>
          </a:graphicData>
        </a:graphic>
      </p:graphicFrame>
      <p:sp>
        <p:nvSpPr>
          <p:cNvPr id="18" name="Text 15"/>
          <p:cNvSpPr txBox="1"/>
          <p:nvPr/>
        </p:nvSpPr>
        <p:spPr>
          <a:xfrm>
            <a:off x="6675120" y="2926080"/>
            <a:ext cx="4937760" cy="292608"/>
          </a:xfrm>
          <a:prstGeom prst="rect">
            <a:avLst/>
          </a:prstGeom>
          <a:noFill/>
          <a:ln/>
        </p:spPr>
        <p:txBody>
          <a:bodyPr wrap="square" lIns="0" tIns="0" rIns="0" bIns="0" rtlCol="0" anchor="ctr"/>
          <a:lstStyle/>
          <a:p>
            <a:pPr marL="0" indent="0">
              <a:buNone/>
            </a:pPr>
            <a:r>
              <a:rPr lang="en-US" sz="1500" b="1" dirty="0">
                <a:solidFill>
                  <a:srgbClr val="1B2E1B"/>
                </a:solidFill>
                <a:latin typeface="Calibri" pitchFamily="34" charset="0"/>
                <a:ea typeface="Calibri" pitchFamily="34" charset="-122"/>
                <a:cs typeface="Calibri" pitchFamily="34" charset="-120"/>
              </a:rPr>
              <a:t>API suite (no dependencies)</a:t>
            </a:r>
            <a:endParaRPr lang="en-US" sz="15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6675120" y="3291840"/>
          <a:ext cx="2606040" cy="2633472"/>
        </p:xfrm>
        <a:graphic>
          <a:graphicData uri="http://schemas.openxmlformats.org/drawingml/2006/table">
            <a:tbl>
              <a:tblPr/>
              <a:tblGrid>
                <a:gridCol w="187452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tblGrid>
              <a:tr h="32918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Group</a:t>
                      </a:r>
                      <a:endParaRPr lang="en-US" sz="11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3A6888"/>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Checks</a:t>
                      </a:r>
                      <a:endParaRPr lang="en-US" sz="11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3A6888"/>
                    </a:solidFill>
                  </a:tcPr>
                </a:tc>
                <a:extLst>
                  <a:ext uri="{0D108BD9-81ED-4DB2-BD59-A6C34878D82A}">
                    <a16:rowId xmlns:a16="http://schemas.microsoft.com/office/drawing/2014/main" val="10000"/>
                  </a:ext>
                </a:extLst>
              </a:tr>
              <a:tr h="329184">
                <a:tc>
                  <a:txBody>
                    <a:bodyPr/>
                    <a:lstStyle/>
                    <a:p>
                      <a:pPr marL="0" indent="0">
                        <a:buNone/>
                      </a:pPr>
                      <a:r>
                        <a:rPr lang="en-US" sz="1100" dirty="0">
                          <a:solidFill>
                            <a:srgbClr val="1B2E1B"/>
                          </a:solidFill>
                          <a:latin typeface="Calibri" pitchFamily="34" charset="0"/>
                          <a:ea typeface="Calibri" pitchFamily="34" charset="-122"/>
                          <a:cs typeface="Calibri" pitchFamily="34" charset="-120"/>
                        </a:rPr>
                        <a:t>T1 Reachability</a:t>
                      </a:r>
                      <a:endParaRPr lang="en-US" sz="11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E1B"/>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1100" dirty="0">
                          <a:solidFill>
                            <a:srgbClr val="1B2E1B"/>
                          </a:solidFill>
                          <a:latin typeface="Calibri" pitchFamily="34" charset="0"/>
                          <a:ea typeface="Calibri" pitchFamily="34" charset="-122"/>
                          <a:cs typeface="Calibri" pitchFamily="34" charset="-120"/>
                        </a:rPr>
                        <a:t>T2 Authentication</a:t>
                      </a:r>
                      <a:endParaRPr lang="en-US" sz="11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marL="0" indent="0" algn="ctr">
                        <a:buNone/>
                      </a:pPr>
                      <a:r>
                        <a:rPr lang="en-US" sz="1100" dirty="0">
                          <a:solidFill>
                            <a:srgbClr val="1B2E1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extLst>
                  <a:ext uri="{0D108BD9-81ED-4DB2-BD59-A6C34878D82A}">
                    <a16:rowId xmlns:a16="http://schemas.microsoft.com/office/drawing/2014/main" val="10002"/>
                  </a:ext>
                </a:extLst>
              </a:tr>
              <a:tr h="329184">
                <a:tc>
                  <a:txBody>
                    <a:bodyPr/>
                    <a:lstStyle/>
                    <a:p>
                      <a:pPr marL="0" indent="0">
                        <a:buNone/>
                      </a:pPr>
                      <a:r>
                        <a:rPr lang="en-US" sz="1100" b="1" dirty="0">
                          <a:solidFill>
                            <a:srgbClr val="1B2E1B"/>
                          </a:solidFill>
                          <a:latin typeface="Calibri" pitchFamily="34" charset="0"/>
                          <a:ea typeface="Calibri" pitchFamily="34" charset="-122"/>
                          <a:cs typeface="Calibri" pitchFamily="34" charset="-120"/>
                        </a:rPr>
                        <a:t>T3 Authorization</a:t>
                      </a:r>
                      <a:endParaRPr lang="en-US" sz="11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E1B"/>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1100" b="1" dirty="0">
                          <a:solidFill>
                            <a:srgbClr val="1B2E1B"/>
                          </a:solidFill>
                          <a:latin typeface="Calibri" pitchFamily="34" charset="0"/>
                          <a:ea typeface="Calibri" pitchFamily="34" charset="-122"/>
                          <a:cs typeface="Calibri" pitchFamily="34" charset="-120"/>
                        </a:rPr>
                        <a:t>T4 Ingestion</a:t>
                      </a:r>
                      <a:endParaRPr lang="en-US" sz="11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marL="0" indent="0" algn="ctr">
                        <a:buNone/>
                      </a:pPr>
                      <a:r>
                        <a:rPr lang="en-US" sz="1100" dirty="0">
                          <a:solidFill>
                            <a:srgbClr val="1B2E1B"/>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extLst>
                  <a:ext uri="{0D108BD9-81ED-4DB2-BD59-A6C34878D82A}">
                    <a16:rowId xmlns:a16="http://schemas.microsoft.com/office/drawing/2014/main" val="10004"/>
                  </a:ext>
                </a:extLst>
              </a:tr>
              <a:tr h="329184">
                <a:tc>
                  <a:txBody>
                    <a:bodyPr/>
                    <a:lstStyle/>
                    <a:p>
                      <a:pPr marL="0" indent="0">
                        <a:buNone/>
                      </a:pPr>
                      <a:r>
                        <a:rPr lang="en-US" sz="1100" dirty="0">
                          <a:solidFill>
                            <a:srgbClr val="1B2E1B"/>
                          </a:solidFill>
                          <a:latin typeface="Calibri" pitchFamily="34" charset="0"/>
                          <a:ea typeface="Calibri" pitchFamily="34" charset="-122"/>
                          <a:cs typeface="Calibri" pitchFamily="34" charset="-120"/>
                        </a:rPr>
                        <a:t>T5 Invalid input</a:t>
                      </a:r>
                      <a:endParaRPr lang="en-US" sz="11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E1B"/>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buNone/>
                      </a:pPr>
                      <a:r>
                        <a:rPr lang="en-US" sz="1100" dirty="0">
                          <a:solidFill>
                            <a:srgbClr val="1B2E1B"/>
                          </a:solidFill>
                          <a:latin typeface="Calibri" pitchFamily="34" charset="0"/>
                          <a:ea typeface="Calibri" pitchFamily="34" charset="-122"/>
                          <a:cs typeface="Calibri" pitchFamily="34" charset="-120"/>
                        </a:rPr>
                        <a:t>T6 Queries &amp; stats</a:t>
                      </a:r>
                      <a:endParaRPr lang="en-US" sz="11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marL="0" indent="0" algn="ctr">
                        <a:buNone/>
                      </a:pPr>
                      <a:r>
                        <a:rPr lang="en-US" sz="1100" dirty="0">
                          <a:solidFill>
                            <a:srgbClr val="1B2E1B"/>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extLst>
                  <a:ext uri="{0D108BD9-81ED-4DB2-BD59-A6C34878D82A}">
                    <a16:rowId xmlns:a16="http://schemas.microsoft.com/office/drawing/2014/main" val="10006"/>
                  </a:ext>
                </a:extLst>
              </a:tr>
              <a:tr h="329184">
                <a:tc>
                  <a:txBody>
                    <a:bodyPr/>
                    <a:lstStyle/>
                    <a:p>
                      <a:pPr marL="0" indent="0">
                        <a:buNone/>
                      </a:pPr>
                      <a:r>
                        <a:rPr lang="en-US" sz="1100" dirty="0">
                          <a:solidFill>
                            <a:srgbClr val="1B2E1B"/>
                          </a:solidFill>
                          <a:latin typeface="Calibri" pitchFamily="34" charset="0"/>
                          <a:ea typeface="Calibri" pitchFamily="34" charset="-122"/>
                          <a:cs typeface="Calibri" pitchFamily="34" charset="-120"/>
                        </a:rPr>
                        <a:t>T7 End-to-end</a:t>
                      </a:r>
                      <a:endParaRPr lang="en-US" sz="11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E1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20" name="Shape 16"/>
          <p:cNvSpPr/>
          <p:nvPr/>
        </p:nvSpPr>
        <p:spPr>
          <a:xfrm>
            <a:off x="9464040" y="3291840"/>
            <a:ext cx="2148840" cy="2651760"/>
          </a:xfrm>
          <a:prstGeom prst="roundRect">
            <a:avLst>
              <a:gd name="adj" fmla="val 3404"/>
            </a:avLst>
          </a:prstGeom>
          <a:solidFill>
            <a:srgbClr val="E6EEF4"/>
          </a:solidFill>
          <a:ln w="12700">
            <a:solidFill>
              <a:srgbClr val="E6EEF4"/>
            </a:solidFill>
            <a:prstDash val="solid"/>
          </a:ln>
        </p:spPr>
      </p:sp>
      <p:sp>
        <p:nvSpPr>
          <p:cNvPr id="21" name="Text 17"/>
          <p:cNvSpPr txBox="1"/>
          <p:nvPr/>
        </p:nvSpPr>
        <p:spPr>
          <a:xfrm>
            <a:off x="9601200" y="3429000"/>
            <a:ext cx="1920240" cy="2468880"/>
          </a:xfrm>
          <a:prstGeom prst="rect">
            <a:avLst/>
          </a:prstGeom>
          <a:noFill/>
          <a:ln/>
        </p:spPr>
        <p:txBody>
          <a:bodyPr wrap="square" lIns="0" tIns="0" rIns="0" bIns="0" rtlCol="0" anchor="t"/>
          <a:lstStyle/>
          <a:p>
            <a:pPr marL="0" indent="0">
              <a:spcAft>
                <a:spcPts val="400"/>
              </a:spcAft>
              <a:buNone/>
            </a:pPr>
            <a:r>
              <a:rPr lang="en-US" sz="1300" b="1" dirty="0">
                <a:solidFill>
                  <a:srgbClr val="3A6888"/>
                </a:solidFill>
                <a:latin typeface="Calibri" pitchFamily="34" charset="0"/>
                <a:ea typeface="Calibri" pitchFamily="34" charset="-122"/>
                <a:cs typeface="Calibri" pitchFamily="34" charset="-120"/>
              </a:rPr>
              <a:t>Key checks</a:t>
            </a:r>
            <a:endParaRPr lang="en-US" sz="1300" dirty="0"/>
          </a:p>
          <a:p>
            <a:pPr marL="0" indent="0">
              <a:spcAft>
                <a:spcPts val="400"/>
              </a:spcAft>
              <a:buNone/>
            </a:pPr>
            <a:r>
              <a:rPr lang="en-US" sz="1300" b="1" dirty="0">
                <a:solidFill>
                  <a:srgbClr val="1B2E1B"/>
                </a:solidFill>
                <a:latin typeface="Calibri" pitchFamily="34" charset="0"/>
                <a:ea typeface="Calibri" pitchFamily="34" charset="-122"/>
                <a:cs typeface="Calibri" pitchFamily="34" charset="-120"/>
              </a:rPr>
              <a:t>T3: </a:t>
            </a:r>
            <a:r>
              <a:rPr lang="en-US" sz="1300" dirty="0">
                <a:solidFill>
                  <a:srgbClr val="1B2E1B"/>
                </a:solidFill>
                <a:latin typeface="Calibri" pitchFamily="34" charset="0"/>
                <a:ea typeface="Calibri" pitchFamily="34" charset="-122"/>
                <a:cs typeface="Calibri" pitchFamily="34" charset="-120"/>
              </a:rPr>
              <a:t>staff gets 403 on /alerts, 200 on /events</a:t>
            </a:r>
            <a:endParaRPr lang="en-US" sz="1300" dirty="0"/>
          </a:p>
          <a:p>
            <a:pPr marL="0" indent="0">
              <a:spcAft>
                <a:spcPts val="400"/>
              </a:spcAft>
              <a:buNone/>
            </a:pPr>
            <a:r>
              <a:rPr lang="en-US" sz="600" dirty="0">
                <a:solidFill>
                  <a:srgbClr val="1B2E1B"/>
                </a:solidFill>
                <a:latin typeface="Calibri" pitchFamily="34" charset="0"/>
                <a:ea typeface="Calibri" pitchFamily="34" charset="-122"/>
                <a:cs typeface="Calibri" pitchFamily="34" charset="-120"/>
              </a:rPr>
              <a:t> </a:t>
            </a:r>
            <a:endParaRPr lang="en-US" sz="1300" dirty="0"/>
          </a:p>
          <a:p>
            <a:pPr marL="0" indent="0">
              <a:spcAft>
                <a:spcPts val="400"/>
              </a:spcAft>
              <a:buNone/>
            </a:pPr>
            <a:r>
              <a:rPr lang="en-US" sz="1300" b="1" dirty="0">
                <a:solidFill>
                  <a:srgbClr val="1B2E1B"/>
                </a:solidFill>
                <a:latin typeface="Calibri" pitchFamily="34" charset="0"/>
                <a:ea typeface="Calibri" pitchFamily="34" charset="-122"/>
                <a:cs typeface="Calibri" pitchFamily="34" charset="-120"/>
              </a:rPr>
              <a:t>T4.4: </a:t>
            </a:r>
            <a:r>
              <a:rPr lang="en-US" sz="1300" dirty="0">
                <a:solidFill>
                  <a:srgbClr val="1B2E1B"/>
                </a:solidFill>
                <a:latin typeface="Calibri" pitchFamily="34" charset="0"/>
                <a:ea typeface="Calibri" pitchFamily="34" charset="-122"/>
                <a:cs typeface="Calibri" pitchFamily="34" charset="-120"/>
              </a:rPr>
              <a:t>client sends normal, server returns critical</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E6E5E"/>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595360" cy="685800"/>
          </a:xfrm>
          <a:prstGeom prst="rect">
            <a:avLst/>
          </a:prstGeom>
          <a:noFill/>
          <a:ln/>
        </p:spPr>
        <p:txBody>
          <a:bodyPr wrap="square" lIns="0" tIns="0" rIns="0" bIns="0" rtlCol="0" anchor="ctr"/>
          <a:lstStyle/>
          <a:p>
            <a:pPr marL="0" indent="0" algn="l">
              <a:buNone/>
            </a:pPr>
            <a:r>
              <a:rPr lang="en-US" sz="3200" b="1" dirty="0">
                <a:solidFill>
                  <a:srgbClr val="2A7A4A"/>
                </a:solidFill>
                <a:latin typeface="Cambria" pitchFamily="34" charset="0"/>
                <a:ea typeface="Cambria" pitchFamily="34" charset="-122"/>
                <a:cs typeface="Cambria" pitchFamily="34" charset="-120"/>
              </a:rPr>
              <a:t>Live demo</a:t>
            </a:r>
            <a:endParaRPr lang="en-US" sz="3200" dirty="0"/>
          </a:p>
        </p:txBody>
      </p:sp>
      <p:sp>
        <p:nvSpPr>
          <p:cNvPr id="7" name="Shape 5"/>
          <p:cNvSpPr/>
          <p:nvPr/>
        </p:nvSpPr>
        <p:spPr>
          <a:xfrm>
            <a:off x="548640" y="1234440"/>
            <a:ext cx="7315200" cy="1005840"/>
          </a:xfrm>
          <a:prstGeom prst="roundRect">
            <a:avLst>
              <a:gd name="adj" fmla="val 7273"/>
            </a:avLst>
          </a:prstGeom>
          <a:solidFill>
            <a:srgbClr val="FFFFFF"/>
          </a:solidFill>
          <a:ln w="12700">
            <a:solidFill>
              <a:srgbClr val="C8D5C8"/>
            </a:solidFill>
            <a:prstDash val="solid"/>
          </a:ln>
        </p:spPr>
      </p:sp>
      <p:sp>
        <p:nvSpPr>
          <p:cNvPr id="8" name="Shape 6"/>
          <p:cNvSpPr/>
          <p:nvPr/>
        </p:nvSpPr>
        <p:spPr>
          <a:xfrm>
            <a:off x="548640" y="1234440"/>
            <a:ext cx="685800" cy="1005840"/>
          </a:xfrm>
          <a:prstGeom prst="roundRect">
            <a:avLst>
              <a:gd name="adj" fmla="val 10667"/>
            </a:avLst>
          </a:prstGeom>
          <a:solidFill>
            <a:srgbClr val="3A6888"/>
          </a:solidFill>
          <a:ln w="12700">
            <a:solidFill>
              <a:srgbClr val="3A6888"/>
            </a:solidFill>
            <a:prstDash val="solid"/>
          </a:ln>
        </p:spPr>
      </p:sp>
      <p:sp>
        <p:nvSpPr>
          <p:cNvPr id="9" name="Text 7"/>
          <p:cNvSpPr txBox="1"/>
          <p:nvPr/>
        </p:nvSpPr>
        <p:spPr>
          <a:xfrm>
            <a:off x="548640" y="1234440"/>
            <a:ext cx="685800" cy="10058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pic>
        <p:nvPicPr>
          <p:cNvPr id="10" name="Image 0" descr="preencoded.png"/>
          <p:cNvPicPr>
            <a:picLocks noChangeAspect="1"/>
          </p:cNvPicPr>
          <p:nvPr/>
        </p:nvPicPr>
        <p:blipFill>
          <a:blip r:embed="rId3"/>
          <a:stretch>
            <a:fillRect/>
          </a:stretch>
        </p:blipFill>
        <p:spPr>
          <a:xfrm>
            <a:off x="1463040" y="1508760"/>
            <a:ext cx="457200" cy="457200"/>
          </a:xfrm>
          <a:prstGeom prst="rect">
            <a:avLst/>
          </a:prstGeom>
        </p:spPr>
      </p:pic>
      <p:sp>
        <p:nvSpPr>
          <p:cNvPr id="11" name="Text 8"/>
          <p:cNvSpPr txBox="1"/>
          <p:nvPr/>
        </p:nvSpPr>
        <p:spPr>
          <a:xfrm>
            <a:off x="2148840" y="1371600"/>
            <a:ext cx="4754880" cy="365760"/>
          </a:xfrm>
          <a:prstGeom prst="rect">
            <a:avLst/>
          </a:prstGeom>
          <a:noFill/>
          <a:ln/>
        </p:spPr>
        <p:txBody>
          <a:bodyPr wrap="square" lIns="0" tIns="0" rIns="0" bIns="0" rtlCol="0" anchor="ctr"/>
          <a:lstStyle/>
          <a:p>
            <a:pPr marL="0" indent="0">
              <a:buNone/>
            </a:pPr>
            <a:r>
              <a:rPr lang="en-US" sz="1500" b="1" dirty="0">
                <a:solidFill>
                  <a:srgbClr val="1B2E1B"/>
                </a:solidFill>
                <a:latin typeface="Calibri" pitchFamily="34" charset="0"/>
                <a:ea typeface="Calibri" pitchFamily="34" charset="-122"/>
                <a:cs typeface="Calibri" pitchFamily="34" charset="-120"/>
              </a:rPr>
              <a:t>Dashboard open, signed in as ops</a:t>
            </a:r>
            <a:endParaRPr lang="en-US" sz="1500" dirty="0"/>
          </a:p>
        </p:txBody>
      </p:sp>
      <p:sp>
        <p:nvSpPr>
          <p:cNvPr id="12" name="Text 9"/>
          <p:cNvSpPr txBox="1"/>
          <p:nvPr/>
        </p:nvSpPr>
        <p:spPr>
          <a:xfrm>
            <a:off x="2148840" y="1764792"/>
            <a:ext cx="4754880" cy="347472"/>
          </a:xfrm>
          <a:prstGeom prst="rect">
            <a:avLst/>
          </a:prstGeom>
          <a:noFill/>
          <a:ln/>
        </p:spPr>
        <p:txBody>
          <a:bodyPr wrap="square" lIns="0" tIns="0" rIns="0" bIns="0" rtlCol="0" anchor="ctr"/>
          <a:lstStyle/>
          <a:p>
            <a:pPr marL="0" indent="0">
              <a:buNone/>
            </a:pPr>
            <a:r>
              <a:rPr lang="en-US" sz="1300" dirty="0">
                <a:solidFill>
                  <a:srgbClr val="3E4E3E"/>
                </a:solidFill>
                <a:latin typeface="Calibri" pitchFamily="34" charset="0"/>
                <a:ea typeface="Calibri" pitchFamily="34" charset="-122"/>
                <a:cs typeface="Calibri" pitchFamily="34" charset="-120"/>
              </a:rPr>
              <a:t>Five tiles, alerts, occupancy and energy from earlier runs</a:t>
            </a:r>
            <a:endParaRPr lang="en-US" sz="1300" dirty="0"/>
          </a:p>
        </p:txBody>
      </p:sp>
      <p:sp>
        <p:nvSpPr>
          <p:cNvPr id="13" name="Text 10"/>
          <p:cNvSpPr txBox="1"/>
          <p:nvPr/>
        </p:nvSpPr>
        <p:spPr>
          <a:xfrm>
            <a:off x="6949440" y="1508760"/>
            <a:ext cx="777240" cy="457200"/>
          </a:xfrm>
          <a:prstGeom prst="rect">
            <a:avLst/>
          </a:prstGeom>
          <a:noFill/>
          <a:ln/>
        </p:spPr>
        <p:txBody>
          <a:bodyPr wrap="square" lIns="0" tIns="0" rIns="0" bIns="0" rtlCol="0" anchor="ctr"/>
          <a:lstStyle/>
          <a:p>
            <a:pPr marL="0" indent="0" algn="r">
              <a:buNone/>
            </a:pPr>
            <a:r>
              <a:rPr lang="en-US" sz="1300" b="1" dirty="0">
                <a:solidFill>
                  <a:srgbClr val="3A6888"/>
                </a:solidFill>
                <a:latin typeface="Calibri" pitchFamily="34" charset="0"/>
                <a:ea typeface="Calibri" pitchFamily="34" charset="-122"/>
                <a:cs typeface="Calibri" pitchFamily="34" charset="-120"/>
              </a:rPr>
              <a:t>10 s</a:t>
            </a:r>
            <a:endParaRPr lang="en-US" sz="1300" dirty="0"/>
          </a:p>
        </p:txBody>
      </p:sp>
      <p:sp>
        <p:nvSpPr>
          <p:cNvPr id="14" name="Shape 11"/>
          <p:cNvSpPr/>
          <p:nvPr/>
        </p:nvSpPr>
        <p:spPr>
          <a:xfrm>
            <a:off x="548640" y="2423160"/>
            <a:ext cx="7315200" cy="1005840"/>
          </a:xfrm>
          <a:prstGeom prst="roundRect">
            <a:avLst>
              <a:gd name="adj" fmla="val 7273"/>
            </a:avLst>
          </a:prstGeom>
          <a:solidFill>
            <a:srgbClr val="FFFFFF"/>
          </a:solidFill>
          <a:ln w="12700">
            <a:solidFill>
              <a:srgbClr val="C8D5C8"/>
            </a:solidFill>
            <a:prstDash val="solid"/>
          </a:ln>
        </p:spPr>
      </p:sp>
      <p:sp>
        <p:nvSpPr>
          <p:cNvPr id="15" name="Shape 12"/>
          <p:cNvSpPr/>
          <p:nvPr/>
        </p:nvSpPr>
        <p:spPr>
          <a:xfrm>
            <a:off x="548640" y="2423160"/>
            <a:ext cx="685800" cy="1005840"/>
          </a:xfrm>
          <a:prstGeom prst="roundRect">
            <a:avLst>
              <a:gd name="adj" fmla="val 10667"/>
            </a:avLst>
          </a:prstGeom>
          <a:solidFill>
            <a:srgbClr val="3A6888"/>
          </a:solidFill>
          <a:ln w="12700">
            <a:solidFill>
              <a:srgbClr val="3A6888"/>
            </a:solidFill>
            <a:prstDash val="solid"/>
          </a:ln>
        </p:spPr>
      </p:sp>
      <p:sp>
        <p:nvSpPr>
          <p:cNvPr id="16" name="Text 13"/>
          <p:cNvSpPr txBox="1"/>
          <p:nvPr/>
        </p:nvSpPr>
        <p:spPr>
          <a:xfrm>
            <a:off x="548640" y="2423160"/>
            <a:ext cx="685800" cy="10058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pic>
        <p:nvPicPr>
          <p:cNvPr id="17" name="Image 1" descr="preencoded.png"/>
          <p:cNvPicPr>
            <a:picLocks noChangeAspect="1"/>
          </p:cNvPicPr>
          <p:nvPr/>
        </p:nvPicPr>
        <p:blipFill>
          <a:blip r:embed="rId4"/>
          <a:stretch>
            <a:fillRect/>
          </a:stretch>
        </p:blipFill>
        <p:spPr>
          <a:xfrm>
            <a:off x="1463040" y="2697480"/>
            <a:ext cx="457200" cy="457200"/>
          </a:xfrm>
          <a:prstGeom prst="rect">
            <a:avLst/>
          </a:prstGeom>
        </p:spPr>
      </p:pic>
      <p:sp>
        <p:nvSpPr>
          <p:cNvPr id="18" name="Text 14"/>
          <p:cNvSpPr txBox="1"/>
          <p:nvPr/>
        </p:nvSpPr>
        <p:spPr>
          <a:xfrm>
            <a:off x="2148840" y="2560320"/>
            <a:ext cx="4754880" cy="365760"/>
          </a:xfrm>
          <a:prstGeom prst="rect">
            <a:avLst/>
          </a:prstGeom>
          <a:noFill/>
          <a:ln/>
        </p:spPr>
        <p:txBody>
          <a:bodyPr wrap="square" lIns="0" tIns="0" rIns="0" bIns="0" rtlCol="0" anchor="ctr"/>
          <a:lstStyle/>
          <a:p>
            <a:pPr marL="0" indent="0">
              <a:buNone/>
            </a:pPr>
            <a:r>
              <a:rPr lang="en-US" sz="1500" b="1" dirty="0">
                <a:solidFill>
                  <a:srgbClr val="1B2E1B"/>
                </a:solidFill>
                <a:latin typeface="Calibri" pitchFamily="34" charset="0"/>
                <a:ea typeface="Calibri" pitchFamily="34" charset="-122"/>
                <a:cs typeface="Calibri" pitchFamily="34" charset="-120"/>
              </a:rPr>
              <a:t>Start the simulator</a:t>
            </a:r>
            <a:endParaRPr lang="en-US" sz="1500" dirty="0"/>
          </a:p>
        </p:txBody>
      </p:sp>
      <p:sp>
        <p:nvSpPr>
          <p:cNvPr id="19" name="Text 15"/>
          <p:cNvSpPr txBox="1"/>
          <p:nvPr/>
        </p:nvSpPr>
        <p:spPr>
          <a:xfrm>
            <a:off x="2148840" y="2953512"/>
            <a:ext cx="4754880" cy="347472"/>
          </a:xfrm>
          <a:prstGeom prst="rect">
            <a:avLst/>
          </a:prstGeom>
          <a:noFill/>
          <a:ln/>
        </p:spPr>
        <p:txBody>
          <a:bodyPr wrap="square" lIns="0" tIns="0" rIns="0" bIns="0" rtlCol="0" anchor="ctr"/>
          <a:lstStyle/>
          <a:p>
            <a:pPr marL="0" indent="0">
              <a:buNone/>
            </a:pPr>
            <a:r>
              <a:rPr lang="en-US" sz="1300" dirty="0">
                <a:solidFill>
                  <a:srgbClr val="3E4E3E"/>
                </a:solidFill>
                <a:latin typeface="Calibri" pitchFamily="34" charset="0"/>
                <a:ea typeface="Calibri" pitchFamily="34" charset="-122"/>
                <a:cs typeface="Calibri" pitchFamily="34" charset="-120"/>
              </a:rPr>
              <a:t>Events stream in; tiles update within 10 seconds</a:t>
            </a:r>
            <a:endParaRPr lang="en-US" sz="1300" dirty="0"/>
          </a:p>
        </p:txBody>
      </p:sp>
      <p:sp>
        <p:nvSpPr>
          <p:cNvPr id="20" name="Text 16"/>
          <p:cNvSpPr txBox="1"/>
          <p:nvPr/>
        </p:nvSpPr>
        <p:spPr>
          <a:xfrm>
            <a:off x="6949440" y="2697480"/>
            <a:ext cx="777240" cy="457200"/>
          </a:xfrm>
          <a:prstGeom prst="rect">
            <a:avLst/>
          </a:prstGeom>
          <a:noFill/>
          <a:ln/>
        </p:spPr>
        <p:txBody>
          <a:bodyPr wrap="square" lIns="0" tIns="0" rIns="0" bIns="0" rtlCol="0" anchor="ctr"/>
          <a:lstStyle/>
          <a:p>
            <a:pPr marL="0" indent="0" algn="r">
              <a:buNone/>
            </a:pPr>
            <a:r>
              <a:rPr lang="en-US" sz="1300" b="1" dirty="0">
                <a:solidFill>
                  <a:srgbClr val="3A6888"/>
                </a:solidFill>
                <a:latin typeface="Calibri" pitchFamily="34" charset="0"/>
                <a:ea typeface="Calibri" pitchFamily="34" charset="-122"/>
                <a:cs typeface="Calibri" pitchFamily="34" charset="-120"/>
              </a:rPr>
              <a:t>15 s</a:t>
            </a:r>
            <a:endParaRPr lang="en-US" sz="1300" dirty="0"/>
          </a:p>
        </p:txBody>
      </p:sp>
      <p:sp>
        <p:nvSpPr>
          <p:cNvPr id="21" name="Shape 17"/>
          <p:cNvSpPr/>
          <p:nvPr/>
        </p:nvSpPr>
        <p:spPr>
          <a:xfrm>
            <a:off x="548640" y="3611880"/>
            <a:ext cx="7315200" cy="1005840"/>
          </a:xfrm>
          <a:prstGeom prst="roundRect">
            <a:avLst>
              <a:gd name="adj" fmla="val 7273"/>
            </a:avLst>
          </a:prstGeom>
          <a:solidFill>
            <a:srgbClr val="FFFFFF"/>
          </a:solidFill>
          <a:ln w="12700">
            <a:solidFill>
              <a:srgbClr val="C8D5C8"/>
            </a:solidFill>
            <a:prstDash val="solid"/>
          </a:ln>
        </p:spPr>
      </p:sp>
      <p:sp>
        <p:nvSpPr>
          <p:cNvPr id="22" name="Shape 18"/>
          <p:cNvSpPr/>
          <p:nvPr/>
        </p:nvSpPr>
        <p:spPr>
          <a:xfrm>
            <a:off x="548640" y="3611880"/>
            <a:ext cx="685800" cy="1005840"/>
          </a:xfrm>
          <a:prstGeom prst="roundRect">
            <a:avLst>
              <a:gd name="adj" fmla="val 10667"/>
            </a:avLst>
          </a:prstGeom>
          <a:solidFill>
            <a:srgbClr val="3A6888"/>
          </a:solidFill>
          <a:ln w="12700">
            <a:solidFill>
              <a:srgbClr val="3A6888"/>
            </a:solidFill>
            <a:prstDash val="solid"/>
          </a:ln>
        </p:spPr>
      </p:sp>
      <p:sp>
        <p:nvSpPr>
          <p:cNvPr id="23" name="Text 19"/>
          <p:cNvSpPr txBox="1"/>
          <p:nvPr/>
        </p:nvSpPr>
        <p:spPr>
          <a:xfrm>
            <a:off x="548640" y="3611880"/>
            <a:ext cx="685800" cy="10058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pic>
        <p:nvPicPr>
          <p:cNvPr id="24" name="Image 2" descr="preencoded.png"/>
          <p:cNvPicPr>
            <a:picLocks noChangeAspect="1"/>
          </p:cNvPicPr>
          <p:nvPr/>
        </p:nvPicPr>
        <p:blipFill>
          <a:blip r:embed="rId5"/>
          <a:stretch>
            <a:fillRect/>
          </a:stretch>
        </p:blipFill>
        <p:spPr>
          <a:xfrm>
            <a:off x="1463040" y="3886200"/>
            <a:ext cx="457200" cy="457200"/>
          </a:xfrm>
          <a:prstGeom prst="rect">
            <a:avLst/>
          </a:prstGeom>
        </p:spPr>
      </p:pic>
      <p:sp>
        <p:nvSpPr>
          <p:cNvPr id="25" name="Text 20"/>
          <p:cNvSpPr txBox="1"/>
          <p:nvPr/>
        </p:nvSpPr>
        <p:spPr>
          <a:xfrm>
            <a:off x="2148840" y="3749040"/>
            <a:ext cx="4754880" cy="365760"/>
          </a:xfrm>
          <a:prstGeom prst="rect">
            <a:avLst/>
          </a:prstGeom>
          <a:noFill/>
          <a:ln/>
        </p:spPr>
        <p:txBody>
          <a:bodyPr wrap="square" lIns="0" tIns="0" rIns="0" bIns="0" rtlCol="0" anchor="ctr"/>
          <a:lstStyle/>
          <a:p>
            <a:pPr marL="0" indent="0">
              <a:buNone/>
            </a:pPr>
            <a:r>
              <a:rPr lang="en-US" sz="1500" b="1" dirty="0">
                <a:solidFill>
                  <a:srgbClr val="1B2E1B"/>
                </a:solidFill>
                <a:latin typeface="Courier New" pitchFamily="34" charset="0"/>
                <a:ea typeface="Courier New" pitchFamily="34" charset="-122"/>
                <a:cs typeface="Courier New" pitchFamily="34" charset="-120"/>
              </a:rPr>
              <a:t>python simulator.py --force-alert -n 1</a:t>
            </a:r>
            <a:endParaRPr lang="en-US" sz="1500" dirty="0"/>
          </a:p>
        </p:txBody>
      </p:sp>
      <p:sp>
        <p:nvSpPr>
          <p:cNvPr id="26" name="Text 21"/>
          <p:cNvSpPr txBox="1"/>
          <p:nvPr/>
        </p:nvSpPr>
        <p:spPr>
          <a:xfrm>
            <a:off x="2148840" y="4142232"/>
            <a:ext cx="4754880" cy="347472"/>
          </a:xfrm>
          <a:prstGeom prst="rect">
            <a:avLst/>
          </a:prstGeom>
          <a:noFill/>
          <a:ln/>
        </p:spPr>
        <p:txBody>
          <a:bodyPr wrap="square" lIns="0" tIns="0" rIns="0" bIns="0" rtlCol="0" anchor="ctr"/>
          <a:lstStyle/>
          <a:p>
            <a:pPr marL="0" indent="0">
              <a:buNone/>
            </a:pPr>
            <a:r>
              <a:rPr lang="en-US" sz="1300" dirty="0">
                <a:solidFill>
                  <a:srgbClr val="3E4E3E"/>
                </a:solidFill>
                <a:latin typeface="Calibri" pitchFamily="34" charset="0"/>
                <a:ea typeface="Calibri" pitchFamily="34" charset="-122"/>
                <a:cs typeface="Calibri" pitchFamily="34" charset="-120"/>
              </a:rPr>
              <a:t>A red CRITICAL row appears with its reason</a:t>
            </a:r>
            <a:endParaRPr lang="en-US" sz="1300" dirty="0"/>
          </a:p>
        </p:txBody>
      </p:sp>
      <p:sp>
        <p:nvSpPr>
          <p:cNvPr id="27" name="Text 22"/>
          <p:cNvSpPr txBox="1"/>
          <p:nvPr/>
        </p:nvSpPr>
        <p:spPr>
          <a:xfrm>
            <a:off x="6949440" y="3886200"/>
            <a:ext cx="777240" cy="457200"/>
          </a:xfrm>
          <a:prstGeom prst="rect">
            <a:avLst/>
          </a:prstGeom>
          <a:noFill/>
          <a:ln/>
        </p:spPr>
        <p:txBody>
          <a:bodyPr wrap="square" lIns="0" tIns="0" rIns="0" bIns="0" rtlCol="0" anchor="ctr"/>
          <a:lstStyle/>
          <a:p>
            <a:pPr marL="0" indent="0" algn="r">
              <a:buNone/>
            </a:pPr>
            <a:r>
              <a:rPr lang="en-US" sz="1300" b="1" dirty="0">
                <a:solidFill>
                  <a:srgbClr val="3A6888"/>
                </a:solidFill>
                <a:latin typeface="Calibri" pitchFamily="34" charset="0"/>
                <a:ea typeface="Calibri" pitchFamily="34" charset="-122"/>
                <a:cs typeface="Calibri" pitchFamily="34" charset="-120"/>
              </a:rPr>
              <a:t>15 s</a:t>
            </a:r>
            <a:endParaRPr lang="en-US" sz="1300" dirty="0"/>
          </a:p>
        </p:txBody>
      </p:sp>
      <p:sp>
        <p:nvSpPr>
          <p:cNvPr id="28" name="Shape 23"/>
          <p:cNvSpPr/>
          <p:nvPr/>
        </p:nvSpPr>
        <p:spPr>
          <a:xfrm>
            <a:off x="548640" y="4800600"/>
            <a:ext cx="7315200" cy="1005840"/>
          </a:xfrm>
          <a:prstGeom prst="roundRect">
            <a:avLst>
              <a:gd name="adj" fmla="val 7273"/>
            </a:avLst>
          </a:prstGeom>
          <a:solidFill>
            <a:srgbClr val="FFFFFF"/>
          </a:solidFill>
          <a:ln w="12700">
            <a:solidFill>
              <a:srgbClr val="C8D5C8"/>
            </a:solidFill>
            <a:prstDash val="solid"/>
          </a:ln>
        </p:spPr>
      </p:sp>
      <p:sp>
        <p:nvSpPr>
          <p:cNvPr id="29" name="Shape 24"/>
          <p:cNvSpPr/>
          <p:nvPr/>
        </p:nvSpPr>
        <p:spPr>
          <a:xfrm>
            <a:off x="548640" y="4800600"/>
            <a:ext cx="685800" cy="1005840"/>
          </a:xfrm>
          <a:prstGeom prst="roundRect">
            <a:avLst>
              <a:gd name="adj" fmla="val 10667"/>
            </a:avLst>
          </a:prstGeom>
          <a:solidFill>
            <a:srgbClr val="3A6888"/>
          </a:solidFill>
          <a:ln w="12700">
            <a:solidFill>
              <a:srgbClr val="3A6888"/>
            </a:solidFill>
            <a:prstDash val="solid"/>
          </a:ln>
        </p:spPr>
      </p:sp>
      <p:sp>
        <p:nvSpPr>
          <p:cNvPr id="30" name="Text 25"/>
          <p:cNvSpPr txBox="1"/>
          <p:nvPr/>
        </p:nvSpPr>
        <p:spPr>
          <a:xfrm>
            <a:off x="548640" y="4800600"/>
            <a:ext cx="685800" cy="100584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4</a:t>
            </a:r>
            <a:endParaRPr lang="en-US" sz="2600" dirty="0"/>
          </a:p>
        </p:txBody>
      </p:sp>
      <p:pic>
        <p:nvPicPr>
          <p:cNvPr id="31" name="Image 3" descr="preencoded.png"/>
          <p:cNvPicPr>
            <a:picLocks noChangeAspect="1"/>
          </p:cNvPicPr>
          <p:nvPr/>
        </p:nvPicPr>
        <p:blipFill>
          <a:blip r:embed="rId6"/>
          <a:stretch>
            <a:fillRect/>
          </a:stretch>
        </p:blipFill>
        <p:spPr>
          <a:xfrm>
            <a:off x="1463040" y="5074920"/>
            <a:ext cx="457200" cy="457200"/>
          </a:xfrm>
          <a:prstGeom prst="rect">
            <a:avLst/>
          </a:prstGeom>
        </p:spPr>
      </p:pic>
      <p:sp>
        <p:nvSpPr>
          <p:cNvPr id="32" name="Text 26"/>
          <p:cNvSpPr txBox="1"/>
          <p:nvPr/>
        </p:nvSpPr>
        <p:spPr>
          <a:xfrm>
            <a:off x="2148840" y="4937760"/>
            <a:ext cx="4754880" cy="365760"/>
          </a:xfrm>
          <a:prstGeom prst="rect">
            <a:avLst/>
          </a:prstGeom>
          <a:noFill/>
          <a:ln/>
        </p:spPr>
        <p:txBody>
          <a:bodyPr wrap="square" lIns="0" tIns="0" rIns="0" bIns="0" rtlCol="0" anchor="ctr"/>
          <a:lstStyle/>
          <a:p>
            <a:pPr marL="0" indent="0">
              <a:buNone/>
            </a:pPr>
            <a:r>
              <a:rPr lang="en-US" sz="1500" b="1" dirty="0">
                <a:solidFill>
                  <a:srgbClr val="1B2E1B"/>
                </a:solidFill>
                <a:latin typeface="Calibri" pitchFamily="34" charset="0"/>
                <a:ea typeface="Calibri" pitchFamily="34" charset="-122"/>
                <a:cs typeface="Calibri" pitchFamily="34" charset="-120"/>
              </a:rPr>
              <a:t>Sign in as staff</a:t>
            </a:r>
            <a:endParaRPr lang="en-US" sz="1500" dirty="0"/>
          </a:p>
        </p:txBody>
      </p:sp>
      <p:sp>
        <p:nvSpPr>
          <p:cNvPr id="33" name="Text 27"/>
          <p:cNvSpPr txBox="1"/>
          <p:nvPr/>
        </p:nvSpPr>
        <p:spPr>
          <a:xfrm>
            <a:off x="2148840" y="5330952"/>
            <a:ext cx="4754880" cy="347472"/>
          </a:xfrm>
          <a:prstGeom prst="rect">
            <a:avLst/>
          </a:prstGeom>
          <a:noFill/>
          <a:ln/>
        </p:spPr>
        <p:txBody>
          <a:bodyPr wrap="square" lIns="0" tIns="0" rIns="0" bIns="0" rtlCol="0" anchor="ctr"/>
          <a:lstStyle/>
          <a:p>
            <a:pPr marL="0" indent="0">
              <a:buNone/>
            </a:pPr>
            <a:r>
              <a:rPr lang="en-US" sz="1300" dirty="0">
                <a:solidFill>
                  <a:srgbClr val="3E4E3E"/>
                </a:solidFill>
                <a:latin typeface="Calibri" pitchFamily="34" charset="0"/>
                <a:ea typeface="Calibri" pitchFamily="34" charset="-122"/>
                <a:cs typeface="Calibri" pitchFamily="34" charset="-120"/>
              </a:rPr>
              <a:t>The alerts panel is gone; /alerts returns 403</a:t>
            </a:r>
            <a:endParaRPr lang="en-US" sz="1300" dirty="0"/>
          </a:p>
        </p:txBody>
      </p:sp>
      <p:sp>
        <p:nvSpPr>
          <p:cNvPr id="34" name="Text 28"/>
          <p:cNvSpPr txBox="1"/>
          <p:nvPr/>
        </p:nvSpPr>
        <p:spPr>
          <a:xfrm>
            <a:off x="6949440" y="5074920"/>
            <a:ext cx="777240" cy="457200"/>
          </a:xfrm>
          <a:prstGeom prst="rect">
            <a:avLst/>
          </a:prstGeom>
          <a:noFill/>
          <a:ln/>
        </p:spPr>
        <p:txBody>
          <a:bodyPr wrap="square" lIns="0" tIns="0" rIns="0" bIns="0" rtlCol="0" anchor="ctr"/>
          <a:lstStyle/>
          <a:p>
            <a:pPr marL="0" indent="0" algn="r">
              <a:buNone/>
            </a:pPr>
            <a:r>
              <a:rPr lang="en-US" sz="1300" b="1" dirty="0">
                <a:solidFill>
                  <a:srgbClr val="3A6888"/>
                </a:solidFill>
                <a:latin typeface="Calibri" pitchFamily="34" charset="0"/>
                <a:ea typeface="Calibri" pitchFamily="34" charset="-122"/>
                <a:cs typeface="Calibri" pitchFamily="34" charset="-120"/>
              </a:rPr>
              <a:t>15 s</a:t>
            </a:r>
            <a:endParaRPr lang="en-US" sz="1300" dirty="0"/>
          </a:p>
        </p:txBody>
      </p:sp>
      <p:sp>
        <p:nvSpPr>
          <p:cNvPr id="35" name="Shape 29"/>
          <p:cNvSpPr/>
          <p:nvPr/>
        </p:nvSpPr>
        <p:spPr>
          <a:xfrm>
            <a:off x="8229600" y="1234440"/>
            <a:ext cx="3383280" cy="2194560"/>
          </a:xfrm>
          <a:prstGeom prst="roundRect">
            <a:avLst>
              <a:gd name="adj" fmla="val 3333"/>
            </a:avLst>
          </a:prstGeom>
          <a:solidFill>
            <a:srgbClr val="E6EEF4"/>
          </a:solidFill>
          <a:ln w="12700">
            <a:solidFill>
              <a:srgbClr val="E6EEF4"/>
            </a:solidFill>
            <a:prstDash val="solid"/>
          </a:ln>
        </p:spPr>
      </p:sp>
      <p:sp>
        <p:nvSpPr>
          <p:cNvPr id="36" name="Shape 30"/>
          <p:cNvSpPr/>
          <p:nvPr/>
        </p:nvSpPr>
        <p:spPr>
          <a:xfrm>
            <a:off x="8458200" y="1417320"/>
            <a:ext cx="502920" cy="502920"/>
          </a:xfrm>
          <a:prstGeom prst="ellipse">
            <a:avLst/>
          </a:prstGeom>
          <a:solidFill>
            <a:srgbClr val="3A6888"/>
          </a:solidFill>
          <a:ln w="12700">
            <a:solidFill>
              <a:srgbClr val="3A6888"/>
            </a:solidFill>
            <a:prstDash val="solid"/>
          </a:ln>
        </p:spPr>
      </p:sp>
      <p:pic>
        <p:nvPicPr>
          <p:cNvPr id="37" name="Image 4" descr="preencoded.png"/>
          <p:cNvPicPr>
            <a:picLocks noChangeAspect="1"/>
          </p:cNvPicPr>
          <p:nvPr/>
        </p:nvPicPr>
        <p:blipFill>
          <a:blip r:embed="rId7"/>
          <a:stretch>
            <a:fillRect/>
          </a:stretch>
        </p:blipFill>
        <p:spPr>
          <a:xfrm>
            <a:off x="8568842" y="1527962"/>
            <a:ext cx="281635" cy="281635"/>
          </a:xfrm>
          <a:prstGeom prst="rect">
            <a:avLst/>
          </a:prstGeom>
        </p:spPr>
      </p:pic>
      <p:sp>
        <p:nvSpPr>
          <p:cNvPr id="38" name="Text 31"/>
          <p:cNvSpPr txBox="1"/>
          <p:nvPr/>
        </p:nvSpPr>
        <p:spPr>
          <a:xfrm>
            <a:off x="9098280" y="1463040"/>
            <a:ext cx="2377440" cy="411480"/>
          </a:xfrm>
          <a:prstGeom prst="rect">
            <a:avLst/>
          </a:prstGeom>
          <a:noFill/>
          <a:ln/>
        </p:spPr>
        <p:txBody>
          <a:bodyPr wrap="square" lIns="0" tIns="0" rIns="0" bIns="0" rtlCol="0" anchor="ctr"/>
          <a:lstStyle/>
          <a:p>
            <a:pPr marL="0" indent="0">
              <a:buNone/>
            </a:pPr>
            <a:r>
              <a:rPr lang="en-US" sz="1700" b="1" dirty="0">
                <a:solidFill>
                  <a:srgbClr val="3A6888"/>
                </a:solidFill>
                <a:latin typeface="Calibri" pitchFamily="34" charset="0"/>
                <a:ea typeface="Calibri" pitchFamily="34" charset="-122"/>
                <a:cs typeface="Calibri" pitchFamily="34" charset="-120"/>
              </a:rPr>
              <a:t>About 1 minute</a:t>
            </a:r>
            <a:endParaRPr lang="en-US" sz="1700" dirty="0"/>
          </a:p>
        </p:txBody>
      </p:sp>
      <p:sp>
        <p:nvSpPr>
          <p:cNvPr id="39" name="Text 32"/>
          <p:cNvSpPr txBox="1"/>
          <p:nvPr/>
        </p:nvSpPr>
        <p:spPr>
          <a:xfrm>
            <a:off x="8458200" y="2057400"/>
            <a:ext cx="2971800" cy="1280160"/>
          </a:xfrm>
          <a:prstGeom prst="rect">
            <a:avLst/>
          </a:prstGeom>
          <a:noFill/>
          <a:ln/>
        </p:spPr>
        <p:txBody>
          <a:bodyPr wrap="square" lIns="0" tIns="0" rIns="0" bIns="0" rtlCol="0" anchor="t"/>
          <a:lstStyle/>
          <a:p>
            <a:pPr marL="0" indent="0">
              <a:buNone/>
            </a:pPr>
            <a:r>
              <a:rPr lang="en-US" sz="1300" dirty="0">
                <a:solidFill>
                  <a:srgbClr val="3E4E3E"/>
                </a:solidFill>
                <a:latin typeface="Calibri" pitchFamily="34" charset="0"/>
                <a:ea typeface="Calibri" pitchFamily="34" charset="-122"/>
                <a:cs typeface="Calibri" pitchFamily="34" charset="-120"/>
              </a:rPr>
              <a:t>Smoke test run 30 minutes before, which also warms up the Lambdas so the first call is not a cold start.</a:t>
            </a:r>
            <a:endParaRPr lang="en-US" sz="1300" dirty="0"/>
          </a:p>
        </p:txBody>
      </p:sp>
      <p:sp>
        <p:nvSpPr>
          <p:cNvPr id="40" name="Shape 33"/>
          <p:cNvSpPr/>
          <p:nvPr/>
        </p:nvSpPr>
        <p:spPr>
          <a:xfrm>
            <a:off x="8229600" y="3657600"/>
            <a:ext cx="3383280" cy="2331720"/>
          </a:xfrm>
          <a:prstGeom prst="roundRect">
            <a:avLst>
              <a:gd name="adj" fmla="val 3137"/>
            </a:avLst>
          </a:prstGeom>
          <a:solidFill>
            <a:srgbClr val="FBEFE2"/>
          </a:solidFill>
          <a:ln w="12700">
            <a:solidFill>
              <a:srgbClr val="E8CFA0"/>
            </a:solidFill>
            <a:prstDash val="solid"/>
          </a:ln>
        </p:spPr>
      </p:sp>
      <p:sp>
        <p:nvSpPr>
          <p:cNvPr id="41" name="Shape 34"/>
          <p:cNvSpPr/>
          <p:nvPr/>
        </p:nvSpPr>
        <p:spPr>
          <a:xfrm>
            <a:off x="8458200" y="3840480"/>
            <a:ext cx="502920" cy="502920"/>
          </a:xfrm>
          <a:prstGeom prst="ellipse">
            <a:avLst/>
          </a:prstGeom>
          <a:solidFill>
            <a:srgbClr val="B05E10"/>
          </a:solidFill>
          <a:ln w="12700">
            <a:solidFill>
              <a:srgbClr val="B05E10"/>
            </a:solidFill>
            <a:prstDash val="solid"/>
          </a:ln>
        </p:spPr>
      </p:sp>
      <p:pic>
        <p:nvPicPr>
          <p:cNvPr id="42" name="Image 5" descr="preencoded.png"/>
          <p:cNvPicPr>
            <a:picLocks noChangeAspect="1"/>
          </p:cNvPicPr>
          <p:nvPr/>
        </p:nvPicPr>
        <p:blipFill>
          <a:blip r:embed="rId8"/>
          <a:stretch>
            <a:fillRect/>
          </a:stretch>
        </p:blipFill>
        <p:spPr>
          <a:xfrm>
            <a:off x="8568842" y="3951122"/>
            <a:ext cx="281635" cy="281635"/>
          </a:xfrm>
          <a:prstGeom prst="rect">
            <a:avLst/>
          </a:prstGeom>
        </p:spPr>
      </p:pic>
      <p:sp>
        <p:nvSpPr>
          <p:cNvPr id="43" name="Text 35"/>
          <p:cNvSpPr txBox="1"/>
          <p:nvPr/>
        </p:nvSpPr>
        <p:spPr>
          <a:xfrm>
            <a:off x="9098280" y="3886200"/>
            <a:ext cx="2377440" cy="411480"/>
          </a:xfrm>
          <a:prstGeom prst="rect">
            <a:avLst/>
          </a:prstGeom>
          <a:noFill/>
          <a:ln/>
        </p:spPr>
        <p:txBody>
          <a:bodyPr wrap="square" lIns="0" tIns="0" rIns="0" bIns="0" rtlCol="0" anchor="ctr"/>
          <a:lstStyle/>
          <a:p>
            <a:pPr marL="0" indent="0">
              <a:buNone/>
            </a:pPr>
            <a:r>
              <a:rPr lang="en-US" sz="1700" b="1" dirty="0">
                <a:solidFill>
                  <a:srgbClr val="B05E10"/>
                </a:solidFill>
                <a:latin typeface="Calibri" pitchFamily="34" charset="0"/>
                <a:ea typeface="Calibri" pitchFamily="34" charset="-122"/>
                <a:cs typeface="Calibri" pitchFamily="34" charset="-120"/>
              </a:rPr>
              <a:t>If anything fails</a:t>
            </a:r>
            <a:endParaRPr lang="en-US" sz="1700" dirty="0"/>
          </a:p>
        </p:txBody>
      </p:sp>
      <p:sp>
        <p:nvSpPr>
          <p:cNvPr id="44" name="Text 36"/>
          <p:cNvSpPr txBox="1"/>
          <p:nvPr/>
        </p:nvSpPr>
        <p:spPr>
          <a:xfrm>
            <a:off x="8458200" y="4480560"/>
            <a:ext cx="2971800" cy="1371600"/>
          </a:xfrm>
          <a:prstGeom prst="rect">
            <a:avLst/>
          </a:prstGeom>
          <a:noFill/>
          <a:ln/>
        </p:spPr>
        <p:txBody>
          <a:bodyPr wrap="square" lIns="0" tIns="0" rIns="0" bIns="0" rtlCol="0" anchor="t"/>
          <a:lstStyle/>
          <a:p>
            <a:pPr marL="0" indent="0">
              <a:buNone/>
            </a:pPr>
            <a:r>
              <a:rPr lang="en-US" sz="1300" dirty="0">
                <a:solidFill>
                  <a:srgbClr val="5A4A3A"/>
                </a:solidFill>
                <a:latin typeface="Calibri" pitchFamily="34" charset="0"/>
                <a:ea typeface="Calibri" pitchFamily="34" charset="-122"/>
                <a:cs typeface="Calibri" pitchFamily="34" charset="-120"/>
              </a:rPr>
              <a:t>Switch to the recorded backup video and the evidence screenshots on the next slides. No live debugging on stage.</a:t>
            </a:r>
            <a:endParaRPr lang="en-US" sz="1300" dirty="0"/>
          </a:p>
        </p:txBody>
      </p:sp>
      <p:sp>
        <p:nvSpPr>
          <p:cNvPr id="4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E6E5E"/>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595360" cy="685800"/>
          </a:xfrm>
          <a:prstGeom prst="rect">
            <a:avLst/>
          </a:prstGeom>
          <a:noFill/>
          <a:ln/>
        </p:spPr>
        <p:txBody>
          <a:bodyPr wrap="square" lIns="0" tIns="0" rIns="0" bIns="0" rtlCol="0" anchor="ctr"/>
          <a:lstStyle/>
          <a:p>
            <a:pPr marL="0" indent="0" algn="l">
              <a:buNone/>
            </a:pPr>
            <a:r>
              <a:rPr lang="en-US" sz="3200" b="1" dirty="0">
                <a:solidFill>
                  <a:srgbClr val="2A7A4A"/>
                </a:solidFill>
                <a:latin typeface="Cambria" pitchFamily="34" charset="0"/>
                <a:ea typeface="Cambria" pitchFamily="34" charset="-122"/>
                <a:cs typeface="Cambria" pitchFamily="34" charset="-120"/>
              </a:rPr>
              <a:t>The operations dashboard</a:t>
            </a:r>
            <a:endParaRPr lang="en-US" sz="3200" dirty="0"/>
          </a:p>
        </p:txBody>
      </p:sp>
      <p:sp>
        <p:nvSpPr>
          <p:cNvPr id="3" name="Shape 1"/>
          <p:cNvSpPr/>
          <p:nvPr/>
        </p:nvSpPr>
        <p:spPr>
          <a:xfrm>
            <a:off x="9281160" y="429768"/>
            <a:ext cx="2377440" cy="457200"/>
          </a:xfrm>
          <a:prstGeom prst="roundRect">
            <a:avLst>
              <a:gd name="adj" fmla="val 50000"/>
            </a:avLst>
          </a:prstGeom>
          <a:solidFill>
            <a:srgbClr val="FFFFFF"/>
          </a:solidFill>
          <a:ln w="15875">
            <a:solidFill>
              <a:srgbClr val="B05E10"/>
            </a:solidFill>
            <a:prstDash val="solid"/>
          </a:ln>
        </p:spPr>
      </p:sp>
      <p:sp>
        <p:nvSpPr>
          <p:cNvPr id="4" name="Shape 2"/>
          <p:cNvSpPr/>
          <p:nvPr/>
        </p:nvSpPr>
        <p:spPr>
          <a:xfrm>
            <a:off x="9326880" y="475488"/>
            <a:ext cx="365760" cy="365760"/>
          </a:xfrm>
          <a:prstGeom prst="ellipse">
            <a:avLst/>
          </a:prstGeom>
          <a:solidFill>
            <a:srgbClr val="B05E10"/>
          </a:solidFill>
          <a:ln w="12700">
            <a:solidFill>
              <a:srgbClr val="B05E10"/>
            </a:solidFill>
            <a:prstDash val="solid"/>
          </a:ln>
        </p:spPr>
      </p:sp>
      <p:sp>
        <p:nvSpPr>
          <p:cNvPr id="5" name="Text 3"/>
          <p:cNvSpPr txBox="1"/>
          <p:nvPr/>
        </p:nvSpPr>
        <p:spPr>
          <a:xfrm>
            <a:off x="9326880" y="475488"/>
            <a:ext cx="365760" cy="36576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MD</a:t>
            </a:r>
            <a:endParaRPr lang="en-US" sz="1000" dirty="0"/>
          </a:p>
        </p:txBody>
      </p:sp>
      <p:sp>
        <p:nvSpPr>
          <p:cNvPr id="6" name="Text 4"/>
          <p:cNvSpPr txBox="1"/>
          <p:nvPr/>
        </p:nvSpPr>
        <p:spPr>
          <a:xfrm>
            <a:off x="9784080" y="457200"/>
            <a:ext cx="1828800" cy="402336"/>
          </a:xfrm>
          <a:prstGeom prst="rect">
            <a:avLst/>
          </a:prstGeom>
          <a:noFill/>
          <a:ln/>
        </p:spPr>
        <p:txBody>
          <a:bodyPr wrap="square" lIns="0" tIns="0" rIns="0" bIns="0" rtlCol="0" anchor="ctr"/>
          <a:lstStyle/>
          <a:p>
            <a:pPr marL="0" indent="0">
              <a:buNone/>
            </a:pPr>
            <a:r>
              <a:rPr lang="en-US" sz="1200" b="1" dirty="0" smtClean="0">
                <a:solidFill>
                  <a:srgbClr val="B05E10"/>
                </a:solidFill>
                <a:latin typeface="Calibri" pitchFamily="34" charset="0"/>
                <a:ea typeface="Calibri" pitchFamily="34" charset="-122"/>
                <a:cs typeface="Calibri" pitchFamily="34" charset="-120"/>
              </a:rPr>
              <a:t>MD</a:t>
            </a:r>
            <a:endParaRPr lang="en-US" sz="1200" dirty="0"/>
          </a:p>
        </p:txBody>
      </p:sp>
      <p:sp>
        <p:nvSpPr>
          <p:cNvPr id="7" name="Shape 5"/>
          <p:cNvSpPr/>
          <p:nvPr/>
        </p:nvSpPr>
        <p:spPr>
          <a:xfrm>
            <a:off x="512064" y="1243584"/>
            <a:ext cx="7388352" cy="3273552"/>
          </a:xfrm>
          <a:prstGeom prst="rect">
            <a:avLst/>
          </a:prstGeom>
          <a:solidFill>
            <a:srgbClr val="FFFFFF"/>
          </a:solidFill>
          <a:ln w="9525">
            <a:solidFill>
              <a:srgbClr val="C8D5C8"/>
            </a:solidFill>
            <a:prstDash val="solid"/>
          </a:ln>
        </p:spPr>
      </p:sp>
      <p:pic>
        <p:nvPicPr>
          <p:cNvPr id="8" name="Image 0" descr="preencoded.png"/>
          <p:cNvPicPr>
            <a:picLocks noChangeAspect="1"/>
          </p:cNvPicPr>
          <p:nvPr/>
        </p:nvPicPr>
        <p:blipFill>
          <a:blip r:embed="rId3"/>
          <a:stretch>
            <a:fillRect/>
          </a:stretch>
        </p:blipFill>
        <p:spPr>
          <a:xfrm>
            <a:off x="548640" y="1280160"/>
            <a:ext cx="7315200" cy="3200400"/>
          </a:xfrm>
          <a:prstGeom prst="rect">
            <a:avLst/>
          </a:prstGeom>
        </p:spPr>
      </p:pic>
      <p:sp>
        <p:nvSpPr>
          <p:cNvPr id="9" name="Text 6"/>
          <p:cNvSpPr txBox="1"/>
          <p:nvPr/>
        </p:nvSpPr>
        <p:spPr>
          <a:xfrm>
            <a:off x="548640" y="4553712"/>
            <a:ext cx="7315200" cy="219456"/>
          </a:xfrm>
          <a:prstGeom prst="rect">
            <a:avLst/>
          </a:prstGeom>
          <a:noFill/>
          <a:ln/>
        </p:spPr>
        <p:txBody>
          <a:bodyPr wrap="square" lIns="0" tIns="0" rIns="0" bIns="0" rtlCol="0" anchor="ctr"/>
          <a:lstStyle/>
          <a:p>
            <a:pPr marL="0" indent="0">
              <a:buNone/>
            </a:pPr>
            <a:r>
              <a:rPr lang="en-US" sz="1000" i="1" dirty="0">
                <a:solidFill>
                  <a:srgbClr val="5E6E5E"/>
                </a:solidFill>
                <a:latin typeface="Calibri" pitchFamily="34" charset="0"/>
                <a:ea typeface="Calibri" pitchFamily="34" charset="-122"/>
                <a:cs typeface="Calibri" pitchFamily="34" charset="-120"/>
              </a:rPr>
              <a:t>Live dashboard, signed in as ops, 5 Oct 2026</a:t>
            </a:r>
            <a:endParaRPr lang="en-US" sz="1000" dirty="0"/>
          </a:p>
        </p:txBody>
      </p:sp>
      <p:sp>
        <p:nvSpPr>
          <p:cNvPr id="10" name="Shape 7"/>
          <p:cNvSpPr/>
          <p:nvPr/>
        </p:nvSpPr>
        <p:spPr>
          <a:xfrm>
            <a:off x="8183880" y="1280160"/>
            <a:ext cx="457200" cy="457200"/>
          </a:xfrm>
          <a:prstGeom prst="ellipse">
            <a:avLst/>
          </a:prstGeom>
          <a:solidFill>
            <a:srgbClr val="F7EBDD"/>
          </a:solidFill>
          <a:ln w="12700">
            <a:solidFill>
              <a:srgbClr val="F7EBDD"/>
            </a:solidFill>
            <a:prstDash val="solid"/>
          </a:ln>
        </p:spPr>
      </p:sp>
      <p:pic>
        <p:nvPicPr>
          <p:cNvPr id="11" name="Image 1" descr="preencoded.png"/>
          <p:cNvPicPr>
            <a:picLocks noChangeAspect="1"/>
          </p:cNvPicPr>
          <p:nvPr/>
        </p:nvPicPr>
        <p:blipFill>
          <a:blip r:embed="rId4"/>
          <a:stretch>
            <a:fillRect/>
          </a:stretch>
        </p:blipFill>
        <p:spPr>
          <a:xfrm>
            <a:off x="8284464" y="1380744"/>
            <a:ext cx="256032" cy="256032"/>
          </a:xfrm>
          <a:prstGeom prst="rect">
            <a:avLst/>
          </a:prstGeom>
        </p:spPr>
      </p:pic>
      <p:sp>
        <p:nvSpPr>
          <p:cNvPr id="12" name="Text 8"/>
          <p:cNvSpPr txBox="1"/>
          <p:nvPr/>
        </p:nvSpPr>
        <p:spPr>
          <a:xfrm>
            <a:off x="8778240" y="1234440"/>
            <a:ext cx="2834640" cy="292608"/>
          </a:xfrm>
          <a:prstGeom prst="rect">
            <a:avLst/>
          </a:prstGeom>
          <a:noFill/>
          <a:ln/>
        </p:spPr>
        <p:txBody>
          <a:bodyPr wrap="square" lIns="0" tIns="0" rIns="0" bIns="0" rtlCol="0" anchor="ctr"/>
          <a:lstStyle/>
          <a:p>
            <a:pPr marL="0" indent="0">
              <a:buNone/>
            </a:pPr>
            <a:r>
              <a:rPr lang="en-US" sz="1400" b="1" dirty="0">
                <a:solidFill>
                  <a:srgbClr val="B05E10"/>
                </a:solidFill>
                <a:latin typeface="Calibri" pitchFamily="34" charset="0"/>
                <a:ea typeface="Calibri" pitchFamily="34" charset="-122"/>
                <a:cs typeface="Calibri" pitchFamily="34" charset="-120"/>
              </a:rPr>
              <a:t>Polls every 10 seconds</a:t>
            </a:r>
            <a:endParaRPr lang="en-US" sz="1400" dirty="0"/>
          </a:p>
        </p:txBody>
      </p:sp>
      <p:sp>
        <p:nvSpPr>
          <p:cNvPr id="13" name="Text 9"/>
          <p:cNvSpPr txBox="1"/>
          <p:nvPr/>
        </p:nvSpPr>
        <p:spPr>
          <a:xfrm>
            <a:off x="8778240" y="1536192"/>
            <a:ext cx="2834640" cy="640080"/>
          </a:xfrm>
          <a:prstGeom prst="rect">
            <a:avLst/>
          </a:prstGeom>
          <a:noFill/>
          <a:ln/>
        </p:spPr>
        <p:txBody>
          <a:bodyPr wrap="square" lIns="0" tIns="0" rIns="0" bIns="0" rtlCol="0" anchor="t"/>
          <a:lstStyle/>
          <a:p>
            <a:pPr marL="0" indent="0">
              <a:buNone/>
            </a:pPr>
            <a:r>
              <a:rPr lang="en-US" sz="1150" dirty="0">
                <a:solidFill>
                  <a:srgbClr val="3E4E3E"/>
                </a:solidFill>
                <a:latin typeface="Calibri" pitchFamily="34" charset="0"/>
                <a:ea typeface="Calibri" pitchFamily="34" charset="-122"/>
                <a:cs typeface="Calibri" pitchFamily="34" charset="-120"/>
              </a:rPr>
              <a:t>GET /events, /alerts and /stats</a:t>
            </a:r>
            <a:endParaRPr lang="en-US" sz="1150" dirty="0"/>
          </a:p>
        </p:txBody>
      </p:sp>
      <p:sp>
        <p:nvSpPr>
          <p:cNvPr id="14" name="Shape 10"/>
          <p:cNvSpPr/>
          <p:nvPr/>
        </p:nvSpPr>
        <p:spPr>
          <a:xfrm>
            <a:off x="8183880" y="2267712"/>
            <a:ext cx="457200" cy="457200"/>
          </a:xfrm>
          <a:prstGeom prst="ellipse">
            <a:avLst/>
          </a:prstGeom>
          <a:solidFill>
            <a:srgbClr val="F7EBDD"/>
          </a:solidFill>
          <a:ln w="12700">
            <a:solidFill>
              <a:srgbClr val="F7EBDD"/>
            </a:solidFill>
            <a:prstDash val="solid"/>
          </a:ln>
        </p:spPr>
      </p:sp>
      <p:pic>
        <p:nvPicPr>
          <p:cNvPr id="15" name="Image 2" descr="preencoded.png"/>
          <p:cNvPicPr>
            <a:picLocks noChangeAspect="1"/>
          </p:cNvPicPr>
          <p:nvPr/>
        </p:nvPicPr>
        <p:blipFill>
          <a:blip r:embed="rId5"/>
          <a:stretch>
            <a:fillRect/>
          </a:stretch>
        </p:blipFill>
        <p:spPr>
          <a:xfrm>
            <a:off x="8284464" y="2368296"/>
            <a:ext cx="256032" cy="256032"/>
          </a:xfrm>
          <a:prstGeom prst="rect">
            <a:avLst/>
          </a:prstGeom>
        </p:spPr>
      </p:pic>
      <p:sp>
        <p:nvSpPr>
          <p:cNvPr id="16" name="Text 11"/>
          <p:cNvSpPr txBox="1"/>
          <p:nvPr/>
        </p:nvSpPr>
        <p:spPr>
          <a:xfrm>
            <a:off x="8778240" y="2221992"/>
            <a:ext cx="2834640" cy="292608"/>
          </a:xfrm>
          <a:prstGeom prst="rect">
            <a:avLst/>
          </a:prstGeom>
          <a:noFill/>
          <a:ln/>
        </p:spPr>
        <p:txBody>
          <a:bodyPr wrap="square" lIns="0" tIns="0" rIns="0" bIns="0" rtlCol="0" anchor="ctr"/>
          <a:lstStyle/>
          <a:p>
            <a:pPr marL="0" indent="0">
              <a:buNone/>
            </a:pPr>
            <a:r>
              <a:rPr lang="en-US" sz="1400" b="1" dirty="0">
                <a:solidFill>
                  <a:srgbClr val="B05E10"/>
                </a:solidFill>
                <a:latin typeface="Calibri" pitchFamily="34" charset="0"/>
                <a:ea typeface="Calibri" pitchFamily="34" charset="-122"/>
                <a:cs typeface="Calibri" pitchFamily="34" charset="-120"/>
              </a:rPr>
              <a:t>Stops when nobody looks</a:t>
            </a:r>
            <a:endParaRPr lang="en-US" sz="1400" dirty="0"/>
          </a:p>
        </p:txBody>
      </p:sp>
      <p:sp>
        <p:nvSpPr>
          <p:cNvPr id="17" name="Text 12"/>
          <p:cNvSpPr txBox="1"/>
          <p:nvPr/>
        </p:nvSpPr>
        <p:spPr>
          <a:xfrm>
            <a:off x="8778240" y="2523744"/>
            <a:ext cx="2834640" cy="640080"/>
          </a:xfrm>
          <a:prstGeom prst="rect">
            <a:avLst/>
          </a:prstGeom>
          <a:noFill/>
          <a:ln/>
        </p:spPr>
        <p:txBody>
          <a:bodyPr wrap="square" lIns="0" tIns="0" rIns="0" bIns="0" rtlCol="0" anchor="t"/>
          <a:lstStyle/>
          <a:p>
            <a:pPr marL="0" indent="0">
              <a:buNone/>
            </a:pPr>
            <a:r>
              <a:rPr lang="en-US" sz="1150" dirty="0">
                <a:solidFill>
                  <a:srgbClr val="3E4E3E"/>
                </a:solidFill>
                <a:latin typeface="Calibri" pitchFamily="34" charset="0"/>
                <a:ea typeface="Calibri" pitchFamily="34" charset="-122"/>
                <a:cs typeface="Calibri" pitchFamily="34" charset="-120"/>
              </a:rPr>
              <a:t>Pauses when hidden or after 15 idle minutes: a forgotten tab would cost ~17,000 calls a day</a:t>
            </a:r>
            <a:endParaRPr lang="en-US" sz="1150" dirty="0"/>
          </a:p>
        </p:txBody>
      </p:sp>
      <p:sp>
        <p:nvSpPr>
          <p:cNvPr id="18" name="Shape 13"/>
          <p:cNvSpPr/>
          <p:nvPr/>
        </p:nvSpPr>
        <p:spPr>
          <a:xfrm>
            <a:off x="8183880" y="3255264"/>
            <a:ext cx="457200" cy="457200"/>
          </a:xfrm>
          <a:prstGeom prst="ellipse">
            <a:avLst/>
          </a:prstGeom>
          <a:solidFill>
            <a:srgbClr val="F7EBDD"/>
          </a:solidFill>
          <a:ln w="12700">
            <a:solidFill>
              <a:srgbClr val="F7EBDD"/>
            </a:solidFill>
            <a:prstDash val="solid"/>
          </a:ln>
        </p:spPr>
      </p:sp>
      <p:pic>
        <p:nvPicPr>
          <p:cNvPr id="19" name="Image 3" descr="preencoded.png"/>
          <p:cNvPicPr>
            <a:picLocks noChangeAspect="1"/>
          </p:cNvPicPr>
          <p:nvPr/>
        </p:nvPicPr>
        <p:blipFill>
          <a:blip r:embed="rId6"/>
          <a:stretch>
            <a:fillRect/>
          </a:stretch>
        </p:blipFill>
        <p:spPr>
          <a:xfrm>
            <a:off x="8284464" y="3355848"/>
            <a:ext cx="256032" cy="256032"/>
          </a:xfrm>
          <a:prstGeom prst="rect">
            <a:avLst/>
          </a:prstGeom>
        </p:spPr>
      </p:pic>
      <p:sp>
        <p:nvSpPr>
          <p:cNvPr id="20" name="Text 14"/>
          <p:cNvSpPr txBox="1"/>
          <p:nvPr/>
        </p:nvSpPr>
        <p:spPr>
          <a:xfrm>
            <a:off x="8778240" y="3209544"/>
            <a:ext cx="2834640" cy="292608"/>
          </a:xfrm>
          <a:prstGeom prst="rect">
            <a:avLst/>
          </a:prstGeom>
          <a:noFill/>
          <a:ln/>
        </p:spPr>
        <p:txBody>
          <a:bodyPr wrap="square" lIns="0" tIns="0" rIns="0" bIns="0" rtlCol="0" anchor="ctr"/>
          <a:lstStyle/>
          <a:p>
            <a:pPr marL="0" indent="0">
              <a:buNone/>
            </a:pPr>
            <a:r>
              <a:rPr lang="en-US" sz="1400" b="1" dirty="0">
                <a:solidFill>
                  <a:srgbClr val="B05E10"/>
                </a:solidFill>
                <a:latin typeface="Calibri" pitchFamily="34" charset="0"/>
                <a:ea typeface="Calibri" pitchFamily="34" charset="-122"/>
                <a:cs typeface="Calibri" pitchFamily="34" charset="-120"/>
              </a:rPr>
              <a:t>Role-aware</a:t>
            </a:r>
            <a:endParaRPr lang="en-US" sz="1400" dirty="0"/>
          </a:p>
        </p:txBody>
      </p:sp>
      <p:sp>
        <p:nvSpPr>
          <p:cNvPr id="21" name="Text 15"/>
          <p:cNvSpPr txBox="1"/>
          <p:nvPr/>
        </p:nvSpPr>
        <p:spPr>
          <a:xfrm>
            <a:off x="8778240" y="3511296"/>
            <a:ext cx="2834640" cy="640080"/>
          </a:xfrm>
          <a:prstGeom prst="rect">
            <a:avLst/>
          </a:prstGeom>
          <a:noFill/>
          <a:ln/>
        </p:spPr>
        <p:txBody>
          <a:bodyPr wrap="square" lIns="0" tIns="0" rIns="0" bIns="0" rtlCol="0" anchor="t"/>
          <a:lstStyle/>
          <a:p>
            <a:pPr marL="0" indent="0">
              <a:buNone/>
            </a:pPr>
            <a:r>
              <a:rPr lang="en-US" sz="1150" dirty="0">
                <a:solidFill>
                  <a:srgbClr val="3E4E3E"/>
                </a:solidFill>
                <a:latin typeface="Calibri" pitchFamily="34" charset="0"/>
                <a:ea typeface="Calibri" pitchFamily="34" charset="-122"/>
                <a:cs typeface="Calibri" pitchFamily="34" charset="-120"/>
              </a:rPr>
              <a:t>staff never see the alerts panel; the token lives in sessionStorage, cleared when the tab closes</a:t>
            </a:r>
            <a:endParaRPr lang="en-US" sz="1150" dirty="0"/>
          </a:p>
        </p:txBody>
      </p:sp>
      <p:sp>
        <p:nvSpPr>
          <p:cNvPr id="22" name="Shape 16"/>
          <p:cNvSpPr/>
          <p:nvPr/>
        </p:nvSpPr>
        <p:spPr>
          <a:xfrm>
            <a:off x="8183880" y="4242816"/>
            <a:ext cx="457200" cy="457200"/>
          </a:xfrm>
          <a:prstGeom prst="ellipse">
            <a:avLst/>
          </a:prstGeom>
          <a:solidFill>
            <a:srgbClr val="F7EBDD"/>
          </a:solidFill>
          <a:ln w="12700">
            <a:solidFill>
              <a:srgbClr val="F7EBDD"/>
            </a:solidFill>
            <a:prstDash val="solid"/>
          </a:ln>
        </p:spPr>
      </p:sp>
      <p:pic>
        <p:nvPicPr>
          <p:cNvPr id="23" name="Image 4" descr="preencoded.png"/>
          <p:cNvPicPr>
            <a:picLocks noChangeAspect="1"/>
          </p:cNvPicPr>
          <p:nvPr/>
        </p:nvPicPr>
        <p:blipFill>
          <a:blip r:embed="rId7"/>
          <a:stretch>
            <a:fillRect/>
          </a:stretch>
        </p:blipFill>
        <p:spPr>
          <a:xfrm>
            <a:off x="8284464" y="4343400"/>
            <a:ext cx="256032" cy="256032"/>
          </a:xfrm>
          <a:prstGeom prst="rect">
            <a:avLst/>
          </a:prstGeom>
        </p:spPr>
      </p:pic>
      <p:sp>
        <p:nvSpPr>
          <p:cNvPr id="24" name="Text 17"/>
          <p:cNvSpPr txBox="1"/>
          <p:nvPr/>
        </p:nvSpPr>
        <p:spPr>
          <a:xfrm>
            <a:off x="8778240" y="4197096"/>
            <a:ext cx="2834640" cy="292608"/>
          </a:xfrm>
          <a:prstGeom prst="rect">
            <a:avLst/>
          </a:prstGeom>
          <a:noFill/>
          <a:ln/>
        </p:spPr>
        <p:txBody>
          <a:bodyPr wrap="square" lIns="0" tIns="0" rIns="0" bIns="0" rtlCol="0" anchor="ctr"/>
          <a:lstStyle/>
          <a:p>
            <a:pPr marL="0" indent="0">
              <a:buNone/>
            </a:pPr>
            <a:r>
              <a:rPr lang="en-US" sz="1400" b="1" dirty="0">
                <a:solidFill>
                  <a:srgbClr val="B05E10"/>
                </a:solidFill>
                <a:latin typeface="Calibri" pitchFamily="34" charset="0"/>
                <a:ea typeface="Calibri" pitchFamily="34" charset="-122"/>
                <a:cs typeface="Calibri" pitchFamily="34" charset="-120"/>
              </a:rPr>
              <a:t>Page holds no data</a:t>
            </a:r>
            <a:endParaRPr lang="en-US" sz="1400" dirty="0"/>
          </a:p>
        </p:txBody>
      </p:sp>
      <p:sp>
        <p:nvSpPr>
          <p:cNvPr id="25" name="Text 18"/>
          <p:cNvSpPr txBox="1"/>
          <p:nvPr/>
        </p:nvSpPr>
        <p:spPr>
          <a:xfrm>
            <a:off x="8778240" y="4498848"/>
            <a:ext cx="2834640" cy="640080"/>
          </a:xfrm>
          <a:prstGeom prst="rect">
            <a:avLst/>
          </a:prstGeom>
          <a:noFill/>
          <a:ln/>
        </p:spPr>
        <p:txBody>
          <a:bodyPr wrap="square" lIns="0" tIns="0" rIns="0" bIns="0" rtlCol="0" anchor="t"/>
          <a:lstStyle/>
          <a:p>
            <a:pPr marL="0" indent="0">
              <a:buNone/>
            </a:pPr>
            <a:r>
              <a:rPr lang="en-US" sz="1150" dirty="0">
                <a:solidFill>
                  <a:srgbClr val="3E4E3E"/>
                </a:solidFill>
                <a:latin typeface="Calibri" pitchFamily="34" charset="0"/>
                <a:ea typeface="Calibri" pitchFamily="34" charset="-122"/>
                <a:cs typeface="Calibri" pitchFamily="34" charset="-120"/>
              </a:rPr>
              <a:t>S3 serves HTML, CSS and JS; every number comes from the API</a:t>
            </a:r>
            <a:endParaRPr lang="en-US" sz="1150" dirty="0"/>
          </a:p>
        </p:txBody>
      </p:sp>
      <p:sp>
        <p:nvSpPr>
          <p:cNvPr id="26" name="Shape 19"/>
          <p:cNvSpPr/>
          <p:nvPr/>
        </p:nvSpPr>
        <p:spPr>
          <a:xfrm>
            <a:off x="548640" y="5074920"/>
            <a:ext cx="11064240" cy="1051560"/>
          </a:xfrm>
          <a:prstGeom prst="roundRect">
            <a:avLst>
              <a:gd name="adj" fmla="val 6957"/>
            </a:avLst>
          </a:prstGeom>
          <a:solidFill>
            <a:srgbClr val="FBEFE2"/>
          </a:solidFill>
          <a:ln w="12700">
            <a:solidFill>
              <a:srgbClr val="E8CFA0"/>
            </a:solidFill>
            <a:prstDash val="solid"/>
          </a:ln>
        </p:spPr>
      </p:sp>
      <p:sp>
        <p:nvSpPr>
          <p:cNvPr id="27" name="Text 20"/>
          <p:cNvSpPr txBox="1"/>
          <p:nvPr/>
        </p:nvSpPr>
        <p:spPr>
          <a:xfrm>
            <a:off x="777240" y="5138928"/>
            <a:ext cx="10607040" cy="914400"/>
          </a:xfrm>
          <a:prstGeom prst="rect">
            <a:avLst/>
          </a:prstGeom>
          <a:noFill/>
          <a:ln/>
        </p:spPr>
        <p:txBody>
          <a:bodyPr wrap="square" lIns="0" tIns="0" rIns="0" bIns="0" rtlCol="0" anchor="ctr"/>
          <a:lstStyle/>
          <a:p>
            <a:pPr marL="0" indent="0">
              <a:buNone/>
            </a:pPr>
            <a:r>
              <a:rPr lang="en-US" sz="1300" b="1" dirty="0">
                <a:solidFill>
                  <a:srgbClr val="B05E10"/>
                </a:solidFill>
                <a:latin typeface="Calibri" pitchFamily="34" charset="0"/>
                <a:ea typeface="Calibri" pitchFamily="34" charset="-122"/>
                <a:cs typeface="Calibri" pitchFamily="34" charset="-120"/>
              </a:rPr>
              <a:t>A bug no test could catch:  </a:t>
            </a:r>
            <a:r>
              <a:rPr lang="en-US" sz="1300" dirty="0">
                <a:solidFill>
                  <a:srgbClr val="5A4A3A"/>
                </a:solidFill>
                <a:latin typeface="Calibri" pitchFamily="34" charset="0"/>
                <a:ea typeface="Calibri" pitchFamily="34" charset="-122"/>
                <a:cs typeface="Calibri" pitchFamily="34" charset="-120"/>
              </a:rPr>
              <a:t>the login form rendered underneath the dashboard. The hidden attribute was set, but a CSS rule (display: grid) overrode it. Every test passed; we found it only by opening the page and looking. Fixed with one line.</a:t>
            </a:r>
            <a:endParaRPr lang="en-US" sz="1300" dirty="0"/>
          </a:p>
        </p:txBody>
      </p:sp>
      <p:sp>
        <p:nvSpPr>
          <p:cNvPr id="28"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E6E5E"/>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595360" cy="685800"/>
          </a:xfrm>
          <a:prstGeom prst="rect">
            <a:avLst/>
          </a:prstGeom>
          <a:noFill/>
          <a:ln/>
        </p:spPr>
        <p:txBody>
          <a:bodyPr wrap="square" lIns="0" tIns="0" rIns="0" bIns="0" rtlCol="0" anchor="ctr"/>
          <a:lstStyle/>
          <a:p>
            <a:pPr marL="0" indent="0" algn="l">
              <a:buNone/>
            </a:pPr>
            <a:r>
              <a:rPr lang="en-US" sz="3200" b="1" dirty="0">
                <a:solidFill>
                  <a:srgbClr val="2A7A4A"/>
                </a:solidFill>
                <a:latin typeface="Cambria" pitchFamily="34" charset="0"/>
                <a:ea typeface="Cambria" pitchFamily="34" charset="-122"/>
                <a:cs typeface="Cambria" pitchFamily="34" charset="-120"/>
              </a:rPr>
              <a:t>Observability with Amazon CloudWatch</a:t>
            </a:r>
            <a:endParaRPr lang="en-US" sz="3200" dirty="0"/>
          </a:p>
        </p:txBody>
      </p:sp>
      <p:sp>
        <p:nvSpPr>
          <p:cNvPr id="7" name="Shape 5"/>
          <p:cNvSpPr/>
          <p:nvPr/>
        </p:nvSpPr>
        <p:spPr>
          <a:xfrm>
            <a:off x="512064" y="1243584"/>
            <a:ext cx="7388352" cy="1700022"/>
          </a:xfrm>
          <a:prstGeom prst="rect">
            <a:avLst/>
          </a:prstGeom>
          <a:solidFill>
            <a:srgbClr val="FFFFFF"/>
          </a:solidFill>
          <a:ln w="9525">
            <a:solidFill>
              <a:srgbClr val="C8D5C8"/>
            </a:solidFill>
            <a:prstDash val="solid"/>
          </a:ln>
        </p:spPr>
      </p:sp>
      <p:pic>
        <p:nvPicPr>
          <p:cNvPr id="8" name="Image 0" descr="preencoded.png"/>
          <p:cNvPicPr>
            <a:picLocks noChangeAspect="1"/>
          </p:cNvPicPr>
          <p:nvPr/>
        </p:nvPicPr>
        <p:blipFill>
          <a:blip r:embed="rId3"/>
          <a:stretch>
            <a:fillRect/>
          </a:stretch>
        </p:blipFill>
        <p:spPr>
          <a:xfrm>
            <a:off x="548640" y="1280160"/>
            <a:ext cx="7315200" cy="1626870"/>
          </a:xfrm>
          <a:prstGeom prst="rect">
            <a:avLst/>
          </a:prstGeom>
        </p:spPr>
      </p:pic>
      <p:sp>
        <p:nvSpPr>
          <p:cNvPr id="9" name="Text 6"/>
          <p:cNvSpPr txBox="1"/>
          <p:nvPr/>
        </p:nvSpPr>
        <p:spPr>
          <a:xfrm>
            <a:off x="548640" y="2980182"/>
            <a:ext cx="7315200" cy="219456"/>
          </a:xfrm>
          <a:prstGeom prst="rect">
            <a:avLst/>
          </a:prstGeom>
          <a:noFill/>
          <a:ln/>
        </p:spPr>
        <p:txBody>
          <a:bodyPr wrap="square" lIns="0" tIns="0" rIns="0" bIns="0" rtlCol="0" anchor="ctr"/>
          <a:lstStyle/>
          <a:p>
            <a:pPr marL="0" indent="0">
              <a:buNone/>
            </a:pPr>
            <a:r>
              <a:rPr lang="en-US" sz="1000" i="1" dirty="0">
                <a:solidFill>
                  <a:srgbClr val="5E6E5E"/>
                </a:solidFill>
                <a:latin typeface="Calibri" pitchFamily="34" charset="0"/>
                <a:ea typeface="Calibri" pitchFamily="34" charset="-122"/>
                <a:cs typeface="Calibri" pitchFamily="34" charset="-120"/>
              </a:rPr>
              <a:t>CloudWatch dashboard campuspulse-dev-operations: requests, errors and p95 latency</a:t>
            </a:r>
            <a:endParaRPr lang="en-US" sz="1000" dirty="0"/>
          </a:p>
        </p:txBody>
      </p:sp>
      <p:sp>
        <p:nvSpPr>
          <p:cNvPr id="10" name="Text 7"/>
          <p:cNvSpPr txBox="1"/>
          <p:nvPr/>
        </p:nvSpPr>
        <p:spPr>
          <a:xfrm>
            <a:off x="548640" y="3337560"/>
            <a:ext cx="5486400" cy="292608"/>
          </a:xfrm>
          <a:prstGeom prst="rect">
            <a:avLst/>
          </a:prstGeom>
          <a:noFill/>
          <a:ln/>
        </p:spPr>
        <p:txBody>
          <a:bodyPr wrap="square" lIns="0" tIns="0" rIns="0" bIns="0" rtlCol="0" anchor="ctr"/>
          <a:lstStyle/>
          <a:p>
            <a:pPr marL="0" indent="0">
              <a:buNone/>
            </a:pPr>
            <a:r>
              <a:rPr lang="en-US" sz="1500" b="1" dirty="0">
                <a:solidFill>
                  <a:srgbClr val="1B2E1B"/>
                </a:solidFill>
                <a:latin typeface="Calibri" pitchFamily="34" charset="0"/>
                <a:ea typeface="Calibri" pitchFamily="34" charset="-122"/>
                <a:cs typeface="Calibri" pitchFamily="34" charset="-120"/>
              </a:rPr>
              <a:t>Four alarms</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3703320"/>
          <a:ext cx="7315200" cy="1920240"/>
        </p:xfrm>
        <a:graphic>
          <a:graphicData uri="http://schemas.openxmlformats.org/drawingml/2006/table">
            <a:tbl>
              <a:tblPr/>
              <a:tblGrid>
                <a:gridCol w="219456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Alarm</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B05E1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Fires at</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B05E1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Watches</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B05E10"/>
                    </a:solidFill>
                  </a:tcPr>
                </a:tc>
                <a:extLst>
                  <a:ext uri="{0D108BD9-81ED-4DB2-BD59-A6C34878D82A}">
                    <a16:rowId xmlns:a16="http://schemas.microsoft.com/office/drawing/2014/main" val="10000"/>
                  </a:ext>
                </a:extLst>
              </a:tr>
              <a:tr h="384048">
                <a:tc>
                  <a:txBody>
                    <a:bodyPr/>
                    <a:lstStyle/>
                    <a:p>
                      <a:pPr marL="0" indent="0">
                        <a:buNone/>
                      </a:pPr>
                      <a:r>
                        <a:rPr lang="en-US" sz="1100" b="1" dirty="0">
                          <a:solidFill>
                            <a:srgbClr val="1B2E1B"/>
                          </a:solidFill>
                          <a:latin typeface="Courier New" pitchFamily="34" charset="0"/>
                          <a:ea typeface="Courier New" pitchFamily="34" charset="-122"/>
                          <a:cs typeface="Courier New" pitchFamily="34" charset="-120"/>
                        </a:rPr>
                        <a:t>ingest-errors</a:t>
                      </a:r>
                      <a:endParaRPr lang="en-US" sz="1100" dirty="0">
                        <a:latin typeface="Courier New" charset="0"/>
                        <a:ea typeface="Courier New" charset="0"/>
                        <a:cs typeface="Courier New"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marL="0" indent="0">
                        <a:buNone/>
                      </a:pPr>
                      <a:r>
                        <a:rPr lang="en-US" sz="1300" dirty="0">
                          <a:solidFill>
                            <a:srgbClr val="1B2E1B"/>
                          </a:solidFill>
                          <a:latin typeface="Calibri" pitchFamily="34" charset="0"/>
                          <a:ea typeface="Calibri" pitchFamily="34" charset="-122"/>
                          <a:cs typeface="Calibri" pitchFamily="34" charset="-120"/>
                        </a:rPr>
                        <a:t>≥ 1 Lambda error / 5 min</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marL="0" indent="0">
                        <a:buNone/>
                      </a:pPr>
                      <a:r>
                        <a:rPr lang="en-US" sz="1300" dirty="0">
                          <a:solidFill>
                            <a:srgbClr val="1B2E1B"/>
                          </a:solidFill>
                          <a:latin typeface="Calibri" pitchFamily="34" charset="0"/>
                          <a:ea typeface="Calibri" pitchFamily="34" charset="-122"/>
                          <a:cs typeface="Calibri" pitchFamily="34" charset="-120"/>
                        </a:rPr>
                        <a:t>the system</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100" b="1" dirty="0">
                          <a:solidFill>
                            <a:srgbClr val="1B2E1B"/>
                          </a:solidFill>
                          <a:latin typeface="Courier New" pitchFamily="34" charset="0"/>
                          <a:ea typeface="Courier New" pitchFamily="34" charset="-122"/>
                          <a:cs typeface="Courier New" pitchFamily="34" charset="-120"/>
                        </a:rPr>
                        <a:t>api-5xx</a:t>
                      </a:r>
                      <a:endParaRPr lang="en-US" sz="1100" dirty="0">
                        <a:latin typeface="Courier New" charset="0"/>
                        <a:ea typeface="Courier New" charset="0"/>
                        <a:cs typeface="Courier New"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marL="0" indent="0">
                        <a:buNone/>
                      </a:pPr>
                      <a:r>
                        <a:rPr lang="en-US" sz="1300" dirty="0">
                          <a:solidFill>
                            <a:srgbClr val="1B2E1B"/>
                          </a:solidFill>
                          <a:latin typeface="Calibri" pitchFamily="34" charset="0"/>
                          <a:ea typeface="Calibri" pitchFamily="34" charset="-122"/>
                          <a:cs typeface="Calibri" pitchFamily="34" charset="-120"/>
                        </a:rPr>
                        <a:t>≥ 1 server error / 5 min</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marL="0" indent="0">
                        <a:buNone/>
                      </a:pPr>
                      <a:r>
                        <a:rPr lang="en-US" sz="1300" dirty="0">
                          <a:solidFill>
                            <a:srgbClr val="1B2E1B"/>
                          </a:solidFill>
                          <a:latin typeface="Calibri" pitchFamily="34" charset="0"/>
                          <a:ea typeface="Calibri" pitchFamily="34" charset="-122"/>
                          <a:cs typeface="Calibri" pitchFamily="34" charset="-120"/>
                        </a:rPr>
                        <a:t>the front door</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extLst>
                  <a:ext uri="{0D108BD9-81ED-4DB2-BD59-A6C34878D82A}">
                    <a16:rowId xmlns:a16="http://schemas.microsoft.com/office/drawing/2014/main" val="10002"/>
                  </a:ext>
                </a:extLst>
              </a:tr>
              <a:tr h="384048">
                <a:tc>
                  <a:txBody>
                    <a:bodyPr/>
                    <a:lstStyle/>
                    <a:p>
                      <a:pPr marL="0" indent="0">
                        <a:buNone/>
                      </a:pPr>
                      <a:r>
                        <a:rPr lang="en-US" sz="1100" b="1" dirty="0">
                          <a:solidFill>
                            <a:srgbClr val="1B2E1B"/>
                          </a:solidFill>
                          <a:latin typeface="Courier New" pitchFamily="34" charset="0"/>
                          <a:ea typeface="Courier New" pitchFamily="34" charset="-122"/>
                          <a:cs typeface="Courier New" pitchFamily="34" charset="-120"/>
                        </a:rPr>
                        <a:t>alert-burst</a:t>
                      </a:r>
                      <a:endParaRPr lang="en-US" sz="1100" dirty="0">
                        <a:latin typeface="Courier New" charset="0"/>
                        <a:ea typeface="Courier New" charset="0"/>
                        <a:cs typeface="Courier New"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marL="0" indent="0">
                        <a:buNone/>
                      </a:pPr>
                      <a:r>
                        <a:rPr lang="en-US" sz="1300" dirty="0">
                          <a:solidFill>
                            <a:srgbClr val="1B2E1B"/>
                          </a:solidFill>
                          <a:latin typeface="Calibri" pitchFamily="34" charset="0"/>
                          <a:ea typeface="Calibri" pitchFamily="34" charset="-122"/>
                          <a:cs typeface="Calibri" pitchFamily="34" charset="-120"/>
                        </a:rPr>
                        <a:t>≥ 20 alerts / 5 min</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marL="0" indent="0">
                        <a:buNone/>
                      </a:pPr>
                      <a:r>
                        <a:rPr lang="en-US" sz="1300" b="1" dirty="0">
                          <a:solidFill>
                            <a:srgbClr val="B05E10"/>
                          </a:solidFill>
                          <a:latin typeface="Calibri" pitchFamily="34" charset="0"/>
                          <a:ea typeface="Calibri" pitchFamily="34" charset="-122"/>
                          <a:cs typeface="Calibri" pitchFamily="34" charset="-120"/>
                        </a:rPr>
                        <a:t>the campus</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100" b="1" dirty="0">
                          <a:solidFill>
                            <a:srgbClr val="1B2E1B"/>
                          </a:solidFill>
                          <a:latin typeface="Courier New" pitchFamily="34" charset="0"/>
                          <a:ea typeface="Courier New" pitchFamily="34" charset="-122"/>
                          <a:cs typeface="Courier New" pitchFamily="34" charset="-120"/>
                        </a:rPr>
                        <a:t>invocation-ceiling</a:t>
                      </a:r>
                      <a:endParaRPr lang="en-US" sz="1100" dirty="0">
                        <a:latin typeface="Courier New" charset="0"/>
                        <a:ea typeface="Courier New" charset="0"/>
                        <a:cs typeface="Courier New"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marL="0" indent="0">
                        <a:buNone/>
                      </a:pPr>
                      <a:r>
                        <a:rPr lang="en-US" sz="1300" dirty="0">
                          <a:solidFill>
                            <a:srgbClr val="1B2E1B"/>
                          </a:solidFill>
                          <a:latin typeface="Calibri" pitchFamily="34" charset="0"/>
                          <a:ea typeface="Calibri" pitchFamily="34" charset="-122"/>
                          <a:cs typeface="Calibri" pitchFamily="34" charset="-120"/>
                        </a:rPr>
                        <a:t>≥ 2,000 calls / 5 min</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marL="0" indent="0">
                        <a:buNone/>
                      </a:pPr>
                      <a:r>
                        <a:rPr lang="en-US" sz="1300" b="1" dirty="0">
                          <a:solidFill>
                            <a:srgbClr val="B05E10"/>
                          </a:solidFill>
                          <a:latin typeface="Calibri" pitchFamily="34" charset="0"/>
                          <a:ea typeface="Calibri" pitchFamily="34" charset="-122"/>
                          <a:cs typeface="Calibri" pitchFamily="34" charset="-120"/>
                        </a:rPr>
                        <a:t>the budget</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extLst>
                  <a:ext uri="{0D108BD9-81ED-4DB2-BD59-A6C34878D82A}">
                    <a16:rowId xmlns:a16="http://schemas.microsoft.com/office/drawing/2014/main" val="10004"/>
                  </a:ext>
                </a:extLst>
              </a:tr>
            </a:tbl>
          </a:graphicData>
        </a:graphic>
      </p:graphicFrame>
      <p:sp>
        <p:nvSpPr>
          <p:cNvPr id="12" name="Shape 8"/>
          <p:cNvSpPr/>
          <p:nvPr/>
        </p:nvSpPr>
        <p:spPr>
          <a:xfrm>
            <a:off x="548640" y="5715000"/>
            <a:ext cx="7315200" cy="457200"/>
          </a:xfrm>
          <a:prstGeom prst="roundRect">
            <a:avLst>
              <a:gd name="adj" fmla="val 16000"/>
            </a:avLst>
          </a:prstGeom>
          <a:solidFill>
            <a:srgbClr val="E8F3EC"/>
          </a:solidFill>
          <a:ln w="12700">
            <a:solidFill>
              <a:srgbClr val="E8F3EC"/>
            </a:solidFill>
            <a:prstDash val="solid"/>
          </a:ln>
        </p:spPr>
      </p:sp>
      <p:sp>
        <p:nvSpPr>
          <p:cNvPr id="11" name="Text 9"/>
          <p:cNvSpPr txBox="1"/>
          <p:nvPr/>
        </p:nvSpPr>
        <p:spPr>
          <a:xfrm>
            <a:off x="731520" y="5715000"/>
            <a:ext cx="7040880" cy="457200"/>
          </a:xfrm>
          <a:prstGeom prst="rect">
            <a:avLst/>
          </a:prstGeom>
          <a:noFill/>
          <a:ln/>
        </p:spPr>
        <p:txBody>
          <a:bodyPr wrap="square" lIns="0" tIns="0" rIns="0" bIns="0" rtlCol="0" anchor="ctr"/>
          <a:lstStyle/>
          <a:p>
            <a:pPr marL="0" indent="0">
              <a:buNone/>
            </a:pPr>
            <a:r>
              <a:rPr lang="en-US" sz="1200" dirty="0">
                <a:solidFill>
                  <a:srgbClr val="3E4E3E"/>
                </a:solidFill>
                <a:latin typeface="Calibri" pitchFamily="34" charset="0"/>
                <a:ea typeface="Calibri" pitchFamily="34" charset="-122"/>
                <a:cs typeface="Calibri" pitchFamily="34" charset="-120"/>
              </a:rPr>
              <a:t>Missing data is treated as OK, so quiet nights don't leave alarms grey and ignored.</a:t>
            </a:r>
            <a:endParaRPr lang="en-US" sz="1200" dirty="0"/>
          </a:p>
        </p:txBody>
      </p:sp>
      <p:sp>
        <p:nvSpPr>
          <p:cNvPr id="14" name="Shape 10"/>
          <p:cNvSpPr/>
          <p:nvPr/>
        </p:nvSpPr>
        <p:spPr>
          <a:xfrm>
            <a:off x="8229600" y="1234440"/>
            <a:ext cx="3383280" cy="1417320"/>
          </a:xfrm>
          <a:prstGeom prst="roundRect">
            <a:avLst>
              <a:gd name="adj" fmla="val 5161"/>
            </a:avLst>
          </a:prstGeom>
          <a:solidFill>
            <a:srgbClr val="FFFFFF"/>
          </a:solidFill>
          <a:ln w="12700">
            <a:solidFill>
              <a:srgbClr val="C8D5C8"/>
            </a:solidFill>
            <a:prstDash val="solid"/>
          </a:ln>
        </p:spPr>
      </p:sp>
      <p:sp>
        <p:nvSpPr>
          <p:cNvPr id="15" name="Text 11"/>
          <p:cNvSpPr txBox="1"/>
          <p:nvPr/>
        </p:nvSpPr>
        <p:spPr>
          <a:xfrm>
            <a:off x="8458200" y="1325880"/>
            <a:ext cx="3017520" cy="640080"/>
          </a:xfrm>
          <a:prstGeom prst="rect">
            <a:avLst/>
          </a:prstGeom>
          <a:noFill/>
          <a:ln/>
        </p:spPr>
        <p:txBody>
          <a:bodyPr wrap="square" lIns="0" tIns="0" rIns="0" bIns="0" rtlCol="0" anchor="ctr"/>
          <a:lstStyle/>
          <a:p>
            <a:pPr marL="0" indent="0">
              <a:buNone/>
            </a:pPr>
            <a:r>
              <a:rPr lang="en-US" sz="3400" b="1" dirty="0">
                <a:solidFill>
                  <a:srgbClr val="B05E10"/>
                </a:solidFill>
                <a:latin typeface="Cambria" pitchFamily="34" charset="0"/>
                <a:ea typeface="Cambria" pitchFamily="34" charset="-122"/>
                <a:cs typeface="Cambria" pitchFamily="34" charset="-120"/>
              </a:rPr>
              <a:t>133.4 ms</a:t>
            </a:r>
            <a:endParaRPr lang="en-US" sz="3400" dirty="0"/>
          </a:p>
        </p:txBody>
      </p:sp>
      <p:sp>
        <p:nvSpPr>
          <p:cNvPr id="16" name="Text 12"/>
          <p:cNvSpPr txBox="1"/>
          <p:nvPr/>
        </p:nvSpPr>
        <p:spPr>
          <a:xfrm>
            <a:off x="8458200" y="1938528"/>
            <a:ext cx="3017520" cy="640080"/>
          </a:xfrm>
          <a:prstGeom prst="rect">
            <a:avLst/>
          </a:prstGeom>
          <a:noFill/>
          <a:ln/>
        </p:spPr>
        <p:txBody>
          <a:bodyPr wrap="square" lIns="0" tIns="0" rIns="0" bIns="0" rtlCol="0" anchor="t"/>
          <a:lstStyle/>
          <a:p>
            <a:pPr marL="0" indent="0">
              <a:buNone/>
            </a:pPr>
            <a:r>
              <a:rPr lang="en-US" sz="1100" dirty="0">
                <a:solidFill>
                  <a:srgbClr val="3E4E3E"/>
                </a:solidFill>
                <a:latin typeface="Calibri" pitchFamily="34" charset="0"/>
                <a:ea typeface="Calibri" pitchFamily="34" charset="-122"/>
                <a:cs typeface="Calibri" pitchFamily="34" charset="-120"/>
              </a:rPr>
              <a:t>Lambda p95 latency under simulator load (p95, not an average that hides a slow tail)</a:t>
            </a:r>
            <a:endParaRPr lang="en-US" sz="1100" dirty="0"/>
          </a:p>
        </p:txBody>
      </p:sp>
      <p:sp>
        <p:nvSpPr>
          <p:cNvPr id="17" name="Shape 13"/>
          <p:cNvSpPr/>
          <p:nvPr/>
        </p:nvSpPr>
        <p:spPr>
          <a:xfrm>
            <a:off x="8229600" y="2834640"/>
            <a:ext cx="3383280" cy="987552"/>
          </a:xfrm>
          <a:prstGeom prst="roundRect">
            <a:avLst>
              <a:gd name="adj" fmla="val 7407"/>
            </a:avLst>
          </a:prstGeom>
          <a:solidFill>
            <a:srgbClr val="FFFFFF"/>
          </a:solidFill>
          <a:ln w="12700">
            <a:solidFill>
              <a:srgbClr val="C8D5C8"/>
            </a:solidFill>
            <a:prstDash val="solid"/>
          </a:ln>
        </p:spPr>
      </p:sp>
      <p:sp>
        <p:nvSpPr>
          <p:cNvPr id="18" name="Text 14"/>
          <p:cNvSpPr txBox="1"/>
          <p:nvPr/>
        </p:nvSpPr>
        <p:spPr>
          <a:xfrm>
            <a:off x="8412480" y="2926080"/>
            <a:ext cx="3063240" cy="274320"/>
          </a:xfrm>
          <a:prstGeom prst="rect">
            <a:avLst/>
          </a:prstGeom>
          <a:noFill/>
          <a:ln/>
        </p:spPr>
        <p:txBody>
          <a:bodyPr wrap="square" lIns="0" tIns="0" rIns="0" bIns="0" rtlCol="0" anchor="ctr"/>
          <a:lstStyle/>
          <a:p>
            <a:pPr marL="0" indent="0">
              <a:buNone/>
            </a:pPr>
            <a:r>
              <a:rPr lang="en-US" sz="1300" b="1" dirty="0">
                <a:solidFill>
                  <a:srgbClr val="B05E10"/>
                </a:solidFill>
                <a:latin typeface="Calibri" pitchFamily="34" charset="0"/>
                <a:ea typeface="Calibri" pitchFamily="34" charset="-122"/>
                <a:cs typeface="Calibri" pitchFamily="34" charset="-120"/>
              </a:rPr>
              <a:t>Structured JSON logs</a:t>
            </a:r>
            <a:endParaRPr lang="en-US" sz="1300" dirty="0"/>
          </a:p>
        </p:txBody>
      </p:sp>
      <p:sp>
        <p:nvSpPr>
          <p:cNvPr id="19" name="Text 15"/>
          <p:cNvSpPr txBox="1"/>
          <p:nvPr/>
        </p:nvSpPr>
        <p:spPr>
          <a:xfrm>
            <a:off x="8412480" y="3218688"/>
            <a:ext cx="3063240" cy="548640"/>
          </a:xfrm>
          <a:prstGeom prst="rect">
            <a:avLst/>
          </a:prstGeom>
          <a:noFill/>
          <a:ln/>
        </p:spPr>
        <p:txBody>
          <a:bodyPr wrap="square" lIns="0" tIns="0" rIns="0" bIns="0" rtlCol="0" anchor="t"/>
          <a:lstStyle/>
          <a:p>
            <a:pPr marL="0" indent="0">
              <a:buNone/>
            </a:pPr>
            <a:r>
              <a:rPr lang="en-US" sz="1100" dirty="0">
                <a:solidFill>
                  <a:srgbClr val="3E4E3E"/>
                </a:solidFill>
                <a:latin typeface="Calibri" pitchFamily="34" charset="0"/>
                <a:ea typeface="Calibri" pitchFamily="34" charset="-122"/>
                <a:cs typeface="Calibri" pitchFamily="34" charset="-120"/>
              </a:rPr>
              <a:t>One request_id links the API access log, the function log and the error response</a:t>
            </a:r>
            <a:endParaRPr lang="en-US" sz="1100" dirty="0"/>
          </a:p>
        </p:txBody>
      </p:sp>
      <p:sp>
        <p:nvSpPr>
          <p:cNvPr id="20" name="Shape 16"/>
          <p:cNvSpPr/>
          <p:nvPr/>
        </p:nvSpPr>
        <p:spPr>
          <a:xfrm>
            <a:off x="8229600" y="3950208"/>
            <a:ext cx="3383280" cy="987552"/>
          </a:xfrm>
          <a:prstGeom prst="roundRect">
            <a:avLst>
              <a:gd name="adj" fmla="val 7407"/>
            </a:avLst>
          </a:prstGeom>
          <a:solidFill>
            <a:srgbClr val="FFFFFF"/>
          </a:solidFill>
          <a:ln w="12700">
            <a:solidFill>
              <a:srgbClr val="C8D5C8"/>
            </a:solidFill>
            <a:prstDash val="solid"/>
          </a:ln>
        </p:spPr>
      </p:sp>
      <p:sp>
        <p:nvSpPr>
          <p:cNvPr id="21" name="Text 17"/>
          <p:cNvSpPr txBox="1"/>
          <p:nvPr/>
        </p:nvSpPr>
        <p:spPr>
          <a:xfrm>
            <a:off x="8412480" y="4041648"/>
            <a:ext cx="3063240" cy="274320"/>
          </a:xfrm>
          <a:prstGeom prst="rect">
            <a:avLst/>
          </a:prstGeom>
          <a:noFill/>
          <a:ln/>
        </p:spPr>
        <p:txBody>
          <a:bodyPr wrap="square" lIns="0" tIns="0" rIns="0" bIns="0" rtlCol="0" anchor="ctr"/>
          <a:lstStyle/>
          <a:p>
            <a:pPr marL="0" indent="0">
              <a:buNone/>
            </a:pPr>
            <a:r>
              <a:rPr lang="en-US" sz="1300" b="1" dirty="0">
                <a:solidFill>
                  <a:srgbClr val="B05E10"/>
                </a:solidFill>
                <a:latin typeface="Calibri" pitchFamily="34" charset="0"/>
                <a:ea typeface="Calibri" pitchFamily="34" charset="-122"/>
                <a:cs typeface="Calibri" pitchFamily="34" charset="-120"/>
              </a:rPr>
              <a:t>Metrics from log lines (EMF)</a:t>
            </a:r>
            <a:endParaRPr lang="en-US" sz="1300" dirty="0"/>
          </a:p>
        </p:txBody>
      </p:sp>
      <p:sp>
        <p:nvSpPr>
          <p:cNvPr id="22" name="Text 18"/>
          <p:cNvSpPr txBox="1"/>
          <p:nvPr/>
        </p:nvSpPr>
        <p:spPr>
          <a:xfrm>
            <a:off x="8412480" y="4334256"/>
            <a:ext cx="3063240" cy="548640"/>
          </a:xfrm>
          <a:prstGeom prst="rect">
            <a:avLst/>
          </a:prstGeom>
          <a:noFill/>
          <a:ln/>
        </p:spPr>
        <p:txBody>
          <a:bodyPr wrap="square" lIns="0" tIns="0" rIns="0" bIns="0" rtlCol="0" anchor="t"/>
          <a:lstStyle/>
          <a:p>
            <a:pPr marL="0" indent="0">
              <a:buNone/>
            </a:pPr>
            <a:r>
              <a:rPr lang="en-US" sz="1100" dirty="0">
                <a:solidFill>
                  <a:srgbClr val="3E4E3E"/>
                </a:solidFill>
                <a:latin typeface="Calibri" pitchFamily="34" charset="0"/>
                <a:ea typeface="Calibri" pitchFamily="34" charset="-122"/>
                <a:cs typeface="Calibri" pitchFamily="34" charset="-120"/>
              </a:rPr>
              <a:t>EventsIngested, AlertsRaised, StatsRequested with no extra API call</a:t>
            </a:r>
            <a:endParaRPr lang="en-US" sz="1100" dirty="0"/>
          </a:p>
        </p:txBody>
      </p:sp>
      <p:sp>
        <p:nvSpPr>
          <p:cNvPr id="23" name="Shape 19"/>
          <p:cNvSpPr/>
          <p:nvPr/>
        </p:nvSpPr>
        <p:spPr>
          <a:xfrm>
            <a:off x="8229600" y="5065776"/>
            <a:ext cx="3383280" cy="987552"/>
          </a:xfrm>
          <a:prstGeom prst="roundRect">
            <a:avLst>
              <a:gd name="adj" fmla="val 7407"/>
            </a:avLst>
          </a:prstGeom>
          <a:solidFill>
            <a:srgbClr val="FFFFFF"/>
          </a:solidFill>
          <a:ln w="12700">
            <a:solidFill>
              <a:srgbClr val="C8D5C8"/>
            </a:solidFill>
            <a:prstDash val="solid"/>
          </a:ln>
        </p:spPr>
      </p:sp>
      <p:sp>
        <p:nvSpPr>
          <p:cNvPr id="24" name="Text 20"/>
          <p:cNvSpPr txBox="1"/>
          <p:nvPr/>
        </p:nvSpPr>
        <p:spPr>
          <a:xfrm>
            <a:off x="8412480" y="5157216"/>
            <a:ext cx="3063240" cy="274320"/>
          </a:xfrm>
          <a:prstGeom prst="rect">
            <a:avLst/>
          </a:prstGeom>
          <a:noFill/>
          <a:ln/>
        </p:spPr>
        <p:txBody>
          <a:bodyPr wrap="square" lIns="0" tIns="0" rIns="0" bIns="0" rtlCol="0" anchor="ctr"/>
          <a:lstStyle/>
          <a:p>
            <a:pPr marL="0" indent="0">
              <a:buNone/>
            </a:pPr>
            <a:r>
              <a:rPr lang="en-US" sz="1300" b="1" dirty="0">
                <a:solidFill>
                  <a:srgbClr val="B05E10"/>
                </a:solidFill>
                <a:latin typeface="Calibri" pitchFamily="34" charset="0"/>
                <a:ea typeface="Calibri" pitchFamily="34" charset="-122"/>
                <a:cs typeface="Calibri" pitchFamily="34" charset="-120"/>
              </a:rPr>
              <a:t>7-day log retention</a:t>
            </a:r>
            <a:endParaRPr lang="en-US" sz="1300" dirty="0"/>
          </a:p>
        </p:txBody>
      </p:sp>
      <p:sp>
        <p:nvSpPr>
          <p:cNvPr id="25" name="Text 21"/>
          <p:cNvSpPr txBox="1"/>
          <p:nvPr/>
        </p:nvSpPr>
        <p:spPr>
          <a:xfrm>
            <a:off x="8412480" y="5449824"/>
            <a:ext cx="3063240" cy="548640"/>
          </a:xfrm>
          <a:prstGeom prst="rect">
            <a:avLst/>
          </a:prstGeom>
          <a:noFill/>
          <a:ln/>
        </p:spPr>
        <p:txBody>
          <a:bodyPr wrap="square" lIns="0" tIns="0" rIns="0" bIns="0" rtlCol="0" anchor="t"/>
          <a:lstStyle/>
          <a:p>
            <a:pPr marL="0" indent="0">
              <a:buNone/>
            </a:pPr>
            <a:r>
              <a:rPr lang="en-US" sz="1100" dirty="0">
                <a:solidFill>
                  <a:srgbClr val="3E4E3E"/>
                </a:solidFill>
                <a:latin typeface="Calibri" pitchFamily="34" charset="0"/>
                <a:ea typeface="Calibri" pitchFamily="34" charset="-122"/>
                <a:cs typeface="Calibri" pitchFamily="34" charset="-120"/>
              </a:rPr>
              <a:t>Set explicitly; the default is never expire</a:t>
            </a:r>
            <a:endParaRPr lang="en-US" sz="1100" dirty="0"/>
          </a:p>
        </p:txBody>
      </p:sp>
      <p:sp>
        <p:nvSpPr>
          <p:cNvPr id="26"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E6E5E"/>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595360" cy="685800"/>
          </a:xfrm>
          <a:prstGeom prst="rect">
            <a:avLst/>
          </a:prstGeom>
          <a:noFill/>
          <a:ln/>
        </p:spPr>
        <p:txBody>
          <a:bodyPr wrap="square" lIns="0" tIns="0" rIns="0" bIns="0" rtlCol="0" anchor="ctr"/>
          <a:lstStyle/>
          <a:p>
            <a:pPr marL="0" indent="0" algn="l">
              <a:buNone/>
            </a:pPr>
            <a:r>
              <a:rPr lang="en-US" sz="3200" b="1" dirty="0">
                <a:solidFill>
                  <a:srgbClr val="2A7A4A"/>
                </a:solidFill>
                <a:latin typeface="Cambria" pitchFamily="34" charset="0"/>
                <a:ea typeface="Cambria" pitchFamily="34" charset="-122"/>
                <a:cs typeface="Cambria" pitchFamily="34" charset="-120"/>
              </a:rPr>
              <a:t>Cost: measured, not guessed</a:t>
            </a:r>
            <a:endParaRPr lang="en-US" sz="3200" dirty="0"/>
          </a:p>
        </p:txBody>
      </p:sp>
      <p:sp>
        <p:nvSpPr>
          <p:cNvPr id="7" name="Shape 5"/>
          <p:cNvSpPr/>
          <p:nvPr/>
        </p:nvSpPr>
        <p:spPr>
          <a:xfrm>
            <a:off x="548640" y="1234440"/>
            <a:ext cx="3566160" cy="1417320"/>
          </a:xfrm>
          <a:prstGeom prst="roundRect">
            <a:avLst>
              <a:gd name="adj" fmla="val 5161"/>
            </a:avLst>
          </a:prstGeom>
          <a:solidFill>
            <a:srgbClr val="FFFFFF"/>
          </a:solidFill>
          <a:ln w="12700">
            <a:solidFill>
              <a:srgbClr val="C8D5C8"/>
            </a:solidFill>
            <a:prstDash val="solid"/>
          </a:ln>
        </p:spPr>
      </p:sp>
      <p:sp>
        <p:nvSpPr>
          <p:cNvPr id="8" name="Text 6"/>
          <p:cNvSpPr txBox="1"/>
          <p:nvPr/>
        </p:nvSpPr>
        <p:spPr>
          <a:xfrm>
            <a:off x="822960" y="1298448"/>
            <a:ext cx="3017520" cy="731520"/>
          </a:xfrm>
          <a:prstGeom prst="rect">
            <a:avLst/>
          </a:prstGeom>
          <a:noFill/>
          <a:ln/>
        </p:spPr>
        <p:txBody>
          <a:bodyPr wrap="square" lIns="0" tIns="0" rIns="0" bIns="0" rtlCol="0" anchor="ctr"/>
          <a:lstStyle/>
          <a:p>
            <a:pPr marL="0" indent="0">
              <a:buNone/>
            </a:pPr>
            <a:r>
              <a:rPr lang="en-US" sz="4000" b="1" dirty="0">
                <a:solidFill>
                  <a:srgbClr val="2A7A4A"/>
                </a:solidFill>
                <a:latin typeface="Cambria" pitchFamily="34" charset="0"/>
                <a:ea typeface="Cambria" pitchFamily="34" charset="-122"/>
                <a:cs typeface="Cambria" pitchFamily="34" charset="-120"/>
              </a:rPr>
              <a:t>$1.98</a:t>
            </a:r>
            <a:endParaRPr lang="en-US" sz="4000" dirty="0"/>
          </a:p>
        </p:txBody>
      </p:sp>
      <p:sp>
        <p:nvSpPr>
          <p:cNvPr id="9" name="Text 7"/>
          <p:cNvSpPr txBox="1"/>
          <p:nvPr/>
        </p:nvSpPr>
        <p:spPr>
          <a:xfrm>
            <a:off x="822960" y="2011680"/>
            <a:ext cx="3108960" cy="502920"/>
          </a:xfrm>
          <a:prstGeom prst="rect">
            <a:avLst/>
          </a:prstGeom>
          <a:noFill/>
          <a:ln/>
        </p:spPr>
        <p:txBody>
          <a:bodyPr wrap="square" lIns="0" tIns="0" rIns="0" bIns="0" rtlCol="0" anchor="t"/>
          <a:lstStyle/>
          <a:p>
            <a:pPr marL="0" indent="0">
              <a:buNone/>
            </a:pPr>
            <a:r>
              <a:rPr lang="en-US" sz="1300" dirty="0">
                <a:solidFill>
                  <a:srgbClr val="3E4E3E"/>
                </a:solidFill>
                <a:latin typeface="Calibri" pitchFamily="34" charset="0"/>
                <a:ea typeface="Calibri" pitchFamily="34" charset="-122"/>
                <a:cs typeface="Calibri" pitchFamily="34" charset="-120"/>
              </a:rPr>
              <a:t>billed this month against a $10 budget</a:t>
            </a:r>
            <a:endParaRPr lang="en-US" sz="1300" dirty="0"/>
          </a:p>
        </p:txBody>
      </p:sp>
      <p:sp>
        <p:nvSpPr>
          <p:cNvPr id="10" name="Shape 8"/>
          <p:cNvSpPr/>
          <p:nvPr/>
        </p:nvSpPr>
        <p:spPr>
          <a:xfrm>
            <a:off x="4297680" y="1234440"/>
            <a:ext cx="3566160" cy="1417320"/>
          </a:xfrm>
          <a:prstGeom prst="roundRect">
            <a:avLst>
              <a:gd name="adj" fmla="val 5161"/>
            </a:avLst>
          </a:prstGeom>
          <a:solidFill>
            <a:srgbClr val="FFFFFF"/>
          </a:solidFill>
          <a:ln w="12700">
            <a:solidFill>
              <a:srgbClr val="C8D5C8"/>
            </a:solidFill>
            <a:prstDash val="solid"/>
          </a:ln>
        </p:spPr>
      </p:sp>
      <p:sp>
        <p:nvSpPr>
          <p:cNvPr id="11" name="Text 9"/>
          <p:cNvSpPr txBox="1"/>
          <p:nvPr/>
        </p:nvSpPr>
        <p:spPr>
          <a:xfrm>
            <a:off x="4572000" y="1298448"/>
            <a:ext cx="3017520" cy="731520"/>
          </a:xfrm>
          <a:prstGeom prst="rect">
            <a:avLst/>
          </a:prstGeom>
          <a:noFill/>
          <a:ln/>
        </p:spPr>
        <p:txBody>
          <a:bodyPr wrap="square" lIns="0" tIns="0" rIns="0" bIns="0" rtlCol="0" anchor="ctr"/>
          <a:lstStyle/>
          <a:p>
            <a:pPr marL="0" indent="0">
              <a:buNone/>
            </a:pPr>
            <a:r>
              <a:rPr lang="en-US" sz="4000" b="1" dirty="0">
                <a:solidFill>
                  <a:srgbClr val="3A6888"/>
                </a:solidFill>
                <a:latin typeface="Cambria" pitchFamily="34" charset="0"/>
                <a:ea typeface="Cambria" pitchFamily="34" charset="-122"/>
                <a:cs typeface="Cambria" pitchFamily="34" charset="-120"/>
              </a:rPr>
              <a:t>$14.39</a:t>
            </a:r>
            <a:endParaRPr lang="en-US" sz="4000" dirty="0"/>
          </a:p>
        </p:txBody>
      </p:sp>
      <p:sp>
        <p:nvSpPr>
          <p:cNvPr id="12" name="Text 10"/>
          <p:cNvSpPr txBox="1"/>
          <p:nvPr/>
        </p:nvSpPr>
        <p:spPr>
          <a:xfrm>
            <a:off x="4572000" y="2011680"/>
            <a:ext cx="3108960" cy="502920"/>
          </a:xfrm>
          <a:prstGeom prst="rect">
            <a:avLst/>
          </a:prstGeom>
          <a:noFill/>
          <a:ln/>
        </p:spPr>
        <p:txBody>
          <a:bodyPr wrap="square" lIns="0" tIns="0" rIns="0" bIns="0" rtlCol="0" anchor="t"/>
          <a:lstStyle/>
          <a:p>
            <a:pPr marL="0" indent="0">
              <a:buNone/>
            </a:pPr>
            <a:r>
              <a:rPr lang="en-US" sz="1300" dirty="0">
                <a:solidFill>
                  <a:srgbClr val="3E4E3E"/>
                </a:solidFill>
                <a:latin typeface="Calibri" pitchFamily="34" charset="0"/>
                <a:ea typeface="Calibri" pitchFamily="34" charset="-122"/>
                <a:cs typeface="Calibri" pitchFamily="34" charset="-120"/>
              </a:rPr>
              <a:t>estimated credit use of $160 (whole account)</a:t>
            </a:r>
            <a:endParaRPr lang="en-US" sz="1300" dirty="0"/>
          </a:p>
        </p:txBody>
      </p:sp>
      <p:sp>
        <p:nvSpPr>
          <p:cNvPr id="13" name="Shape 11"/>
          <p:cNvSpPr/>
          <p:nvPr/>
        </p:nvSpPr>
        <p:spPr>
          <a:xfrm>
            <a:off x="8046720" y="1234440"/>
            <a:ext cx="3566160" cy="1417320"/>
          </a:xfrm>
          <a:prstGeom prst="roundRect">
            <a:avLst>
              <a:gd name="adj" fmla="val 5161"/>
            </a:avLst>
          </a:prstGeom>
          <a:solidFill>
            <a:srgbClr val="FFFFFF"/>
          </a:solidFill>
          <a:ln w="12700">
            <a:solidFill>
              <a:srgbClr val="C8D5C8"/>
            </a:solidFill>
            <a:prstDash val="solid"/>
          </a:ln>
        </p:spPr>
      </p:sp>
      <p:sp>
        <p:nvSpPr>
          <p:cNvPr id="14" name="Text 12"/>
          <p:cNvSpPr txBox="1"/>
          <p:nvPr/>
        </p:nvSpPr>
        <p:spPr>
          <a:xfrm>
            <a:off x="8321040" y="1298448"/>
            <a:ext cx="3017520" cy="731520"/>
          </a:xfrm>
          <a:prstGeom prst="rect">
            <a:avLst/>
          </a:prstGeom>
          <a:noFill/>
          <a:ln/>
        </p:spPr>
        <p:txBody>
          <a:bodyPr wrap="square" lIns="0" tIns="0" rIns="0" bIns="0" rtlCol="0" anchor="ctr"/>
          <a:lstStyle/>
          <a:p>
            <a:pPr marL="0" indent="0">
              <a:buNone/>
            </a:pPr>
            <a:r>
              <a:rPr lang="en-US" sz="4000" b="1" dirty="0">
                <a:solidFill>
                  <a:srgbClr val="B05E10"/>
                </a:solidFill>
                <a:latin typeface="Cambria" pitchFamily="34" charset="0"/>
                <a:ea typeface="Cambria" pitchFamily="34" charset="-122"/>
                <a:cs typeface="Cambria" pitchFamily="34" charset="-120"/>
              </a:rPr>
              <a:t>≈ $32</a:t>
            </a:r>
            <a:endParaRPr lang="en-US" sz="4000" dirty="0"/>
          </a:p>
        </p:txBody>
      </p:sp>
      <p:sp>
        <p:nvSpPr>
          <p:cNvPr id="15" name="Text 13"/>
          <p:cNvSpPr txBox="1"/>
          <p:nvPr/>
        </p:nvSpPr>
        <p:spPr>
          <a:xfrm>
            <a:off x="8321040" y="2011680"/>
            <a:ext cx="3108960" cy="502920"/>
          </a:xfrm>
          <a:prstGeom prst="rect">
            <a:avLst/>
          </a:prstGeom>
          <a:noFill/>
          <a:ln/>
        </p:spPr>
        <p:txBody>
          <a:bodyPr wrap="square" lIns="0" tIns="0" rIns="0" bIns="0" rtlCol="0" anchor="t"/>
          <a:lstStyle/>
          <a:p>
            <a:pPr marL="0" indent="0">
              <a:buNone/>
            </a:pPr>
            <a:r>
              <a:rPr lang="en-US" sz="1300" dirty="0">
                <a:solidFill>
                  <a:srgbClr val="3E4E3E"/>
                </a:solidFill>
                <a:latin typeface="Calibri" pitchFamily="34" charset="0"/>
                <a:ea typeface="Calibri" pitchFamily="34" charset="-122"/>
                <a:cs typeface="Calibri" pitchFamily="34" charset="-120"/>
              </a:rPr>
              <a:t>per month saved by having no NAT Gateway</a:t>
            </a:r>
            <a:endParaRPr lang="en-US" sz="1300" dirty="0"/>
          </a:p>
        </p:txBody>
      </p:sp>
      <p:sp>
        <p:nvSpPr>
          <p:cNvPr id="16" name="Text 14"/>
          <p:cNvSpPr txBox="1"/>
          <p:nvPr/>
        </p:nvSpPr>
        <p:spPr>
          <a:xfrm>
            <a:off x="548640" y="2880360"/>
            <a:ext cx="5486400" cy="292608"/>
          </a:xfrm>
          <a:prstGeom prst="rect">
            <a:avLst/>
          </a:prstGeom>
          <a:noFill/>
          <a:ln/>
        </p:spPr>
        <p:txBody>
          <a:bodyPr wrap="square" lIns="0" tIns="0" rIns="0" bIns="0" rtlCol="0" anchor="ctr"/>
          <a:lstStyle/>
          <a:p>
            <a:pPr marL="0" indent="0">
              <a:buNone/>
            </a:pPr>
            <a:r>
              <a:rPr lang="en-US" sz="1500" b="1" dirty="0">
                <a:solidFill>
                  <a:srgbClr val="1B2E1B"/>
                </a:solidFill>
                <a:latin typeface="Calibri" pitchFamily="34" charset="0"/>
                <a:ea typeface="Calibri" pitchFamily="34" charset="-122"/>
                <a:cs typeface="Calibri" pitchFamily="34" charset="-120"/>
              </a:rPr>
              <a:t>Decisions that keep it cheap</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3246120"/>
          <a:ext cx="6035040" cy="2468880"/>
        </p:xfrm>
        <a:graphic>
          <a:graphicData uri="http://schemas.openxmlformats.org/drawingml/2006/table">
            <a:tbl>
              <a:tblPr/>
              <a:tblGrid>
                <a:gridCol w="34747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tblGrid>
              <a:tr h="41148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Decision</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B05E10"/>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Effect</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B05E10"/>
                    </a:solidFill>
                  </a:tcPr>
                </a:tc>
                <a:extLst>
                  <a:ext uri="{0D108BD9-81ED-4DB2-BD59-A6C34878D82A}">
                    <a16:rowId xmlns:a16="http://schemas.microsoft.com/office/drawing/2014/main" val="10000"/>
                  </a:ext>
                </a:extLst>
              </a:tr>
              <a:tr h="411480">
                <a:tc>
                  <a:txBody>
                    <a:bodyPr/>
                    <a:lstStyle/>
                    <a:p>
                      <a:pPr marL="0" indent="0">
                        <a:buNone/>
                      </a:pPr>
                      <a:r>
                        <a:rPr lang="en-US" sz="1300" b="1" dirty="0">
                          <a:solidFill>
                            <a:srgbClr val="1B2E1B"/>
                          </a:solidFill>
                          <a:latin typeface="Calibri" pitchFamily="34" charset="0"/>
                          <a:ea typeface="Calibri" pitchFamily="34" charset="-122"/>
                          <a:cs typeface="Calibri" pitchFamily="34" charset="-120"/>
                        </a:rPr>
                        <a:t>No VPC, EC2, RDS or load balancer</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marL="0" indent="0">
                        <a:buNone/>
                      </a:pPr>
                      <a:r>
                        <a:rPr lang="en-US" sz="1300" dirty="0">
                          <a:solidFill>
                            <a:srgbClr val="1B2E1B"/>
                          </a:solidFill>
                          <a:latin typeface="Calibri" pitchFamily="34" charset="0"/>
                          <a:ea typeface="Calibri" pitchFamily="34" charset="-122"/>
                          <a:cs typeface="Calibri" pitchFamily="34" charset="-120"/>
                        </a:rPr>
                        <a:t>nothing bills by the hour</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1300" b="1" dirty="0">
                          <a:solidFill>
                            <a:srgbClr val="1B2E1B"/>
                          </a:solidFill>
                          <a:latin typeface="Calibri" pitchFamily="34" charset="0"/>
                          <a:ea typeface="Calibri" pitchFamily="34" charset="-122"/>
                          <a:cs typeface="Calibri" pitchFamily="34" charset="-120"/>
                        </a:rPr>
                        <a:t>HTTP API instead of REST API</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marL="0" indent="0">
                        <a:buNone/>
                      </a:pPr>
                      <a:r>
                        <a:rPr lang="en-US" sz="1300" dirty="0">
                          <a:solidFill>
                            <a:srgbClr val="1B2E1B"/>
                          </a:solidFill>
                          <a:latin typeface="Calibri" pitchFamily="34" charset="0"/>
                          <a:ea typeface="Calibri" pitchFamily="34" charset="-122"/>
                          <a:cs typeface="Calibri" pitchFamily="34" charset="-120"/>
                        </a:rPr>
                        <a:t>3.5× cheaper per request</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extLst>
                  <a:ext uri="{0D108BD9-81ED-4DB2-BD59-A6C34878D82A}">
                    <a16:rowId xmlns:a16="http://schemas.microsoft.com/office/drawing/2014/main" val="10002"/>
                  </a:ext>
                </a:extLst>
              </a:tr>
              <a:tr h="411480">
                <a:tc>
                  <a:txBody>
                    <a:bodyPr/>
                    <a:lstStyle/>
                    <a:p>
                      <a:pPr marL="0" indent="0">
                        <a:buNone/>
                      </a:pPr>
                      <a:r>
                        <a:rPr lang="en-US" sz="1300" b="1" dirty="0">
                          <a:solidFill>
                            <a:srgbClr val="1B2E1B"/>
                          </a:solidFill>
                          <a:latin typeface="Calibri" pitchFamily="34" charset="0"/>
                          <a:ea typeface="Calibri" pitchFamily="34" charset="-122"/>
                          <a:cs typeface="Calibri" pitchFamily="34" charset="-120"/>
                        </a:rPr>
                        <a:t>Log retention 7 days, TTL 30 days</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marL="0" indent="0">
                        <a:buNone/>
                      </a:pPr>
                      <a:r>
                        <a:rPr lang="en-US" sz="1300" dirty="0">
                          <a:solidFill>
                            <a:srgbClr val="1B2E1B"/>
                          </a:solidFill>
                          <a:latin typeface="Calibri" pitchFamily="34" charset="0"/>
                          <a:ea typeface="Calibri" pitchFamily="34" charset="-122"/>
                          <a:cs typeface="Calibri" pitchFamily="34" charset="-120"/>
                        </a:rPr>
                        <a:t>storage cannot grow forever</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1300" b="1" dirty="0">
                          <a:solidFill>
                            <a:srgbClr val="1B2E1B"/>
                          </a:solidFill>
                          <a:latin typeface="Calibri" pitchFamily="34" charset="0"/>
                          <a:ea typeface="Calibri" pitchFamily="34" charset="-122"/>
                          <a:cs typeface="Calibri" pitchFamily="34" charset="-120"/>
                        </a:rPr>
                        <a:t>Cognito Essentials, not Plus</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tc>
                  <a:txBody>
                    <a:bodyPr/>
                    <a:lstStyle/>
                    <a:p>
                      <a:pPr marL="0" indent="0">
                        <a:buNone/>
                      </a:pPr>
                      <a:r>
                        <a:rPr lang="en-US" sz="1300" dirty="0">
                          <a:solidFill>
                            <a:srgbClr val="1B2E1B"/>
                          </a:solidFill>
                          <a:latin typeface="Calibri" pitchFamily="34" charset="0"/>
                          <a:ea typeface="Calibri" pitchFamily="34" charset="-122"/>
                          <a:cs typeface="Calibri" pitchFamily="34" charset="-120"/>
                        </a:rPr>
                        <a:t>stays in the free allowance</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7F9F5"/>
                    </a:solidFill>
                  </a:tcPr>
                </a:tc>
                <a:extLst>
                  <a:ext uri="{0D108BD9-81ED-4DB2-BD59-A6C34878D82A}">
                    <a16:rowId xmlns:a16="http://schemas.microsoft.com/office/drawing/2014/main" val="10004"/>
                  </a:ext>
                </a:extLst>
              </a:tr>
              <a:tr h="411480">
                <a:tc>
                  <a:txBody>
                    <a:bodyPr/>
                    <a:lstStyle/>
                    <a:p>
                      <a:pPr marL="0" indent="0">
                        <a:buNone/>
                      </a:pPr>
                      <a:r>
                        <a:rPr lang="en-US" sz="1300" b="1" dirty="0">
                          <a:solidFill>
                            <a:srgbClr val="1B2E1B"/>
                          </a:solidFill>
                          <a:latin typeface="Calibri" pitchFamily="34" charset="0"/>
                          <a:ea typeface="Calibri" pitchFamily="34" charset="-122"/>
                          <a:cs typeface="Calibri" pitchFamily="34" charset="-120"/>
                        </a:rPr>
                        <a:t>Dashboard polling pauses when idle</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tc>
                  <a:txBody>
                    <a:bodyPr/>
                    <a:lstStyle/>
                    <a:p>
                      <a:pPr marL="0" indent="0">
                        <a:buNone/>
                      </a:pPr>
                      <a:r>
                        <a:rPr lang="en-US" sz="1300" dirty="0">
                          <a:solidFill>
                            <a:srgbClr val="1B2E1B"/>
                          </a:solidFill>
                          <a:latin typeface="Calibri" pitchFamily="34" charset="0"/>
                          <a:ea typeface="Calibri" pitchFamily="34" charset="-122"/>
                          <a:cs typeface="Calibri" pitchFamily="34" charset="-120"/>
                        </a:rPr>
                        <a:t>no forgotten-tab traffic</a:t>
                      </a:r>
                      <a:endParaRPr lang="en-US" sz="13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8" name="Text 15"/>
          <p:cNvSpPr txBox="1"/>
          <p:nvPr/>
        </p:nvSpPr>
        <p:spPr>
          <a:xfrm>
            <a:off x="6949440" y="2880360"/>
            <a:ext cx="4663440" cy="292608"/>
          </a:xfrm>
          <a:prstGeom prst="rect">
            <a:avLst/>
          </a:prstGeom>
          <a:noFill/>
          <a:ln/>
        </p:spPr>
        <p:txBody>
          <a:bodyPr wrap="square" lIns="0" tIns="0" rIns="0" bIns="0" rtlCol="0" anchor="ctr"/>
          <a:lstStyle/>
          <a:p>
            <a:pPr marL="0" indent="0">
              <a:buNone/>
            </a:pPr>
            <a:r>
              <a:rPr lang="en-US" sz="1500" b="1" dirty="0">
                <a:solidFill>
                  <a:srgbClr val="1B2E1B"/>
                </a:solidFill>
                <a:latin typeface="Calibri" pitchFamily="34" charset="0"/>
                <a:ea typeface="Calibri" pitchFamily="34" charset="-122"/>
                <a:cs typeface="Calibri" pitchFamily="34" charset="-120"/>
              </a:rPr>
              <a:t>Evidence from the AWS billing console</a:t>
            </a:r>
            <a:endParaRPr lang="en-US" sz="150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6949440" y="3246120"/>
          <a:ext cx="4663440" cy="731520"/>
        </p:xfrm>
        <a:graphic>
          <a:graphicData uri="http://schemas.openxmlformats.org/drawingml/2006/table">
            <a:tbl>
              <a:tblPr/>
              <a:tblGrid>
                <a:gridCol w="205740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6576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Budget</a:t>
                      </a:r>
                      <a:endParaRPr lang="en-US" sz="12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B05E10"/>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Limit</a:t>
                      </a:r>
                      <a:endParaRPr lang="en-US" sz="12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B05E10"/>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Used</a:t>
                      </a:r>
                      <a:endParaRPr lang="en-US" sz="12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B05E10"/>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Forecast</a:t>
                      </a:r>
                      <a:endParaRPr lang="en-US" sz="12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solidFill>
                      <a:srgbClr val="B05E10"/>
                    </a:solidFill>
                  </a:tcPr>
                </a:tc>
                <a:extLst>
                  <a:ext uri="{0D108BD9-81ED-4DB2-BD59-A6C34878D82A}">
                    <a16:rowId xmlns:a16="http://schemas.microsoft.com/office/drawing/2014/main" val="10000"/>
                  </a:ext>
                </a:extLst>
              </a:tr>
              <a:tr h="365760">
                <a:tc>
                  <a:txBody>
                    <a:bodyPr/>
                    <a:lstStyle/>
                    <a:p>
                      <a:pPr marL="0" indent="0">
                        <a:buNone/>
                      </a:pPr>
                      <a:r>
                        <a:rPr lang="en-US" sz="1100" dirty="0">
                          <a:solidFill>
                            <a:srgbClr val="1B2E1B"/>
                          </a:solidFill>
                          <a:latin typeface="Calibri" pitchFamily="34" charset="0"/>
                          <a:ea typeface="Calibri" pitchFamily="34" charset="-122"/>
                          <a:cs typeface="Calibri" pitchFamily="34" charset="-120"/>
                        </a:rPr>
                        <a:t>campuspulse-dev-monthly</a:t>
                      </a:r>
                      <a:endParaRPr lang="en-US" sz="11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tcPr>
                </a:tc>
                <a:tc>
                  <a:txBody>
                    <a:bodyPr/>
                    <a:lstStyle/>
                    <a:p>
                      <a:pPr marL="0" indent="0" algn="ctr">
                        <a:buNone/>
                      </a:pPr>
                      <a:r>
                        <a:rPr lang="en-US" sz="1200" dirty="0">
                          <a:solidFill>
                            <a:srgbClr val="1B2E1B"/>
                          </a:solidFill>
                          <a:latin typeface="Calibri" pitchFamily="34" charset="0"/>
                          <a:ea typeface="Calibri" pitchFamily="34" charset="-122"/>
                          <a:cs typeface="Calibri" pitchFamily="34" charset="-120"/>
                        </a:rPr>
                        <a:t>$10.00</a:t>
                      </a:r>
                      <a:endParaRPr lang="en-US" sz="12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tcPr>
                </a:tc>
                <a:tc>
                  <a:txBody>
                    <a:bodyPr/>
                    <a:lstStyle/>
                    <a:p>
                      <a:pPr marL="0" indent="0" algn="ctr">
                        <a:buNone/>
                      </a:pPr>
                      <a:r>
                        <a:rPr lang="en-US" sz="1200" b="1" dirty="0">
                          <a:solidFill>
                            <a:srgbClr val="2A7A4A"/>
                          </a:solidFill>
                          <a:latin typeface="Calibri" pitchFamily="34" charset="0"/>
                          <a:ea typeface="Calibri" pitchFamily="34" charset="-122"/>
                          <a:cs typeface="Calibri" pitchFamily="34" charset="-120"/>
                        </a:rPr>
                        <a:t>$1.98</a:t>
                      </a:r>
                      <a:endParaRPr lang="en-US" sz="12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tcPr>
                </a:tc>
                <a:tc>
                  <a:txBody>
                    <a:bodyPr/>
                    <a:lstStyle/>
                    <a:p>
                      <a:pPr marL="0" indent="0" algn="ctr">
                        <a:buNone/>
                      </a:pPr>
                      <a:r>
                        <a:rPr lang="en-US" sz="1200" b="1" dirty="0">
                          <a:solidFill>
                            <a:srgbClr val="8A2A2A"/>
                          </a:solidFill>
                          <a:latin typeface="Calibri" pitchFamily="34" charset="0"/>
                          <a:ea typeface="Calibri" pitchFamily="34" charset="-122"/>
                          <a:cs typeface="Calibri" pitchFamily="34" charset="-120"/>
                        </a:rPr>
                        <a:t>$14.62</a:t>
                      </a:r>
                      <a:endParaRPr lang="en-US" sz="1200" dirty="0">
                        <a:latin typeface="Calibri" charset="0"/>
                        <a:ea typeface="Calibri" charset="0"/>
                        <a:cs typeface="Calibri" charset="0"/>
                      </a:endParaRPr>
                    </a:p>
                  </a:txBody>
                  <a:tcPr marT="0" marB="0" anchor="ctr">
                    <a:lnL w="9525" cap="flat" cmpd="sng" algn="ctr">
                      <a:solidFill>
                        <a:srgbClr val="C8D5C8"/>
                      </a:solidFill>
                      <a:prstDash val="solid"/>
                      <a:round/>
                      <a:headEnd type="none" w="med" len="med"/>
                      <a:tailEnd type="none" w="med" len="med"/>
                    </a:lnL>
                    <a:lnR w="9525" cap="flat" cmpd="sng" algn="ctr">
                      <a:solidFill>
                        <a:srgbClr val="C8D5C8"/>
                      </a:solidFill>
                      <a:prstDash val="solid"/>
                      <a:round/>
                      <a:headEnd type="none" w="med" len="med"/>
                      <a:tailEnd type="none" w="med" len="med"/>
                    </a:lnR>
                    <a:lnT w="9525" cap="flat" cmpd="sng" algn="ctr">
                      <a:solidFill>
                        <a:srgbClr val="C8D5C8"/>
                      </a:solidFill>
                      <a:prstDash val="solid"/>
                      <a:round/>
                      <a:headEnd type="none" w="med" len="med"/>
                      <a:tailEnd type="none" w="med" len="med"/>
                    </a:lnT>
                    <a:lnB w="9525" cap="flat" cmpd="sng" algn="ctr">
                      <a:solidFill>
                        <a:srgbClr val="C8D5C8"/>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0" name="Shape 16"/>
          <p:cNvSpPr/>
          <p:nvPr/>
        </p:nvSpPr>
        <p:spPr>
          <a:xfrm>
            <a:off x="6912864" y="4123944"/>
            <a:ext cx="4736592" cy="798576"/>
          </a:xfrm>
          <a:prstGeom prst="rect">
            <a:avLst/>
          </a:prstGeom>
          <a:solidFill>
            <a:srgbClr val="FFFFFF"/>
          </a:solidFill>
          <a:ln w="9525">
            <a:solidFill>
              <a:srgbClr val="C8D5C8"/>
            </a:solidFill>
            <a:prstDash val="solid"/>
          </a:ln>
        </p:spPr>
      </p:sp>
      <p:pic>
        <p:nvPicPr>
          <p:cNvPr id="21" name="Image 0" descr="preencoded.png"/>
          <p:cNvPicPr>
            <a:picLocks noChangeAspect="1"/>
          </p:cNvPicPr>
          <p:nvPr/>
        </p:nvPicPr>
        <p:blipFill>
          <a:blip r:embed="rId3"/>
          <a:stretch>
            <a:fillRect/>
          </a:stretch>
        </p:blipFill>
        <p:spPr>
          <a:xfrm>
            <a:off x="6949440" y="4160520"/>
            <a:ext cx="4663440" cy="725424"/>
          </a:xfrm>
          <a:prstGeom prst="rect">
            <a:avLst/>
          </a:prstGeom>
        </p:spPr>
      </p:pic>
      <p:sp>
        <p:nvSpPr>
          <p:cNvPr id="22" name="Text 17"/>
          <p:cNvSpPr txBox="1"/>
          <p:nvPr/>
        </p:nvSpPr>
        <p:spPr>
          <a:xfrm>
            <a:off x="6949440" y="4959096"/>
            <a:ext cx="4663440" cy="219456"/>
          </a:xfrm>
          <a:prstGeom prst="rect">
            <a:avLst/>
          </a:prstGeom>
          <a:noFill/>
          <a:ln/>
        </p:spPr>
        <p:txBody>
          <a:bodyPr wrap="square" lIns="0" tIns="0" rIns="0" bIns="0" rtlCol="0" anchor="ctr"/>
          <a:lstStyle/>
          <a:p>
            <a:pPr marL="0" indent="0">
              <a:buNone/>
            </a:pPr>
            <a:r>
              <a:rPr lang="en-US" sz="1000" i="1" dirty="0">
                <a:solidFill>
                  <a:srgbClr val="5E6E5E"/>
                </a:solidFill>
                <a:latin typeface="Calibri" pitchFamily="34" charset="0"/>
                <a:ea typeface="Calibri" pitchFamily="34" charset="-122"/>
                <a:cs typeface="Calibri" pitchFamily="34" charset="-120"/>
              </a:rPr>
              <a:t>Credits page: $14.39 estimated used, $145.61 remaining</a:t>
            </a:r>
            <a:endParaRPr lang="en-US" sz="1000" dirty="0"/>
          </a:p>
        </p:txBody>
      </p:sp>
      <p:sp>
        <p:nvSpPr>
          <p:cNvPr id="23" name="Text 18"/>
          <p:cNvSpPr txBox="1"/>
          <p:nvPr/>
        </p:nvSpPr>
        <p:spPr>
          <a:xfrm>
            <a:off x="6949440" y="5257800"/>
            <a:ext cx="4663440" cy="548640"/>
          </a:xfrm>
          <a:prstGeom prst="rect">
            <a:avLst/>
          </a:prstGeom>
          <a:noFill/>
          <a:ln/>
        </p:spPr>
        <p:txBody>
          <a:bodyPr wrap="square" lIns="0" tIns="0" rIns="0" bIns="0" rtlCol="0" anchor="ctr"/>
          <a:lstStyle/>
          <a:p>
            <a:pPr marL="0" indent="0">
              <a:buNone/>
            </a:pPr>
            <a:r>
              <a:rPr lang="en-US" sz="1200" i="1" dirty="0">
                <a:solidFill>
                  <a:srgbClr val="3E4E3E"/>
                </a:solidFill>
                <a:latin typeface="Calibri" pitchFamily="34" charset="0"/>
                <a:ea typeface="Calibri" pitchFamily="34" charset="-122"/>
                <a:cs typeface="Calibri" pitchFamily="34" charset="-120"/>
              </a:rPr>
              <a:t>The forecast alert has already fired ($14.62 forecast &gt; $10), so the budget alarm is proven to work.</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E6E5E"/>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6" name="Text 24"/>
          <p:cNvSpPr txBox="1"/>
          <p:nvPr/>
        </p:nvSpPr>
        <p:spPr>
          <a:xfrm>
            <a:off x="4986779" y="2303910"/>
            <a:ext cx="3186260" cy="1608213"/>
          </a:xfrm>
          <a:prstGeom prst="rect">
            <a:avLst/>
          </a:prstGeom>
          <a:noFill/>
          <a:ln/>
        </p:spPr>
        <p:txBody>
          <a:bodyPr wrap="square" lIns="0" tIns="0" rIns="0" bIns="0" rtlCol="0" anchor="ctr"/>
          <a:lstStyle/>
          <a:p>
            <a:pPr marL="0" indent="0">
              <a:buNone/>
            </a:pPr>
            <a:r>
              <a:rPr lang="en-US" sz="5000" i="1" dirty="0">
                <a:solidFill>
                  <a:srgbClr val="E8C08A"/>
                </a:solidFill>
                <a:latin typeface="Cambria" pitchFamily="34" charset="0"/>
                <a:ea typeface="Cambria" pitchFamily="34" charset="-122"/>
                <a:cs typeface="Cambria" pitchFamily="34" charset="-120"/>
              </a:rPr>
              <a:t>Thank </a:t>
            </a:r>
            <a:r>
              <a:rPr lang="en-US" sz="5000" i="1" dirty="0" smtClean="0">
                <a:solidFill>
                  <a:srgbClr val="E8C08A"/>
                </a:solidFill>
                <a:latin typeface="Cambria" pitchFamily="34" charset="0"/>
                <a:ea typeface="Cambria" pitchFamily="34" charset="-122"/>
                <a:cs typeface="Cambria" pitchFamily="34" charset="-120"/>
              </a:rPr>
              <a:t>you</a:t>
            </a:r>
            <a:endParaRPr lang="en-US" sz="5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731520" y="411480"/>
            <a:ext cx="7315200" cy="731520"/>
          </a:xfrm>
          <a:prstGeom prst="rect">
            <a:avLst/>
          </a:prstGeom>
          <a:noFill/>
          <a:ln/>
        </p:spPr>
        <p:txBody>
          <a:bodyPr wrap="square" lIns="0" tIns="0" rIns="0" bIns="0" rtlCol="0" anchor="ctr"/>
          <a:lstStyle/>
          <a:p>
            <a:pPr marL="0" indent="0">
              <a:buNone/>
            </a:pPr>
            <a:r>
              <a:rPr lang="en-US" sz="3600" b="1" dirty="0">
                <a:solidFill>
                  <a:srgbClr val="F2F7F2"/>
                </a:solidFill>
                <a:latin typeface="Cambria" pitchFamily="34" charset="0"/>
                <a:ea typeface="Cambria" pitchFamily="34" charset="-122"/>
                <a:cs typeface="Cambria" pitchFamily="34" charset="-120"/>
              </a:rPr>
              <a:t>What </a:t>
            </a:r>
            <a:r>
              <a:rPr lang="en-US" sz="3600" b="1" dirty="0" smtClean="0">
                <a:solidFill>
                  <a:srgbClr val="F2F7F2"/>
                </a:solidFill>
                <a:latin typeface="Cambria" pitchFamily="34" charset="0"/>
                <a:ea typeface="Cambria" pitchFamily="34" charset="-122"/>
                <a:cs typeface="Cambria" pitchFamily="34" charset="-120"/>
              </a:rPr>
              <a:t>we did</a:t>
            </a:r>
            <a:endParaRPr lang="en-US" sz="3600" dirty="0"/>
          </a:p>
        </p:txBody>
      </p:sp>
      <p:sp>
        <p:nvSpPr>
          <p:cNvPr id="4" name="Shape 2"/>
          <p:cNvSpPr/>
          <p:nvPr/>
        </p:nvSpPr>
        <p:spPr>
          <a:xfrm>
            <a:off x="731520" y="1417320"/>
            <a:ext cx="5257800" cy="1280160"/>
          </a:xfrm>
          <a:prstGeom prst="roundRect">
            <a:avLst>
              <a:gd name="adj" fmla="val 5714"/>
            </a:avLst>
          </a:prstGeom>
          <a:solidFill>
            <a:srgbClr val="263D26"/>
          </a:solidFill>
          <a:ln w="12700">
            <a:solidFill>
              <a:srgbClr val="4A7A4A"/>
            </a:solidFill>
            <a:prstDash val="solid"/>
          </a:ln>
        </p:spPr>
      </p:sp>
      <p:sp>
        <p:nvSpPr>
          <p:cNvPr id="5" name="Shape 3"/>
          <p:cNvSpPr/>
          <p:nvPr/>
        </p:nvSpPr>
        <p:spPr>
          <a:xfrm>
            <a:off x="960120" y="1645920"/>
            <a:ext cx="502920" cy="502920"/>
          </a:xfrm>
          <a:prstGeom prst="ellipse">
            <a:avLst/>
          </a:prstGeom>
          <a:solidFill>
            <a:srgbClr val="2A7A4A"/>
          </a:solidFill>
          <a:ln w="12700">
            <a:solidFill>
              <a:srgbClr val="F2F7F2"/>
            </a:solidFill>
            <a:prstDash val="solid"/>
          </a:ln>
        </p:spPr>
      </p:sp>
      <p:sp>
        <p:nvSpPr>
          <p:cNvPr id="6" name="Text 4"/>
          <p:cNvSpPr txBox="1"/>
          <p:nvPr/>
        </p:nvSpPr>
        <p:spPr>
          <a:xfrm>
            <a:off x="960120" y="1645920"/>
            <a:ext cx="5029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SG</a:t>
            </a:r>
            <a:endParaRPr lang="en-US" sz="1200" dirty="0"/>
          </a:p>
        </p:txBody>
      </p:sp>
      <p:sp>
        <p:nvSpPr>
          <p:cNvPr id="7" name="Text 5"/>
          <p:cNvSpPr txBox="1"/>
          <p:nvPr/>
        </p:nvSpPr>
        <p:spPr>
          <a:xfrm>
            <a:off x="1600200" y="1618488"/>
            <a:ext cx="4114800" cy="292608"/>
          </a:xfrm>
          <a:prstGeom prst="rect">
            <a:avLst/>
          </a:prstGeom>
          <a:noFill/>
          <a:ln/>
        </p:spPr>
        <p:txBody>
          <a:bodyPr wrap="square" lIns="0" tIns="0" rIns="0" bIns="0" rtlCol="0" anchor="ctr"/>
          <a:lstStyle/>
          <a:p>
            <a:pPr marL="0" indent="0">
              <a:buNone/>
            </a:pPr>
            <a:r>
              <a:rPr lang="en-US" sz="1300" b="1" dirty="0">
                <a:solidFill>
                  <a:srgbClr val="A8D5B8"/>
                </a:solidFill>
                <a:latin typeface="Calibri" pitchFamily="34" charset="0"/>
                <a:ea typeface="Calibri" pitchFamily="34" charset="-122"/>
                <a:cs typeface="Calibri" pitchFamily="34" charset="-120"/>
              </a:rPr>
              <a:t>Somitha Gudivada</a:t>
            </a:r>
            <a:endParaRPr lang="en-US" sz="1300" dirty="0"/>
          </a:p>
        </p:txBody>
      </p:sp>
      <p:sp>
        <p:nvSpPr>
          <p:cNvPr id="8" name="Text 6"/>
          <p:cNvSpPr txBox="1"/>
          <p:nvPr/>
        </p:nvSpPr>
        <p:spPr>
          <a:xfrm>
            <a:off x="1600200" y="1920240"/>
            <a:ext cx="4206240" cy="822960"/>
          </a:xfrm>
          <a:prstGeom prst="rect">
            <a:avLst/>
          </a:prstGeom>
          <a:noFill/>
          <a:ln/>
        </p:spPr>
        <p:txBody>
          <a:bodyPr wrap="square" lIns="0" tIns="0" rIns="0" bIns="0" rtlCol="0" anchor="t"/>
          <a:lstStyle/>
          <a:p>
            <a:pPr marL="0" indent="0">
              <a:buNone/>
            </a:pPr>
            <a:r>
              <a:rPr lang="en-US" sz="1400" dirty="0">
                <a:solidFill>
                  <a:srgbClr val="F2F7F2"/>
                </a:solidFill>
                <a:latin typeface="Calibri" pitchFamily="34" charset="0"/>
                <a:ea typeface="Calibri" pitchFamily="34" charset="-122"/>
                <a:cs typeface="Calibri" pitchFamily="34" charset="-120"/>
              </a:rPr>
              <a:t>A careful data model shapes every query after it: the partition key and TTL decided our speed and our cost.</a:t>
            </a:r>
            <a:endParaRPr lang="en-US" sz="1400" dirty="0"/>
          </a:p>
        </p:txBody>
      </p:sp>
      <p:sp>
        <p:nvSpPr>
          <p:cNvPr id="9" name="Shape 7"/>
          <p:cNvSpPr/>
          <p:nvPr/>
        </p:nvSpPr>
        <p:spPr>
          <a:xfrm>
            <a:off x="6217920" y="1417320"/>
            <a:ext cx="5257800" cy="1280160"/>
          </a:xfrm>
          <a:prstGeom prst="roundRect">
            <a:avLst>
              <a:gd name="adj" fmla="val 5714"/>
            </a:avLst>
          </a:prstGeom>
          <a:solidFill>
            <a:srgbClr val="263D26"/>
          </a:solidFill>
          <a:ln w="12700">
            <a:solidFill>
              <a:srgbClr val="4A7A4A"/>
            </a:solidFill>
            <a:prstDash val="solid"/>
          </a:ln>
        </p:spPr>
      </p:sp>
      <p:sp>
        <p:nvSpPr>
          <p:cNvPr id="10" name="Shape 8"/>
          <p:cNvSpPr/>
          <p:nvPr/>
        </p:nvSpPr>
        <p:spPr>
          <a:xfrm>
            <a:off x="6446520" y="1645920"/>
            <a:ext cx="502920" cy="502920"/>
          </a:xfrm>
          <a:prstGeom prst="ellipse">
            <a:avLst/>
          </a:prstGeom>
          <a:solidFill>
            <a:srgbClr val="6A4898"/>
          </a:solidFill>
          <a:ln w="12700">
            <a:solidFill>
              <a:srgbClr val="F2F7F2"/>
            </a:solidFill>
            <a:prstDash val="solid"/>
          </a:ln>
        </p:spPr>
      </p:sp>
      <p:sp>
        <p:nvSpPr>
          <p:cNvPr id="11" name="Text 9"/>
          <p:cNvSpPr txBox="1"/>
          <p:nvPr/>
        </p:nvSpPr>
        <p:spPr>
          <a:xfrm>
            <a:off x="6446520" y="1645920"/>
            <a:ext cx="5029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ME</a:t>
            </a:r>
            <a:endParaRPr lang="en-US" sz="1200" dirty="0"/>
          </a:p>
        </p:txBody>
      </p:sp>
      <p:sp>
        <p:nvSpPr>
          <p:cNvPr id="12" name="Text 10"/>
          <p:cNvSpPr txBox="1"/>
          <p:nvPr/>
        </p:nvSpPr>
        <p:spPr>
          <a:xfrm>
            <a:off x="7086600" y="1618488"/>
            <a:ext cx="4114800" cy="292608"/>
          </a:xfrm>
          <a:prstGeom prst="rect">
            <a:avLst/>
          </a:prstGeom>
          <a:noFill/>
          <a:ln/>
        </p:spPr>
        <p:txBody>
          <a:bodyPr wrap="square" lIns="0" tIns="0" rIns="0" bIns="0" rtlCol="0" anchor="ctr"/>
          <a:lstStyle/>
          <a:p>
            <a:pPr marL="0" indent="0">
              <a:buNone/>
            </a:pPr>
            <a:r>
              <a:rPr lang="en-US" sz="1300" b="1" dirty="0">
                <a:solidFill>
                  <a:srgbClr val="A8D5B8"/>
                </a:solidFill>
                <a:latin typeface="Calibri" pitchFamily="34" charset="0"/>
                <a:ea typeface="Calibri" pitchFamily="34" charset="-122"/>
                <a:cs typeface="Calibri" pitchFamily="34" charset="-120"/>
              </a:rPr>
              <a:t>Meha</a:t>
            </a:r>
            <a:endParaRPr lang="en-US" sz="1300" dirty="0"/>
          </a:p>
        </p:txBody>
      </p:sp>
      <p:sp>
        <p:nvSpPr>
          <p:cNvPr id="13" name="Text 11"/>
          <p:cNvSpPr txBox="1"/>
          <p:nvPr/>
        </p:nvSpPr>
        <p:spPr>
          <a:xfrm>
            <a:off x="7086600" y="1920240"/>
            <a:ext cx="4206240" cy="822960"/>
          </a:xfrm>
          <a:prstGeom prst="rect">
            <a:avLst/>
          </a:prstGeom>
          <a:noFill/>
          <a:ln/>
        </p:spPr>
        <p:txBody>
          <a:bodyPr wrap="square" lIns="0" tIns="0" rIns="0" bIns="0" rtlCol="0" anchor="t"/>
          <a:lstStyle/>
          <a:p>
            <a:pPr marL="0" indent="0">
              <a:buNone/>
            </a:pPr>
            <a:r>
              <a:rPr lang="en-US" sz="1400" dirty="0">
                <a:solidFill>
                  <a:srgbClr val="F2F7F2"/>
                </a:solidFill>
                <a:latin typeface="Calibri" pitchFamily="34" charset="0"/>
                <a:ea typeface="Calibri" pitchFamily="34" charset="-122"/>
                <a:cs typeface="Calibri" pitchFamily="34" charset="-120"/>
              </a:rPr>
              <a:t>Authentication working is not authorization being correct. We had to audit every single route.</a:t>
            </a:r>
            <a:endParaRPr lang="en-US" sz="1400" dirty="0"/>
          </a:p>
        </p:txBody>
      </p:sp>
      <p:sp>
        <p:nvSpPr>
          <p:cNvPr id="14" name="Shape 12"/>
          <p:cNvSpPr/>
          <p:nvPr/>
        </p:nvSpPr>
        <p:spPr>
          <a:xfrm>
            <a:off x="731520" y="2926080"/>
            <a:ext cx="5257800" cy="1280160"/>
          </a:xfrm>
          <a:prstGeom prst="roundRect">
            <a:avLst>
              <a:gd name="adj" fmla="val 5714"/>
            </a:avLst>
          </a:prstGeom>
          <a:solidFill>
            <a:srgbClr val="263D26"/>
          </a:solidFill>
          <a:ln w="12700">
            <a:solidFill>
              <a:srgbClr val="4A7A4A"/>
            </a:solidFill>
            <a:prstDash val="solid"/>
          </a:ln>
        </p:spPr>
      </p:sp>
      <p:sp>
        <p:nvSpPr>
          <p:cNvPr id="15" name="Shape 13"/>
          <p:cNvSpPr/>
          <p:nvPr/>
        </p:nvSpPr>
        <p:spPr>
          <a:xfrm>
            <a:off x="960120" y="3154680"/>
            <a:ext cx="502920" cy="502920"/>
          </a:xfrm>
          <a:prstGeom prst="ellipse">
            <a:avLst/>
          </a:prstGeom>
          <a:solidFill>
            <a:srgbClr val="3A6888"/>
          </a:solidFill>
          <a:ln w="12700">
            <a:solidFill>
              <a:srgbClr val="F2F7F2"/>
            </a:solidFill>
            <a:prstDash val="solid"/>
          </a:ln>
        </p:spPr>
      </p:sp>
      <p:sp>
        <p:nvSpPr>
          <p:cNvPr id="16" name="Text 14"/>
          <p:cNvSpPr txBox="1"/>
          <p:nvPr/>
        </p:nvSpPr>
        <p:spPr>
          <a:xfrm>
            <a:off x="960120" y="3154680"/>
            <a:ext cx="5029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MA</a:t>
            </a:r>
            <a:endParaRPr lang="en-US" sz="1200" dirty="0"/>
          </a:p>
        </p:txBody>
      </p:sp>
      <p:sp>
        <p:nvSpPr>
          <p:cNvPr id="17" name="Text 15"/>
          <p:cNvSpPr txBox="1"/>
          <p:nvPr/>
        </p:nvSpPr>
        <p:spPr>
          <a:xfrm>
            <a:off x="1600200" y="3127248"/>
            <a:ext cx="4114800" cy="292608"/>
          </a:xfrm>
          <a:prstGeom prst="rect">
            <a:avLst/>
          </a:prstGeom>
          <a:noFill/>
          <a:ln/>
        </p:spPr>
        <p:txBody>
          <a:bodyPr wrap="square" lIns="0" tIns="0" rIns="0" bIns="0" rtlCol="0" anchor="ctr"/>
          <a:lstStyle/>
          <a:p>
            <a:pPr marL="0" indent="0">
              <a:buNone/>
            </a:pPr>
            <a:r>
              <a:rPr lang="en-US" sz="1300" b="1" dirty="0">
                <a:solidFill>
                  <a:srgbClr val="A8D5B8"/>
                </a:solidFill>
                <a:latin typeface="Calibri" pitchFamily="34" charset="0"/>
                <a:ea typeface="Calibri" pitchFamily="34" charset="-122"/>
                <a:cs typeface="Calibri" pitchFamily="34" charset="-120"/>
              </a:rPr>
              <a:t>Madhavan</a:t>
            </a:r>
            <a:endParaRPr lang="en-US" sz="1300" dirty="0"/>
          </a:p>
        </p:txBody>
      </p:sp>
      <p:sp>
        <p:nvSpPr>
          <p:cNvPr id="18" name="Text 16"/>
          <p:cNvSpPr txBox="1"/>
          <p:nvPr/>
        </p:nvSpPr>
        <p:spPr>
          <a:xfrm>
            <a:off x="1600200" y="3429000"/>
            <a:ext cx="4206240" cy="822960"/>
          </a:xfrm>
          <a:prstGeom prst="rect">
            <a:avLst/>
          </a:prstGeom>
          <a:noFill/>
          <a:ln/>
        </p:spPr>
        <p:txBody>
          <a:bodyPr wrap="square" lIns="0" tIns="0" rIns="0" bIns="0" rtlCol="0" anchor="t"/>
          <a:lstStyle/>
          <a:p>
            <a:pPr marL="0" indent="0">
              <a:buNone/>
            </a:pPr>
            <a:r>
              <a:rPr lang="en-US" sz="1400" dirty="0">
                <a:solidFill>
                  <a:srgbClr val="F2F7F2"/>
                </a:solidFill>
                <a:latin typeface="Calibri" pitchFamily="34" charset="0"/>
                <a:ea typeface="Calibri" pitchFamily="34" charset="-122"/>
                <a:cs typeface="Calibri" pitchFamily="34" charset="-120"/>
              </a:rPr>
              <a:t>Testing against the live API found three validation gaps that unit tests had missed.</a:t>
            </a:r>
            <a:endParaRPr lang="en-US" sz="1400" dirty="0"/>
          </a:p>
        </p:txBody>
      </p:sp>
      <p:sp>
        <p:nvSpPr>
          <p:cNvPr id="19" name="Shape 17"/>
          <p:cNvSpPr/>
          <p:nvPr/>
        </p:nvSpPr>
        <p:spPr>
          <a:xfrm>
            <a:off x="6217920" y="2926080"/>
            <a:ext cx="5257800" cy="1280160"/>
          </a:xfrm>
          <a:prstGeom prst="roundRect">
            <a:avLst>
              <a:gd name="adj" fmla="val 5714"/>
            </a:avLst>
          </a:prstGeom>
          <a:solidFill>
            <a:srgbClr val="263D26"/>
          </a:solidFill>
          <a:ln w="12700">
            <a:solidFill>
              <a:srgbClr val="4A7A4A"/>
            </a:solidFill>
            <a:prstDash val="solid"/>
          </a:ln>
        </p:spPr>
      </p:sp>
      <p:sp>
        <p:nvSpPr>
          <p:cNvPr id="20" name="Shape 18"/>
          <p:cNvSpPr/>
          <p:nvPr/>
        </p:nvSpPr>
        <p:spPr>
          <a:xfrm>
            <a:off x="6446520" y="3154680"/>
            <a:ext cx="502920" cy="502920"/>
          </a:xfrm>
          <a:prstGeom prst="ellipse">
            <a:avLst/>
          </a:prstGeom>
          <a:solidFill>
            <a:srgbClr val="B05E10"/>
          </a:solidFill>
          <a:ln w="12700">
            <a:solidFill>
              <a:srgbClr val="F2F7F2"/>
            </a:solidFill>
            <a:prstDash val="solid"/>
          </a:ln>
        </p:spPr>
      </p:sp>
      <p:sp>
        <p:nvSpPr>
          <p:cNvPr id="21" name="Text 19"/>
          <p:cNvSpPr txBox="1"/>
          <p:nvPr/>
        </p:nvSpPr>
        <p:spPr>
          <a:xfrm>
            <a:off x="6446520" y="3154680"/>
            <a:ext cx="5029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MD</a:t>
            </a:r>
            <a:endParaRPr lang="en-US" sz="1200" dirty="0"/>
          </a:p>
        </p:txBody>
      </p:sp>
      <p:sp>
        <p:nvSpPr>
          <p:cNvPr id="22" name="Text 20"/>
          <p:cNvSpPr txBox="1"/>
          <p:nvPr/>
        </p:nvSpPr>
        <p:spPr>
          <a:xfrm>
            <a:off x="7086600" y="3127248"/>
            <a:ext cx="4114800" cy="292608"/>
          </a:xfrm>
          <a:prstGeom prst="rect">
            <a:avLst/>
          </a:prstGeom>
          <a:noFill/>
          <a:ln/>
        </p:spPr>
        <p:txBody>
          <a:bodyPr wrap="square" lIns="0" tIns="0" rIns="0" bIns="0" rtlCol="0" anchor="ctr"/>
          <a:lstStyle/>
          <a:p>
            <a:pPr marL="0" indent="0">
              <a:buNone/>
            </a:pPr>
            <a:r>
              <a:rPr lang="en-US" sz="1300" b="1" dirty="0">
                <a:solidFill>
                  <a:srgbClr val="A8D5B8"/>
                </a:solidFill>
                <a:latin typeface="Calibri" pitchFamily="34" charset="0"/>
                <a:ea typeface="Calibri" pitchFamily="34" charset="-122"/>
                <a:cs typeface="Calibri" pitchFamily="34" charset="-120"/>
              </a:rPr>
              <a:t>MD</a:t>
            </a:r>
            <a:endParaRPr lang="en-US" sz="1300" dirty="0"/>
          </a:p>
        </p:txBody>
      </p:sp>
      <p:sp>
        <p:nvSpPr>
          <p:cNvPr id="23" name="Text 21"/>
          <p:cNvSpPr txBox="1"/>
          <p:nvPr/>
        </p:nvSpPr>
        <p:spPr>
          <a:xfrm>
            <a:off x="7086600" y="3429000"/>
            <a:ext cx="4206240" cy="822960"/>
          </a:xfrm>
          <a:prstGeom prst="rect">
            <a:avLst/>
          </a:prstGeom>
          <a:noFill/>
          <a:ln/>
        </p:spPr>
        <p:txBody>
          <a:bodyPr wrap="square" lIns="0" tIns="0" rIns="0" bIns="0" rtlCol="0" anchor="t"/>
          <a:lstStyle/>
          <a:p>
            <a:pPr marL="0" indent="0">
              <a:buNone/>
            </a:pPr>
            <a:r>
              <a:rPr lang="en-US" sz="1400" dirty="0">
                <a:solidFill>
                  <a:srgbClr val="F2F7F2"/>
                </a:solidFill>
                <a:latin typeface="Calibri" pitchFamily="34" charset="0"/>
                <a:ea typeface="Calibri" pitchFamily="34" charset="-122"/>
                <a:cs typeface="Calibri" pitchFamily="34" charset="-120"/>
              </a:rPr>
              <a:t>Some bugs only exist visually. We found the hidden-login bug by looking at the page, not by a test.</a:t>
            </a:r>
            <a:endParaRPr lang="en-US" sz="1400" dirty="0"/>
          </a:p>
        </p:txBody>
      </p:sp>
      <p:sp>
        <p:nvSpPr>
          <p:cNvPr id="24" name="Shape 22"/>
          <p:cNvSpPr/>
          <p:nvPr/>
        </p:nvSpPr>
        <p:spPr>
          <a:xfrm>
            <a:off x="731520" y="4709160"/>
            <a:ext cx="10744200" cy="685800"/>
          </a:xfrm>
          <a:prstGeom prst="roundRect">
            <a:avLst>
              <a:gd name="adj" fmla="val 10667"/>
            </a:avLst>
          </a:prstGeom>
          <a:solidFill>
            <a:srgbClr val="2E2A1E"/>
          </a:solidFill>
          <a:ln w="12700">
            <a:solidFill>
              <a:srgbClr val="6A5A3A"/>
            </a:solidFill>
            <a:prstDash val="solid"/>
          </a:ln>
        </p:spPr>
      </p:sp>
      <p:sp>
        <p:nvSpPr>
          <p:cNvPr id="25" name="Text 23"/>
          <p:cNvSpPr txBox="1"/>
          <p:nvPr/>
        </p:nvSpPr>
        <p:spPr>
          <a:xfrm>
            <a:off x="960120" y="4709160"/>
            <a:ext cx="10332720" cy="685800"/>
          </a:xfrm>
          <a:prstGeom prst="rect">
            <a:avLst/>
          </a:prstGeom>
          <a:noFill/>
          <a:ln/>
        </p:spPr>
        <p:txBody>
          <a:bodyPr wrap="square" lIns="0" tIns="0" rIns="0" bIns="0" rtlCol="0" anchor="ctr"/>
          <a:lstStyle/>
          <a:p>
            <a:pPr marL="0" indent="0">
              <a:buNone/>
            </a:pPr>
            <a:r>
              <a:rPr lang="en-US" sz="1300" b="1" dirty="0">
                <a:solidFill>
                  <a:srgbClr val="E8C08A"/>
                </a:solidFill>
                <a:latin typeface="Calibri" pitchFamily="34" charset="0"/>
                <a:ea typeface="Calibri" pitchFamily="34" charset="-122"/>
                <a:cs typeface="Calibri" pitchFamily="34" charset="-120"/>
              </a:rPr>
              <a:t>Honest limits:  </a:t>
            </a:r>
            <a:r>
              <a:rPr lang="en-US" sz="1300" dirty="0">
                <a:solidFill>
                  <a:srgbClr val="E8DCC8"/>
                </a:solidFill>
                <a:latin typeface="Calibri" pitchFamily="34" charset="0"/>
                <a:ea typeface="Calibri" pitchFamily="34" charset="-122"/>
                <a:cs typeface="Calibri" pitchFamily="34" charset="-120"/>
              </a:rPr>
              <a:t>single region · ~1,000 writes/s per day partition (fix designed: shard the key) · threshold rules, not ML · tokens valid until expiry</a:t>
            </a:r>
            <a:endParaRPr lang="en-US" sz="1300" dirty="0"/>
          </a:p>
        </p:txBody>
      </p:sp>
    </p:spTree>
    <p:extLst>
      <p:ext uri="{BB962C8B-B14F-4D97-AF65-F5344CB8AC3E}">
        <p14:creationId xmlns:p14="http://schemas.microsoft.com/office/powerpoint/2010/main" val="3308925939"/>
      </p:ext>
    </p:extLst>
  </p:cSld>
  <p:clrMapOvr>
    <a:masterClrMapping/>
  </p:clrMapOvr>
</p:sld>
</file>

<file path=ppt/theme/theme1.xml><?xml version="1.0" encoding="utf-8"?>
<a:theme xmlns:a="http://schemas.openxmlformats.org/drawingml/2006/main" name="CampusPulse Natural">
  <a:themeElements>
    <a:clrScheme name="CampusPulse Natural">
      <a:dk1>
        <a:srgbClr val="1B2E1B"/>
      </a:dk1>
      <a:lt1>
        <a:srgbClr val="FFFFFF"/>
      </a:lt1>
      <a:dk2>
        <a:srgbClr val="2A7A4A"/>
      </a:dk2>
      <a:lt2>
        <a:srgbClr val="F5F6F1"/>
      </a:lt2>
      <a:accent1>
        <a:srgbClr val="2A7A4A"/>
      </a:accent1>
      <a:accent2>
        <a:srgbClr val="B05E10"/>
      </a:accent2>
      <a:accent3>
        <a:srgbClr val="3A6888"/>
      </a:accent3>
      <a:accent4>
        <a:srgbClr val="6A4898"/>
      </a:accent4>
      <a:accent5>
        <a:srgbClr val="8A2A2A"/>
      </a:accent5>
      <a:accent6>
        <a:srgbClr val="1168B8"/>
      </a:accent6>
      <a:hlink>
        <a:srgbClr val="1168B8"/>
      </a:hlink>
      <a:folHlink>
        <a:srgbClr val="6A4898"/>
      </a:folHlink>
    </a:clrScheme>
    <a:fontScheme name="CampusPulse Natur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TotalTime>
  <Words>3631</Words>
  <Application>Microsoft Office PowerPoint</Application>
  <PresentationFormat>Widescreen</PresentationFormat>
  <Paragraphs>436</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Courier New</vt:lpstr>
      <vt:lpstr>CampusPulse Natural</vt:lpstr>
      <vt:lpstr>PowerPoint Presentation</vt:lpstr>
      <vt:lpstr>The problem and what we delivered</vt:lpstr>
      <vt:lpstr>Solution architecture</vt:lpstr>
      <vt:lpstr>One event, end to end</vt:lpstr>
      <vt:lpstr>Authentication with Amazon Cognito</vt:lpstr>
      <vt:lpstr>Three independent security layers</vt:lpstr>
      <vt:lpstr>Least privilege, audited</vt:lpstr>
      <vt:lpstr>The campus simulator</vt:lpstr>
      <vt:lpstr>Testing: 176 checks, 0 failures</vt:lpstr>
      <vt:lpstr>Live demo</vt:lpstr>
      <vt:lpstr>The operations dashboard</vt:lpstr>
      <vt:lpstr>Observability with Amazon CloudWatch</vt:lpstr>
      <vt:lpstr>Cost: measured, not guessed</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CampusPulse 2026 — Final Presentation</dc:title>
  <dc:subject>PptxGenJS Presentation</dc:subject>
  <dc:creator>Team 4</dc:creator>
  <cp:lastModifiedBy>EPW INDIA</cp:lastModifiedBy>
  <cp:revision>5</cp:revision>
  <dcterms:created xsi:type="dcterms:W3CDTF">2026-10-09T18:39:35Z</dcterms:created>
  <dcterms:modified xsi:type="dcterms:W3CDTF">2026-10-10T12:11:51Z</dcterms:modified>
</cp:coreProperties>
</file>