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4497f72-cd0c-1400-6c22-f291213f3350}">
          <p14:sldIdLst>
            <p14:sldId id="256"/>
            <p14:sldId id="257"/>
          </p14:sldIdLst>
        </p14:section>
        <p14:section name="Requirements" id="{dc9db175-1084-70b1-f5d1-5f40f9a478e4}">
          <p14:sldIdLst>
            <p14:sldId id="258"/>
          </p14:sldIdLst>
        </p14:section>
        <p14:section name="Architecture" id="{8c37e3ab-c187-7c4f-5d62-b0d81978ced5}">
          <p14:sldIdLst>
            <p14:sldId id="259"/>
            <p14:sldId id="260"/>
            <p14:sldId id="261"/>
            <p14:sldId id="262"/>
          </p14:sldIdLst>
        </p14:section>
        <p14:section name="Design details" id="{e071b994-db55-2ee9-3695-f3fbe62425a1}">
          <p14:sldIdLst>
            <p14:sldId id="263"/>
            <p14:sldId id="264"/>
            <p14:sldId id="265"/>
          </p14:sldIdLst>
        </p14:section>
        <p14:section name="Operations" id="{e967565f-5a39-34e3-9d5a-20df925a6577}">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CampusPulse 2026 is our cloud-native smart campus operations platform for the fictional NorthBridge University. It ingests simulated campus events such as occupancy, temperature and equipment failures, stores them, and turns them into statistics and alerts. This presentation covers Phase 1, requirements analysis, and Phase 2, architecture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Universities have many buildings and rooms producing operational data, but no unified cloud system to monitor them or to raise alerts. Our objectives map directly to the official requirements: an ingestion pipeline, storage and processing, a REST API, authentication with two roles, a dashboard, and low cost. We use simulated data so the project is demonstrable without real hardware.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requirements we extracted from the official PDF. Six are mandatory and Terraform is optional; we plan to include it because Infrastructure as Code is a core cloud skill. Every row is still marked Planned because implementation starts in Phase 3. We also list what we deliberately leave out: heavy services such as Kafka, Spark, EC2 or a NAT Gateway would add cost and complexity without satisfying any extra requirement.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complete architecture. Outside AWS on the left are the two clients: staff using a web browser and the Python campus simulator. The browser first loads the dashboard from S3, step 1. All API traffic, steps 2 and 3, enters through API Gateway, where a Cognito authorizer checks the JWT on protected routes, step 4. API Gateway routes each request to one of three Lambda functions, steps 5 to 7. Ingest writes events into DynamoDB, Query reads them back for statistics and alerts, and Auth signs users in through Cognito, steps 8 to 10. Every Lambda writes logs and metrics to CloudWatch, step 11. On the right, IAM, AWS Budgets and Terraform are cross-cutting: permissions, cost control and repeatable deployment. Everything is managed and serverless, so there is no VPC, NAT Gateway or EC2 to pay for or patch.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explains the eleven numbered arrows on the architecture slide. The important point is that there are two kinds of traffic: event ingestion from the simulator, and reads from the dashboard. Both pass through the same API Gateway and the same security checks, but they are handled by different Lambda functions with different IAM permissions.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service has one clear reason to exist, tied to a requirement. We asked of each one: what requirement does this satisfy, and could something simpler do it? That is why there is no EC2, RDS, Kafka or Kubernetes. IAM, Budgets and Terraform are cross-cutting rather than part of the request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life of one event. Step 3, Lambda Ingest, is where the business logic lives: it validates the event, compares the value with thresholds and assigns a severity. A normal event simply becomes data for statistics; an abnormal one is also surfaced as an alert on the dashboard. Every step is logged in CloudWatch, which is how we investigate failures.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event types share one table. event_id is the partition key and timestamp the sort key, so each event is uniquely addressable and ordered in time. DynamoDB is schema-less, so an occupancy event can store people while a temperature event stores degrees, with no schema change. The alert rules on the right are simple thresholds evaluated in Lambda Ingest; the exact values are design choices we can tune.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API is deliberately small: five endpoints cover ingestion, three read views and login. POST /events is called by the simulator; the three GET endpoints feed the dashboard; POST /login is the only public route. Status codes are listed so we can show error handling: 400 for invalid events, 401 for missing or bad tokens, 403 for a role that is not allowed.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has two layers. Cognito answers who you are and API Gateway enforces it with a JWT authorizer. The user's group in the token decides what they may do, and IAM limits what each Lambda can touch, so a compromised function has a small blast radius. These controls are designed now and will be implemented in Phase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service we use is pay-per-use, so cost follows traffic, and at prototype volume it is tiny. We still set an AWS Budgets alert and will report real costs from billing rather than estimates. Scalability and availability come from the managed services themselves, within their default quotas, which we state honestly rather than claiming unlimited scale. Disaster recovery is kept simple: DynamoDB backups plus redeploying everything with Terraform.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concludes Phases 1 and 2. We know what the specification requires, and we have an architecture where every component maps to a requirement and can be explained. Phase 3 starts the implementation with the repository, documentation skeleton and the first Terraform resources. Thank you,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5F6F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rtlCol="0"/>
          <a:lstStyle>
            <a:lvl1pPr algn="l" indent="0" marL="0">
              <a:buNone/>
              <a:defRPr lang="en-US" sz="3400" b="1" dirty="0">
                <a:solidFill>
                  <a:srgbClr val="2A7A4A"/>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3"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1000" dirty="0">
                <a:solidFill>
                  <a:srgbClr val="5E6E5E"/>
                </a:solidFill>
                <a:latin typeface="Calibri" pitchFamily="34" charset="0"/>
                <a:ea typeface="Calibri" pitchFamily="34" charset="-122"/>
                <a:cs typeface="Calibri" pitchFamily="34" charset="-120"/>
              </a:rPr>
              <a:t>CampusPulse 2026 · NorthBridge University · Team 4</a:t>
            </a:r>
            <a:endParaRPr lang="en-US" sz="10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5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E1B"/>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5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image" Target="../media/image-4-13.png"/><Relationship Id="rId14" Type="http://schemas.openxmlformats.org/officeDocument/2006/relationships/image" Target="../media/image-4-14.png"/><Relationship Id="rId15" Type="http://schemas.openxmlformats.org/officeDocument/2006/relationships/slideLayout" Target="../slideLayouts/slideLayout2.xml"/><Relationship Id="rId1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slideLayout" Target="../slideLayouts/slideLayout2.xml"/><Relationship Id="rId11"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2.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2.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8412480" y="-1097280"/>
            <a:ext cx="5120640" cy="5120640"/>
          </a:xfrm>
          <a:prstGeom prst="ellipse">
            <a:avLst/>
          </a:prstGeom>
          <a:solidFill>
            <a:srgbClr val="2A7A4A">
              <a:alpha val="45000"/>
            </a:srgbClr>
          </a:solidFill>
          <a:ln w="12700">
            <a:solidFill>
              <a:srgbClr val="2A7A4A">
                <a:alpha val="0"/>
              </a:srgbClr>
            </a:solidFill>
            <a:prstDash val="solid"/>
          </a:ln>
        </p:spPr>
      </p:sp>
      <p:sp>
        <p:nvSpPr>
          <p:cNvPr id="3" name="Shape 1"/>
          <p:cNvSpPr/>
          <p:nvPr/>
        </p:nvSpPr>
        <p:spPr>
          <a:xfrm>
            <a:off x="9692640" y="3566160"/>
            <a:ext cx="3291840" cy="3291840"/>
          </a:xfrm>
          <a:prstGeom prst="ellipse">
            <a:avLst/>
          </a:prstGeom>
          <a:solidFill>
            <a:srgbClr val="B05E10">
              <a:alpha val="30000"/>
            </a:srgbClr>
          </a:solidFill>
          <a:ln w="12700">
            <a:solidFill>
              <a:srgbClr val="B05E10">
                <a:alpha val="0"/>
              </a:srgbClr>
            </a:solidFill>
            <a:prstDash val="solid"/>
          </a:ln>
        </p:spPr>
      </p:sp>
      <p:pic>
        <p:nvPicPr>
          <p:cNvPr id="4" name="Image 0" descr="preencoded.png">    </p:cNvPr>
          <p:cNvPicPr>
            <a:picLocks noChangeAspect="1"/>
          </p:cNvPicPr>
          <p:nvPr/>
        </p:nvPicPr>
        <p:blipFill>
          <a:blip r:embed="rId1"/>
          <a:stretch>
            <a:fillRect/>
          </a:stretch>
        </p:blipFill>
        <p:spPr>
          <a:xfrm>
            <a:off x="731520" y="731520"/>
            <a:ext cx="640080" cy="640080"/>
          </a:xfrm>
          <a:prstGeom prst="rect">
            <a:avLst/>
          </a:prstGeom>
        </p:spPr>
      </p:pic>
      <p:sp>
        <p:nvSpPr>
          <p:cNvPr id="5" name="Text 2"/>
          <p:cNvSpPr txBox="1"/>
          <p:nvPr/>
        </p:nvSpPr>
        <p:spPr>
          <a:xfrm>
            <a:off x="1508760" y="822960"/>
            <a:ext cx="5486400" cy="457200"/>
          </a:xfrm>
          <a:prstGeom prst="rect">
            <a:avLst/>
          </a:prstGeom>
          <a:noFill/>
          <a:ln/>
        </p:spPr>
        <p:txBody>
          <a:bodyPr wrap="square" lIns="0" tIns="0" rIns="0" bIns="0" rtlCol="0" anchor="ctr"/>
          <a:lstStyle/>
          <a:p>
            <a:pPr indent="0" marL="0">
              <a:buNone/>
            </a:pPr>
            <a:r>
              <a:rPr lang="en-US" sz="1600" b="1" spc="400" kern="0" dirty="0">
                <a:solidFill>
                  <a:srgbClr val="A8D5B8"/>
                </a:solidFill>
                <a:latin typeface="Calibri" pitchFamily="34" charset="0"/>
                <a:ea typeface="Calibri" pitchFamily="34" charset="-122"/>
                <a:cs typeface="Calibri" pitchFamily="34" charset="-120"/>
              </a:rPr>
              <a:t>CAMPUSPULSE 2026</a:t>
            </a:r>
            <a:endParaRPr lang="en-US" sz="1600" dirty="0"/>
          </a:p>
        </p:txBody>
      </p:sp>
      <p:sp>
        <p:nvSpPr>
          <p:cNvPr id="6" name="Text 3"/>
          <p:cNvSpPr txBox="1"/>
          <p:nvPr/>
        </p:nvSpPr>
        <p:spPr>
          <a:xfrm>
            <a:off x="731520" y="1920240"/>
            <a:ext cx="8412480" cy="1737360"/>
          </a:xfrm>
          <a:prstGeom prst="rect">
            <a:avLst/>
          </a:prstGeom>
          <a:noFill/>
          <a:ln/>
        </p:spPr>
        <p:txBody>
          <a:bodyPr wrap="square" lIns="0" tIns="0" rIns="0" bIns="0" rtlCol="0" anchor="ctr"/>
          <a:lstStyle/>
          <a:p>
            <a:pPr indent="0" marL="0">
              <a:buNone/>
            </a:pPr>
            <a:r>
              <a:rPr lang="en-US" sz="4400" b="1" dirty="0">
                <a:solidFill>
                  <a:srgbClr val="F2F7F2"/>
                </a:solidFill>
                <a:latin typeface="Cambria" pitchFamily="34" charset="0"/>
                <a:ea typeface="Cambria" pitchFamily="34" charset="-122"/>
                <a:cs typeface="Cambria" pitchFamily="34" charset="-120"/>
              </a:rPr>
              <a:t>Cloud-Native Smart Campus Operations Platform</a:t>
            </a:r>
            <a:endParaRPr lang="en-US" sz="4400" dirty="0"/>
          </a:p>
        </p:txBody>
      </p:sp>
      <p:sp>
        <p:nvSpPr>
          <p:cNvPr id="7" name="Text 4"/>
          <p:cNvSpPr txBox="1"/>
          <p:nvPr/>
        </p:nvSpPr>
        <p:spPr>
          <a:xfrm>
            <a:off x="731520" y="3703320"/>
            <a:ext cx="7863840" cy="457200"/>
          </a:xfrm>
          <a:prstGeom prst="rect">
            <a:avLst/>
          </a:prstGeom>
          <a:noFill/>
          <a:ln/>
        </p:spPr>
        <p:txBody>
          <a:bodyPr wrap="square" lIns="0" tIns="0" rIns="0" bIns="0" rtlCol="0" anchor="ctr"/>
          <a:lstStyle/>
          <a:p>
            <a:pPr indent="0" marL="0">
              <a:buNone/>
            </a:pPr>
            <a:r>
              <a:rPr lang="en-US" sz="1800" dirty="0">
                <a:solidFill>
                  <a:srgbClr val="C9DCC9"/>
                </a:solidFill>
                <a:latin typeface="Calibri" pitchFamily="34" charset="0"/>
                <a:ea typeface="Calibri" pitchFamily="34" charset="-122"/>
                <a:cs typeface="Calibri" pitchFamily="34" charset="-120"/>
              </a:rPr>
              <a:t>Serverless AWS architecture for simulated campus event data</a:t>
            </a:r>
            <a:endParaRPr lang="en-US" sz="1800" dirty="0"/>
          </a:p>
        </p:txBody>
      </p:sp>
      <p:sp>
        <p:nvSpPr>
          <p:cNvPr id="8" name="Text 5"/>
          <p:cNvSpPr txBox="1"/>
          <p:nvPr/>
        </p:nvSpPr>
        <p:spPr>
          <a:xfrm>
            <a:off x="731520" y="4206240"/>
            <a:ext cx="7863840" cy="365760"/>
          </a:xfrm>
          <a:prstGeom prst="rect">
            <a:avLst/>
          </a:prstGeom>
          <a:noFill/>
          <a:ln/>
        </p:spPr>
        <p:txBody>
          <a:bodyPr wrap="square" lIns="0" tIns="0" rIns="0" bIns="0" rtlCol="0" anchor="ctr"/>
          <a:lstStyle/>
          <a:p>
            <a:pPr indent="0" marL="0">
              <a:buNone/>
            </a:pPr>
            <a:r>
              <a:rPr lang="en-US" sz="1600" i="1" dirty="0">
                <a:solidFill>
                  <a:srgbClr val="E8C08A"/>
                </a:solidFill>
                <a:latin typeface="Calibri" pitchFamily="34" charset="0"/>
                <a:ea typeface="Calibri" pitchFamily="34" charset="-122"/>
                <a:cs typeface="Calibri" pitchFamily="34" charset="-120"/>
              </a:rPr>
              <a:t>Phase 1 &amp; 2 — Requirements Analysis and Architecture Design</a:t>
            </a:r>
            <a:endParaRPr lang="en-US" sz="1600" dirty="0"/>
          </a:p>
        </p:txBody>
      </p:sp>
      <p:sp>
        <p:nvSpPr>
          <p:cNvPr id="9" name="Text 6"/>
          <p:cNvSpPr txBox="1"/>
          <p:nvPr/>
        </p:nvSpPr>
        <p:spPr>
          <a:xfrm>
            <a:off x="731520" y="5303520"/>
            <a:ext cx="7772400" cy="685800"/>
          </a:xfrm>
          <a:prstGeom prst="rect">
            <a:avLst/>
          </a:prstGeom>
          <a:noFill/>
          <a:ln/>
        </p:spPr>
        <p:txBody>
          <a:bodyPr wrap="square" lIns="0" tIns="0" rIns="0" bIns="0" rtlCol="0" anchor="ctr"/>
          <a:lstStyle/>
          <a:p>
            <a:pPr indent="0" marL="0">
              <a:spcAft>
                <a:spcPts val="400"/>
              </a:spcAft>
              <a:buNone/>
            </a:pPr>
            <a:r>
              <a:rPr lang="en-US" sz="1400" dirty="0">
                <a:solidFill>
                  <a:srgbClr val="C9DCC9"/>
                </a:solidFill>
                <a:latin typeface="Calibri" pitchFamily="34" charset="0"/>
                <a:ea typeface="Calibri" pitchFamily="34" charset="-122"/>
                <a:cs typeface="Calibri" pitchFamily="34" charset="-120"/>
              </a:rPr>
              <a:t>NorthBridge University · Big Data &amp; Cloud Computing</a:t>
            </a:r>
            <a:endParaRPr lang="en-US" sz="1400" dirty="0"/>
          </a:p>
          <a:p>
            <a:pPr indent="0" marL="0">
              <a:spcAft>
                <a:spcPts val="400"/>
              </a:spcAft>
              <a:buNone/>
            </a:pPr>
            <a:r>
              <a:rPr lang="en-US" sz="1400" dirty="0">
                <a:solidFill>
                  <a:srgbClr val="C9DCC9"/>
                </a:solidFill>
                <a:latin typeface="Calibri" pitchFamily="34" charset="0"/>
                <a:ea typeface="Calibri" pitchFamily="34" charset="-122"/>
                <a:cs typeface="Calibri" pitchFamily="34" charset="-120"/>
              </a:rPr>
              <a:t>Team 4: Somitha Gudivada · Meha · Madhavan · MD</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3400" b="1" dirty="0">
                <a:solidFill>
                  <a:srgbClr val="2A7A4A"/>
                </a:solidFill>
                <a:latin typeface="Cambria" pitchFamily="34" charset="0"/>
                <a:ea typeface="Cambria" pitchFamily="34" charset="-122"/>
                <a:cs typeface="Cambria" pitchFamily="34" charset="-120"/>
              </a:rPr>
              <a:t>Problem and objectives</a:t>
            </a:r>
            <a:endParaRPr lang="en-US" sz="3400" dirty="0"/>
          </a:p>
        </p:txBody>
      </p:sp>
      <p:sp>
        <p:nvSpPr>
          <p:cNvPr id="3" name="Shape 1"/>
          <p:cNvSpPr/>
          <p:nvPr/>
        </p:nvSpPr>
        <p:spPr>
          <a:xfrm>
            <a:off x="548640" y="1234440"/>
            <a:ext cx="5257800" cy="3931920"/>
          </a:xfrm>
          <a:prstGeom prst="roundRect">
            <a:avLst>
              <a:gd name="adj" fmla="val 1860"/>
            </a:avLst>
          </a:prstGeom>
          <a:solidFill>
            <a:srgbClr val="FFFFFF"/>
          </a:solidFill>
          <a:ln w="12700">
            <a:solidFill>
              <a:srgbClr val="C8D5C8"/>
            </a:solidFill>
            <a:prstDash val="solid"/>
          </a:ln>
        </p:spPr>
      </p:sp>
      <p:sp>
        <p:nvSpPr>
          <p:cNvPr id="4" name="Text 2"/>
          <p:cNvSpPr txBox="1"/>
          <p:nvPr/>
        </p:nvSpPr>
        <p:spPr>
          <a:xfrm>
            <a:off x="822960" y="1417320"/>
            <a:ext cx="4572000" cy="365760"/>
          </a:xfrm>
          <a:prstGeom prst="rect">
            <a:avLst/>
          </a:prstGeom>
          <a:noFill/>
          <a:ln/>
        </p:spPr>
        <p:txBody>
          <a:bodyPr wrap="square" lIns="0" tIns="0" rIns="0" bIns="0" rtlCol="0" anchor="ctr"/>
          <a:lstStyle/>
          <a:p>
            <a:pPr indent="0" marL="0">
              <a:buNone/>
            </a:pPr>
            <a:r>
              <a:rPr lang="en-US" sz="2000" b="1" dirty="0">
                <a:solidFill>
                  <a:srgbClr val="8A2A2A"/>
                </a:solidFill>
                <a:latin typeface="Cambria" pitchFamily="34" charset="0"/>
                <a:ea typeface="Cambria" pitchFamily="34" charset="-122"/>
                <a:cs typeface="Cambria" pitchFamily="34" charset="-120"/>
              </a:rPr>
              <a:t>The problem</a:t>
            </a:r>
            <a:endParaRPr lang="en-US" sz="2000" dirty="0"/>
          </a:p>
        </p:txBody>
      </p:sp>
      <p:sp>
        <p:nvSpPr>
          <p:cNvPr id="5" name="Shape 3"/>
          <p:cNvSpPr/>
          <p:nvPr/>
        </p:nvSpPr>
        <p:spPr>
          <a:xfrm>
            <a:off x="822960" y="1965960"/>
            <a:ext cx="457200" cy="457200"/>
          </a:xfrm>
          <a:prstGeom prst="ellipse">
            <a:avLst/>
          </a:prstGeom>
          <a:solidFill>
            <a:srgbClr val="F6E3E3"/>
          </a:solidFill>
          <a:ln w="12700">
            <a:solidFill>
              <a:srgbClr val="F6E3E3"/>
            </a:solidFill>
            <a:prstDash val="solid"/>
          </a:ln>
        </p:spPr>
      </p:sp>
      <p:pic>
        <p:nvPicPr>
          <p:cNvPr id="6" name="Image 0" descr="preencoded.png">    </p:cNvPr>
          <p:cNvPicPr>
            <a:picLocks noChangeAspect="1"/>
          </p:cNvPicPr>
          <p:nvPr/>
        </p:nvPicPr>
        <p:blipFill>
          <a:blip r:embed="rId1"/>
          <a:stretch>
            <a:fillRect/>
          </a:stretch>
        </p:blipFill>
        <p:spPr>
          <a:xfrm>
            <a:off x="914400" y="2057400"/>
            <a:ext cx="274320" cy="274320"/>
          </a:xfrm>
          <a:prstGeom prst="rect">
            <a:avLst/>
          </a:prstGeom>
        </p:spPr>
      </p:pic>
      <p:sp>
        <p:nvSpPr>
          <p:cNvPr id="7" name="Text 4"/>
          <p:cNvSpPr txBox="1"/>
          <p:nvPr/>
        </p:nvSpPr>
        <p:spPr>
          <a:xfrm>
            <a:off x="1463040" y="1920240"/>
            <a:ext cx="4114800" cy="566928"/>
          </a:xfrm>
          <a:prstGeom prst="rect">
            <a:avLst/>
          </a:prstGeom>
          <a:noFill/>
          <a:ln/>
        </p:spPr>
        <p:txBody>
          <a:bodyPr wrap="square" lIns="0" tIns="0" rIns="0" bIns="0" rtlCol="0" anchor="ctr"/>
          <a:lstStyle/>
          <a:p>
            <a:pPr indent="0" marL="0">
              <a:buNone/>
            </a:pPr>
            <a:r>
              <a:rPr lang="en-US" sz="1400" dirty="0">
                <a:solidFill>
                  <a:srgbClr val="1B2E1B"/>
                </a:solidFill>
                <a:latin typeface="Calibri" pitchFamily="34" charset="0"/>
                <a:ea typeface="Calibri" pitchFamily="34" charset="-122"/>
                <a:cs typeface="Calibri" pitchFamily="34" charset="-120"/>
              </a:rPr>
              <a:t>Campuses produce constant operational data: occupancy, temperature, energy, equipment status</a:t>
            </a:r>
            <a:endParaRPr lang="en-US" sz="1400" dirty="0"/>
          </a:p>
        </p:txBody>
      </p:sp>
      <p:sp>
        <p:nvSpPr>
          <p:cNvPr id="8" name="Shape 5"/>
          <p:cNvSpPr/>
          <p:nvPr/>
        </p:nvSpPr>
        <p:spPr>
          <a:xfrm>
            <a:off x="822960" y="2743200"/>
            <a:ext cx="457200" cy="457200"/>
          </a:xfrm>
          <a:prstGeom prst="ellipse">
            <a:avLst/>
          </a:prstGeom>
          <a:solidFill>
            <a:srgbClr val="F6E3E3"/>
          </a:solidFill>
          <a:ln w="12700">
            <a:solidFill>
              <a:srgbClr val="F6E3E3"/>
            </a:solidFill>
            <a:prstDash val="solid"/>
          </a:ln>
        </p:spPr>
      </p:sp>
      <p:pic>
        <p:nvPicPr>
          <p:cNvPr id="9" name="Image 1" descr="preencoded.png">    </p:cNvPr>
          <p:cNvPicPr>
            <a:picLocks noChangeAspect="1"/>
          </p:cNvPicPr>
          <p:nvPr/>
        </p:nvPicPr>
        <p:blipFill>
          <a:blip r:embed="rId2"/>
          <a:stretch>
            <a:fillRect/>
          </a:stretch>
        </p:blipFill>
        <p:spPr>
          <a:xfrm>
            <a:off x="914400" y="2834640"/>
            <a:ext cx="274320" cy="274320"/>
          </a:xfrm>
          <a:prstGeom prst="rect">
            <a:avLst/>
          </a:prstGeom>
        </p:spPr>
      </p:pic>
      <p:sp>
        <p:nvSpPr>
          <p:cNvPr id="10" name="Text 6"/>
          <p:cNvSpPr txBox="1"/>
          <p:nvPr/>
        </p:nvSpPr>
        <p:spPr>
          <a:xfrm>
            <a:off x="1463040" y="2697480"/>
            <a:ext cx="4114800" cy="566928"/>
          </a:xfrm>
          <a:prstGeom prst="rect">
            <a:avLst/>
          </a:prstGeom>
          <a:noFill/>
          <a:ln/>
        </p:spPr>
        <p:txBody>
          <a:bodyPr wrap="square" lIns="0" tIns="0" rIns="0" bIns="0" rtlCol="0" anchor="ctr"/>
          <a:lstStyle/>
          <a:p>
            <a:pPr indent="0" marL="0">
              <a:buNone/>
            </a:pPr>
            <a:r>
              <a:rPr lang="en-US" sz="1400" dirty="0">
                <a:solidFill>
                  <a:srgbClr val="1B2E1B"/>
                </a:solidFill>
                <a:latin typeface="Calibri" pitchFamily="34" charset="0"/>
                <a:ea typeface="Calibri" pitchFamily="34" charset="-122"/>
                <a:cs typeface="Calibri" pitchFamily="34" charset="-120"/>
              </a:rPr>
              <a:t>There is no central system to collect, process and visualise it</a:t>
            </a:r>
            <a:endParaRPr lang="en-US" sz="1400" dirty="0"/>
          </a:p>
        </p:txBody>
      </p:sp>
      <p:sp>
        <p:nvSpPr>
          <p:cNvPr id="11" name="Shape 7"/>
          <p:cNvSpPr/>
          <p:nvPr/>
        </p:nvSpPr>
        <p:spPr>
          <a:xfrm>
            <a:off x="822960" y="3520440"/>
            <a:ext cx="457200" cy="457200"/>
          </a:xfrm>
          <a:prstGeom prst="ellipse">
            <a:avLst/>
          </a:prstGeom>
          <a:solidFill>
            <a:srgbClr val="F6E3E3"/>
          </a:solidFill>
          <a:ln w="12700">
            <a:solidFill>
              <a:srgbClr val="F6E3E3"/>
            </a:solidFill>
            <a:prstDash val="solid"/>
          </a:ln>
        </p:spPr>
      </p:sp>
      <p:pic>
        <p:nvPicPr>
          <p:cNvPr id="12" name="Image 2" descr="preencoded.png">    </p:cNvPr>
          <p:cNvPicPr>
            <a:picLocks noChangeAspect="1"/>
          </p:cNvPicPr>
          <p:nvPr/>
        </p:nvPicPr>
        <p:blipFill>
          <a:blip r:embed="rId3"/>
          <a:stretch>
            <a:fillRect/>
          </a:stretch>
        </p:blipFill>
        <p:spPr>
          <a:xfrm>
            <a:off x="914400" y="3611880"/>
            <a:ext cx="274320" cy="274320"/>
          </a:xfrm>
          <a:prstGeom prst="rect">
            <a:avLst/>
          </a:prstGeom>
        </p:spPr>
      </p:pic>
      <p:sp>
        <p:nvSpPr>
          <p:cNvPr id="13" name="Text 8"/>
          <p:cNvSpPr txBox="1"/>
          <p:nvPr/>
        </p:nvSpPr>
        <p:spPr>
          <a:xfrm>
            <a:off x="1463040" y="3474720"/>
            <a:ext cx="4114800" cy="566928"/>
          </a:xfrm>
          <a:prstGeom prst="rect">
            <a:avLst/>
          </a:prstGeom>
          <a:noFill/>
          <a:ln/>
        </p:spPr>
        <p:txBody>
          <a:bodyPr wrap="square" lIns="0" tIns="0" rIns="0" bIns="0" rtlCol="0" anchor="ctr"/>
          <a:lstStyle/>
          <a:p>
            <a:pPr indent="0" marL="0">
              <a:buNone/>
            </a:pPr>
            <a:r>
              <a:rPr lang="en-US" sz="1400" dirty="0">
                <a:solidFill>
                  <a:srgbClr val="1B2E1B"/>
                </a:solidFill>
                <a:latin typeface="Calibri" pitchFamily="34" charset="0"/>
                <a:ea typeface="Calibri" pitchFamily="34" charset="-122"/>
                <a:cs typeface="Calibri" pitchFamily="34" charset="-120"/>
              </a:rPr>
              <a:t>Operations staff are not alerted when something abnormal happens</a:t>
            </a:r>
            <a:endParaRPr lang="en-US" sz="1400" dirty="0"/>
          </a:p>
        </p:txBody>
      </p:sp>
      <p:sp>
        <p:nvSpPr>
          <p:cNvPr id="14" name="Shape 9"/>
          <p:cNvSpPr/>
          <p:nvPr/>
        </p:nvSpPr>
        <p:spPr>
          <a:xfrm>
            <a:off x="822960" y="4297680"/>
            <a:ext cx="457200" cy="457200"/>
          </a:xfrm>
          <a:prstGeom prst="ellipse">
            <a:avLst/>
          </a:prstGeom>
          <a:solidFill>
            <a:srgbClr val="F6E3E3"/>
          </a:solidFill>
          <a:ln w="12700">
            <a:solidFill>
              <a:srgbClr val="F6E3E3"/>
            </a:solidFill>
            <a:prstDash val="solid"/>
          </a:ln>
        </p:spPr>
      </p:sp>
      <p:pic>
        <p:nvPicPr>
          <p:cNvPr id="15" name="Image 3" descr="preencoded.png">    </p:cNvPr>
          <p:cNvPicPr>
            <a:picLocks noChangeAspect="1"/>
          </p:cNvPicPr>
          <p:nvPr/>
        </p:nvPicPr>
        <p:blipFill>
          <a:blip r:embed="rId4"/>
          <a:stretch>
            <a:fillRect/>
          </a:stretch>
        </p:blipFill>
        <p:spPr>
          <a:xfrm>
            <a:off x="914400" y="4389120"/>
            <a:ext cx="274320" cy="274320"/>
          </a:xfrm>
          <a:prstGeom prst="rect">
            <a:avLst/>
          </a:prstGeom>
        </p:spPr>
      </p:pic>
      <p:sp>
        <p:nvSpPr>
          <p:cNvPr id="16" name="Text 10"/>
          <p:cNvSpPr txBox="1"/>
          <p:nvPr/>
        </p:nvSpPr>
        <p:spPr>
          <a:xfrm>
            <a:off x="1463040" y="4251960"/>
            <a:ext cx="4114800" cy="566928"/>
          </a:xfrm>
          <a:prstGeom prst="rect">
            <a:avLst/>
          </a:prstGeom>
          <a:noFill/>
          <a:ln/>
        </p:spPr>
        <p:txBody>
          <a:bodyPr wrap="square" lIns="0" tIns="0" rIns="0" bIns="0" rtlCol="0" anchor="ctr"/>
          <a:lstStyle/>
          <a:p>
            <a:pPr indent="0" marL="0">
              <a:buNone/>
            </a:pPr>
            <a:r>
              <a:rPr lang="en-US" sz="1400" dirty="0">
                <a:solidFill>
                  <a:srgbClr val="1B2E1B"/>
                </a:solidFill>
                <a:latin typeface="Calibri" pitchFamily="34" charset="0"/>
                <a:ea typeface="Calibri" pitchFamily="34" charset="-122"/>
                <a:cs typeface="Calibri" pitchFamily="34" charset="-120"/>
              </a:rPr>
              <a:t>On-premise servers are costly to run and hard to scale</a:t>
            </a:r>
            <a:endParaRPr lang="en-US" sz="1400" dirty="0"/>
          </a:p>
        </p:txBody>
      </p:sp>
      <p:sp>
        <p:nvSpPr>
          <p:cNvPr id="17" name="Shape 11"/>
          <p:cNvSpPr/>
          <p:nvPr/>
        </p:nvSpPr>
        <p:spPr>
          <a:xfrm>
            <a:off x="6172200" y="1234440"/>
            <a:ext cx="5440680" cy="3931920"/>
          </a:xfrm>
          <a:prstGeom prst="roundRect">
            <a:avLst>
              <a:gd name="adj" fmla="val 1860"/>
            </a:avLst>
          </a:prstGeom>
          <a:solidFill>
            <a:srgbClr val="FFFFFF"/>
          </a:solidFill>
          <a:ln w="12700">
            <a:solidFill>
              <a:srgbClr val="C8D5C8"/>
            </a:solidFill>
            <a:prstDash val="solid"/>
          </a:ln>
        </p:spPr>
      </p:sp>
      <p:sp>
        <p:nvSpPr>
          <p:cNvPr id="18" name="Text 12"/>
          <p:cNvSpPr txBox="1"/>
          <p:nvPr/>
        </p:nvSpPr>
        <p:spPr>
          <a:xfrm>
            <a:off x="6446520" y="1417320"/>
            <a:ext cx="4572000" cy="365760"/>
          </a:xfrm>
          <a:prstGeom prst="rect">
            <a:avLst/>
          </a:prstGeom>
          <a:noFill/>
          <a:ln/>
        </p:spPr>
        <p:txBody>
          <a:bodyPr wrap="square" lIns="0" tIns="0" rIns="0" bIns="0" rtlCol="0" anchor="ctr"/>
          <a:lstStyle/>
          <a:p>
            <a:pPr indent="0" marL="0">
              <a:buNone/>
            </a:pPr>
            <a:r>
              <a:rPr lang="en-US" sz="2000" b="1" dirty="0">
                <a:solidFill>
                  <a:srgbClr val="2A7A4A"/>
                </a:solidFill>
                <a:latin typeface="Cambria" pitchFamily="34" charset="0"/>
                <a:ea typeface="Cambria" pitchFamily="34" charset="-122"/>
                <a:cs typeface="Cambria" pitchFamily="34" charset="-120"/>
              </a:rPr>
              <a:t>Our objectives</a:t>
            </a:r>
            <a:endParaRPr lang="en-US" sz="2000" dirty="0"/>
          </a:p>
        </p:txBody>
      </p:sp>
      <p:sp>
        <p:nvSpPr>
          <p:cNvPr id="19" name="Shape 13"/>
          <p:cNvSpPr/>
          <p:nvPr/>
        </p:nvSpPr>
        <p:spPr>
          <a:xfrm>
            <a:off x="6446520" y="2002536"/>
            <a:ext cx="347472" cy="347472"/>
          </a:xfrm>
          <a:prstGeom prst="ellipse">
            <a:avLst/>
          </a:prstGeom>
          <a:solidFill>
            <a:srgbClr val="2A7A4A"/>
          </a:solidFill>
          <a:ln w="12700">
            <a:solidFill>
              <a:srgbClr val="2A7A4A"/>
            </a:solidFill>
            <a:prstDash val="solid"/>
          </a:ln>
        </p:spPr>
      </p:sp>
      <p:sp>
        <p:nvSpPr>
          <p:cNvPr id="20" name="Text 14"/>
          <p:cNvSpPr txBox="1"/>
          <p:nvPr/>
        </p:nvSpPr>
        <p:spPr>
          <a:xfrm>
            <a:off x="6446520" y="200253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1" name="Text 15"/>
          <p:cNvSpPr txBox="1"/>
          <p:nvPr/>
        </p:nvSpPr>
        <p:spPr>
          <a:xfrm>
            <a:off x="6949440" y="1965960"/>
            <a:ext cx="4480560" cy="420624"/>
          </a:xfrm>
          <a:prstGeom prst="rect">
            <a:avLst/>
          </a:prstGeom>
          <a:noFill/>
          <a:ln/>
        </p:spPr>
        <p:txBody>
          <a:bodyPr wrap="square" lIns="0" tIns="0" rIns="0" bIns="0" rtlCol="0" anchor="ctr"/>
          <a:lstStyle/>
          <a:p>
            <a:pPr indent="0" marL="0">
              <a:buNone/>
            </a:pPr>
            <a:r>
              <a:rPr lang="en-US" sz="1400" dirty="0">
                <a:solidFill>
                  <a:srgbClr val="1B2E1B"/>
                </a:solidFill>
                <a:latin typeface="Calibri" pitchFamily="34" charset="0"/>
                <a:ea typeface="Calibri" pitchFamily="34" charset="-122"/>
                <a:cs typeface="Calibri" pitchFamily="34" charset="-120"/>
              </a:rPr>
              <a:t>Serverless event-ingestion pipeline on AWS</a:t>
            </a:r>
            <a:endParaRPr lang="en-US" sz="1400" dirty="0"/>
          </a:p>
        </p:txBody>
      </p:sp>
      <p:sp>
        <p:nvSpPr>
          <p:cNvPr id="22" name="Shape 16"/>
          <p:cNvSpPr/>
          <p:nvPr/>
        </p:nvSpPr>
        <p:spPr>
          <a:xfrm>
            <a:off x="6446520" y="2523744"/>
            <a:ext cx="347472" cy="347472"/>
          </a:xfrm>
          <a:prstGeom prst="ellipse">
            <a:avLst/>
          </a:prstGeom>
          <a:solidFill>
            <a:srgbClr val="2A7A4A"/>
          </a:solidFill>
          <a:ln w="12700">
            <a:solidFill>
              <a:srgbClr val="2A7A4A"/>
            </a:solidFill>
            <a:prstDash val="solid"/>
          </a:ln>
        </p:spPr>
      </p:sp>
      <p:sp>
        <p:nvSpPr>
          <p:cNvPr id="23" name="Text 17"/>
          <p:cNvSpPr txBox="1"/>
          <p:nvPr/>
        </p:nvSpPr>
        <p:spPr>
          <a:xfrm>
            <a:off x="6446520" y="252374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4" name="Text 18"/>
          <p:cNvSpPr txBox="1"/>
          <p:nvPr/>
        </p:nvSpPr>
        <p:spPr>
          <a:xfrm>
            <a:off x="6949440" y="2487168"/>
            <a:ext cx="4480560" cy="420624"/>
          </a:xfrm>
          <a:prstGeom prst="rect">
            <a:avLst/>
          </a:prstGeom>
          <a:noFill/>
          <a:ln/>
        </p:spPr>
        <p:txBody>
          <a:bodyPr wrap="square" lIns="0" tIns="0" rIns="0" bIns="0" rtlCol="0" anchor="ctr"/>
          <a:lstStyle/>
          <a:p>
            <a:pPr indent="0" marL="0">
              <a:buNone/>
            </a:pPr>
            <a:r>
              <a:rPr lang="en-US" sz="1400" dirty="0">
                <a:solidFill>
                  <a:srgbClr val="1B2E1B"/>
                </a:solidFill>
                <a:latin typeface="Calibri" pitchFamily="34" charset="0"/>
                <a:ea typeface="Calibri" pitchFamily="34" charset="-122"/>
                <a:cs typeface="Calibri" pitchFamily="34" charset="-120"/>
              </a:rPr>
              <a:t>Store and process campus events as they arrive</a:t>
            </a:r>
            <a:endParaRPr lang="en-US" sz="1400" dirty="0"/>
          </a:p>
        </p:txBody>
      </p:sp>
      <p:sp>
        <p:nvSpPr>
          <p:cNvPr id="25" name="Shape 19"/>
          <p:cNvSpPr/>
          <p:nvPr/>
        </p:nvSpPr>
        <p:spPr>
          <a:xfrm>
            <a:off x="6446520" y="3044952"/>
            <a:ext cx="347472" cy="347472"/>
          </a:xfrm>
          <a:prstGeom prst="ellipse">
            <a:avLst/>
          </a:prstGeom>
          <a:solidFill>
            <a:srgbClr val="2A7A4A"/>
          </a:solidFill>
          <a:ln w="12700">
            <a:solidFill>
              <a:srgbClr val="2A7A4A"/>
            </a:solidFill>
            <a:prstDash val="solid"/>
          </a:ln>
        </p:spPr>
      </p:sp>
      <p:sp>
        <p:nvSpPr>
          <p:cNvPr id="26" name="Text 20"/>
          <p:cNvSpPr txBox="1"/>
          <p:nvPr/>
        </p:nvSpPr>
        <p:spPr>
          <a:xfrm>
            <a:off x="6446520" y="304495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7" name="Text 21"/>
          <p:cNvSpPr txBox="1"/>
          <p:nvPr/>
        </p:nvSpPr>
        <p:spPr>
          <a:xfrm>
            <a:off x="6949440" y="3008376"/>
            <a:ext cx="4480560" cy="420624"/>
          </a:xfrm>
          <a:prstGeom prst="rect">
            <a:avLst/>
          </a:prstGeom>
          <a:noFill/>
          <a:ln/>
        </p:spPr>
        <p:txBody>
          <a:bodyPr wrap="square" lIns="0" tIns="0" rIns="0" bIns="0" rtlCol="0" anchor="ctr"/>
          <a:lstStyle/>
          <a:p>
            <a:pPr indent="0" marL="0">
              <a:buNone/>
            </a:pPr>
            <a:r>
              <a:rPr lang="en-US" sz="1400" dirty="0">
                <a:solidFill>
                  <a:srgbClr val="1B2E1B"/>
                </a:solidFill>
                <a:latin typeface="Calibri" pitchFamily="34" charset="0"/>
                <a:ea typeface="Calibri" pitchFamily="34" charset="-122"/>
                <a:cs typeface="Calibri" pitchFamily="34" charset="-120"/>
              </a:rPr>
              <a:t>REST API for events, statistics and alerts</a:t>
            </a:r>
            <a:endParaRPr lang="en-US" sz="1400" dirty="0"/>
          </a:p>
        </p:txBody>
      </p:sp>
      <p:sp>
        <p:nvSpPr>
          <p:cNvPr id="28" name="Shape 22"/>
          <p:cNvSpPr/>
          <p:nvPr/>
        </p:nvSpPr>
        <p:spPr>
          <a:xfrm>
            <a:off x="6446520" y="3566160"/>
            <a:ext cx="347472" cy="347472"/>
          </a:xfrm>
          <a:prstGeom prst="ellipse">
            <a:avLst/>
          </a:prstGeom>
          <a:solidFill>
            <a:srgbClr val="2A7A4A"/>
          </a:solidFill>
          <a:ln w="12700">
            <a:solidFill>
              <a:srgbClr val="2A7A4A"/>
            </a:solidFill>
            <a:prstDash val="solid"/>
          </a:ln>
        </p:spPr>
      </p:sp>
      <p:sp>
        <p:nvSpPr>
          <p:cNvPr id="29" name="Text 23"/>
          <p:cNvSpPr txBox="1"/>
          <p:nvPr/>
        </p:nvSpPr>
        <p:spPr>
          <a:xfrm>
            <a:off x="6446520" y="356616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0" name="Text 24"/>
          <p:cNvSpPr txBox="1"/>
          <p:nvPr/>
        </p:nvSpPr>
        <p:spPr>
          <a:xfrm>
            <a:off x="6949440" y="3529584"/>
            <a:ext cx="4480560" cy="420624"/>
          </a:xfrm>
          <a:prstGeom prst="rect">
            <a:avLst/>
          </a:prstGeom>
          <a:noFill/>
          <a:ln/>
        </p:spPr>
        <p:txBody>
          <a:bodyPr wrap="square" lIns="0" tIns="0" rIns="0" bIns="0" rtlCol="0" anchor="ctr"/>
          <a:lstStyle/>
          <a:p>
            <a:pPr indent="0" marL="0">
              <a:buNone/>
            </a:pPr>
            <a:r>
              <a:rPr lang="en-US" sz="1400" dirty="0">
                <a:solidFill>
                  <a:srgbClr val="1B2E1B"/>
                </a:solidFill>
                <a:latin typeface="Calibri" pitchFamily="34" charset="0"/>
                <a:ea typeface="Calibri" pitchFamily="34" charset="-122"/>
                <a:cs typeface="Calibri" pitchFamily="34" charset="-120"/>
              </a:rPr>
              <a:t>Authentication with ADMIN and STAFF roles</a:t>
            </a:r>
            <a:endParaRPr lang="en-US" sz="1400" dirty="0"/>
          </a:p>
        </p:txBody>
      </p:sp>
      <p:sp>
        <p:nvSpPr>
          <p:cNvPr id="31" name="Shape 25"/>
          <p:cNvSpPr/>
          <p:nvPr/>
        </p:nvSpPr>
        <p:spPr>
          <a:xfrm>
            <a:off x="6446520" y="4087368"/>
            <a:ext cx="347472" cy="347472"/>
          </a:xfrm>
          <a:prstGeom prst="ellipse">
            <a:avLst/>
          </a:prstGeom>
          <a:solidFill>
            <a:srgbClr val="2A7A4A"/>
          </a:solidFill>
          <a:ln w="12700">
            <a:solidFill>
              <a:srgbClr val="2A7A4A"/>
            </a:solidFill>
            <a:prstDash val="solid"/>
          </a:ln>
        </p:spPr>
      </p:sp>
      <p:sp>
        <p:nvSpPr>
          <p:cNvPr id="32" name="Text 26"/>
          <p:cNvSpPr txBox="1"/>
          <p:nvPr/>
        </p:nvSpPr>
        <p:spPr>
          <a:xfrm>
            <a:off x="6446520" y="408736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3" name="Text 27"/>
          <p:cNvSpPr txBox="1"/>
          <p:nvPr/>
        </p:nvSpPr>
        <p:spPr>
          <a:xfrm>
            <a:off x="6949440" y="4050792"/>
            <a:ext cx="4480560" cy="420624"/>
          </a:xfrm>
          <a:prstGeom prst="rect">
            <a:avLst/>
          </a:prstGeom>
          <a:noFill/>
          <a:ln/>
        </p:spPr>
        <p:txBody>
          <a:bodyPr wrap="square" lIns="0" tIns="0" rIns="0" bIns="0" rtlCol="0" anchor="ctr"/>
          <a:lstStyle/>
          <a:p>
            <a:pPr indent="0" marL="0">
              <a:buNone/>
            </a:pPr>
            <a:r>
              <a:rPr lang="en-US" sz="1400" dirty="0">
                <a:solidFill>
                  <a:srgbClr val="1B2E1B"/>
                </a:solidFill>
                <a:latin typeface="Calibri" pitchFamily="34" charset="0"/>
                <a:ea typeface="Calibri" pitchFamily="34" charset="-122"/>
                <a:cs typeface="Calibri" pitchFamily="34" charset="-120"/>
              </a:rPr>
              <a:t>Web dashboard showing the campus state</a:t>
            </a:r>
            <a:endParaRPr lang="en-US" sz="1400" dirty="0"/>
          </a:p>
        </p:txBody>
      </p:sp>
      <p:sp>
        <p:nvSpPr>
          <p:cNvPr id="34" name="Shape 28"/>
          <p:cNvSpPr/>
          <p:nvPr/>
        </p:nvSpPr>
        <p:spPr>
          <a:xfrm>
            <a:off x="6446520" y="4608576"/>
            <a:ext cx="347472" cy="347472"/>
          </a:xfrm>
          <a:prstGeom prst="ellipse">
            <a:avLst/>
          </a:prstGeom>
          <a:solidFill>
            <a:srgbClr val="2A7A4A"/>
          </a:solidFill>
          <a:ln w="12700">
            <a:solidFill>
              <a:srgbClr val="2A7A4A"/>
            </a:solidFill>
            <a:prstDash val="solid"/>
          </a:ln>
        </p:spPr>
      </p:sp>
      <p:sp>
        <p:nvSpPr>
          <p:cNvPr id="35" name="Text 29"/>
          <p:cNvSpPr txBox="1"/>
          <p:nvPr/>
        </p:nvSpPr>
        <p:spPr>
          <a:xfrm>
            <a:off x="6446520" y="460857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6" name="Text 30"/>
          <p:cNvSpPr txBox="1"/>
          <p:nvPr/>
        </p:nvSpPr>
        <p:spPr>
          <a:xfrm>
            <a:off x="6949440" y="4572000"/>
            <a:ext cx="4480560" cy="420624"/>
          </a:xfrm>
          <a:prstGeom prst="rect">
            <a:avLst/>
          </a:prstGeom>
          <a:noFill/>
          <a:ln/>
        </p:spPr>
        <p:txBody>
          <a:bodyPr wrap="square" lIns="0" tIns="0" rIns="0" bIns="0" rtlCol="0" anchor="ctr"/>
          <a:lstStyle/>
          <a:p>
            <a:pPr indent="0" marL="0">
              <a:buNone/>
            </a:pPr>
            <a:r>
              <a:rPr lang="en-US" sz="1400" dirty="0">
                <a:solidFill>
                  <a:srgbClr val="1B2E1B"/>
                </a:solidFill>
                <a:latin typeface="Calibri" pitchFamily="34" charset="0"/>
                <a:ea typeface="Calibri" pitchFamily="34" charset="-122"/>
                <a:cs typeface="Calibri" pitchFamily="34" charset="-120"/>
              </a:rPr>
              <a:t>Keep cost minimal and fully explainable</a:t>
            </a:r>
            <a:endParaRPr lang="en-US" sz="1400" dirty="0"/>
          </a:p>
        </p:txBody>
      </p:sp>
      <p:sp>
        <p:nvSpPr>
          <p:cNvPr id="37" name="Shape 31"/>
          <p:cNvSpPr/>
          <p:nvPr/>
        </p:nvSpPr>
        <p:spPr>
          <a:xfrm>
            <a:off x="548640" y="5394960"/>
            <a:ext cx="3566160" cy="777240"/>
          </a:xfrm>
          <a:prstGeom prst="roundRect">
            <a:avLst>
              <a:gd name="adj" fmla="val 9412"/>
            </a:avLst>
          </a:prstGeom>
          <a:solidFill>
            <a:srgbClr val="E8F3EC"/>
          </a:solidFill>
          <a:ln w="12700">
            <a:solidFill>
              <a:srgbClr val="E8F3EC"/>
            </a:solidFill>
            <a:prstDash val="solid"/>
          </a:ln>
        </p:spPr>
      </p:sp>
      <p:sp>
        <p:nvSpPr>
          <p:cNvPr id="38" name="Text 32"/>
          <p:cNvSpPr txBox="1"/>
          <p:nvPr/>
        </p:nvSpPr>
        <p:spPr>
          <a:xfrm>
            <a:off x="777240" y="5468112"/>
            <a:ext cx="3108960" cy="274320"/>
          </a:xfrm>
          <a:prstGeom prst="rect">
            <a:avLst/>
          </a:prstGeom>
          <a:noFill/>
          <a:ln/>
        </p:spPr>
        <p:txBody>
          <a:bodyPr wrap="square" lIns="0" tIns="0" rIns="0" bIns="0" rtlCol="0" anchor="ctr"/>
          <a:lstStyle/>
          <a:p>
            <a:pPr indent="0" marL="0">
              <a:buNone/>
            </a:pPr>
            <a:r>
              <a:rPr lang="en-US" sz="1200" b="1" dirty="0">
                <a:solidFill>
                  <a:srgbClr val="2A7A4A"/>
                </a:solidFill>
                <a:latin typeface="Calibri" pitchFamily="34" charset="0"/>
                <a:ea typeface="Calibri" pitchFamily="34" charset="-122"/>
                <a:cs typeface="Calibri" pitchFamily="34" charset="-120"/>
              </a:rPr>
              <a:t>Scope</a:t>
            </a:r>
            <a:endParaRPr lang="en-US" sz="1200" dirty="0"/>
          </a:p>
        </p:txBody>
      </p:sp>
      <p:sp>
        <p:nvSpPr>
          <p:cNvPr id="39" name="Text 33"/>
          <p:cNvSpPr txBox="1"/>
          <p:nvPr/>
        </p:nvSpPr>
        <p:spPr>
          <a:xfrm>
            <a:off x="777240" y="5742432"/>
            <a:ext cx="3200400" cy="320040"/>
          </a:xfrm>
          <a:prstGeom prst="rect">
            <a:avLst/>
          </a:prstGeom>
          <a:noFill/>
          <a:ln/>
        </p:spPr>
        <p:txBody>
          <a:bodyPr wrap="square" lIns="0" tIns="0" rIns="0" bIns="0" rtlCol="0" anchor="ctr"/>
          <a:lstStyle/>
          <a:p>
            <a:pPr indent="0" marL="0">
              <a:buNone/>
            </a:pPr>
            <a:r>
              <a:rPr lang="en-US" sz="1300" dirty="0">
                <a:solidFill>
                  <a:srgbClr val="1B2E1B"/>
                </a:solidFill>
                <a:latin typeface="Calibri" pitchFamily="34" charset="0"/>
                <a:ea typeface="Calibri" pitchFamily="34" charset="-122"/>
                <a:cs typeface="Calibri" pitchFamily="34" charset="-120"/>
              </a:rPr>
              <a:t>Simulated sensor data, no real hardware</a:t>
            </a:r>
            <a:endParaRPr lang="en-US" sz="1300" dirty="0"/>
          </a:p>
        </p:txBody>
      </p:sp>
      <p:sp>
        <p:nvSpPr>
          <p:cNvPr id="40" name="Shape 34"/>
          <p:cNvSpPr/>
          <p:nvPr/>
        </p:nvSpPr>
        <p:spPr>
          <a:xfrm>
            <a:off x="4297680" y="5394960"/>
            <a:ext cx="3566160" cy="777240"/>
          </a:xfrm>
          <a:prstGeom prst="roundRect">
            <a:avLst>
              <a:gd name="adj" fmla="val 9412"/>
            </a:avLst>
          </a:prstGeom>
          <a:solidFill>
            <a:srgbClr val="E8F3EC"/>
          </a:solidFill>
          <a:ln w="12700">
            <a:solidFill>
              <a:srgbClr val="E8F3EC"/>
            </a:solidFill>
            <a:prstDash val="solid"/>
          </a:ln>
        </p:spPr>
      </p:sp>
      <p:sp>
        <p:nvSpPr>
          <p:cNvPr id="41" name="Text 35"/>
          <p:cNvSpPr txBox="1"/>
          <p:nvPr/>
        </p:nvSpPr>
        <p:spPr>
          <a:xfrm>
            <a:off x="4526280" y="5468112"/>
            <a:ext cx="3108960" cy="274320"/>
          </a:xfrm>
          <a:prstGeom prst="rect">
            <a:avLst/>
          </a:prstGeom>
          <a:noFill/>
          <a:ln/>
        </p:spPr>
        <p:txBody>
          <a:bodyPr wrap="square" lIns="0" tIns="0" rIns="0" bIns="0" rtlCol="0" anchor="ctr"/>
          <a:lstStyle/>
          <a:p>
            <a:pPr indent="0" marL="0">
              <a:buNone/>
            </a:pPr>
            <a:r>
              <a:rPr lang="en-US" sz="1200" b="1" dirty="0">
                <a:solidFill>
                  <a:srgbClr val="2A7A4A"/>
                </a:solidFill>
                <a:latin typeface="Calibri" pitchFamily="34" charset="0"/>
                <a:ea typeface="Calibri" pitchFamily="34" charset="-122"/>
                <a:cs typeface="Calibri" pitchFamily="34" charset="-120"/>
              </a:rPr>
              <a:t>Scale</a:t>
            </a:r>
            <a:endParaRPr lang="en-US" sz="1200" dirty="0"/>
          </a:p>
        </p:txBody>
      </p:sp>
      <p:sp>
        <p:nvSpPr>
          <p:cNvPr id="42" name="Text 36"/>
          <p:cNvSpPr txBox="1"/>
          <p:nvPr/>
        </p:nvSpPr>
        <p:spPr>
          <a:xfrm>
            <a:off x="4526280" y="5742432"/>
            <a:ext cx="3200400" cy="320040"/>
          </a:xfrm>
          <a:prstGeom prst="rect">
            <a:avLst/>
          </a:prstGeom>
          <a:noFill/>
          <a:ln/>
        </p:spPr>
        <p:txBody>
          <a:bodyPr wrap="square" lIns="0" tIns="0" rIns="0" bIns="0" rtlCol="0" anchor="ctr"/>
          <a:lstStyle/>
          <a:p>
            <a:pPr indent="0" marL="0">
              <a:buNone/>
            </a:pPr>
            <a:r>
              <a:rPr lang="en-US" sz="1300" dirty="0">
                <a:solidFill>
                  <a:srgbClr val="1B2E1B"/>
                </a:solidFill>
                <a:latin typeface="Calibri" pitchFamily="34" charset="0"/>
                <a:ea typeface="Calibri" pitchFamily="34" charset="-122"/>
                <a:cs typeface="Calibri" pitchFamily="34" charset="-120"/>
              </a:rPr>
              <a:t>Master's-level prototype that can scale</a:t>
            </a:r>
            <a:endParaRPr lang="en-US" sz="1300" dirty="0"/>
          </a:p>
        </p:txBody>
      </p:sp>
      <p:sp>
        <p:nvSpPr>
          <p:cNvPr id="43" name="Shape 37"/>
          <p:cNvSpPr/>
          <p:nvPr/>
        </p:nvSpPr>
        <p:spPr>
          <a:xfrm>
            <a:off x="8046720" y="5394960"/>
            <a:ext cx="3566160" cy="777240"/>
          </a:xfrm>
          <a:prstGeom prst="roundRect">
            <a:avLst>
              <a:gd name="adj" fmla="val 9412"/>
            </a:avLst>
          </a:prstGeom>
          <a:solidFill>
            <a:srgbClr val="E8F3EC"/>
          </a:solidFill>
          <a:ln w="12700">
            <a:solidFill>
              <a:srgbClr val="E8F3EC"/>
            </a:solidFill>
            <a:prstDash val="solid"/>
          </a:ln>
        </p:spPr>
      </p:sp>
      <p:sp>
        <p:nvSpPr>
          <p:cNvPr id="44" name="Text 38"/>
          <p:cNvSpPr txBox="1"/>
          <p:nvPr/>
        </p:nvSpPr>
        <p:spPr>
          <a:xfrm>
            <a:off x="8275320" y="5468112"/>
            <a:ext cx="3108960" cy="274320"/>
          </a:xfrm>
          <a:prstGeom prst="rect">
            <a:avLst/>
          </a:prstGeom>
          <a:noFill/>
          <a:ln/>
        </p:spPr>
        <p:txBody>
          <a:bodyPr wrap="square" lIns="0" tIns="0" rIns="0" bIns="0" rtlCol="0" anchor="ctr"/>
          <a:lstStyle/>
          <a:p>
            <a:pPr indent="0" marL="0">
              <a:buNone/>
            </a:pPr>
            <a:r>
              <a:rPr lang="en-US" sz="1200" b="1" dirty="0">
                <a:solidFill>
                  <a:srgbClr val="2A7A4A"/>
                </a:solidFill>
                <a:latin typeface="Calibri" pitchFamily="34" charset="0"/>
                <a:ea typeface="Calibri" pitchFamily="34" charset="-122"/>
                <a:cs typeface="Calibri" pitchFamily="34" charset="-120"/>
              </a:rPr>
              <a:t>Region</a:t>
            </a:r>
            <a:endParaRPr lang="en-US" sz="1200" dirty="0"/>
          </a:p>
        </p:txBody>
      </p:sp>
      <p:sp>
        <p:nvSpPr>
          <p:cNvPr id="45" name="Text 39"/>
          <p:cNvSpPr txBox="1"/>
          <p:nvPr/>
        </p:nvSpPr>
        <p:spPr>
          <a:xfrm>
            <a:off x="8275320" y="5742432"/>
            <a:ext cx="3200400" cy="320040"/>
          </a:xfrm>
          <a:prstGeom prst="rect">
            <a:avLst/>
          </a:prstGeom>
          <a:noFill/>
          <a:ln/>
        </p:spPr>
        <p:txBody>
          <a:bodyPr wrap="square" lIns="0" tIns="0" rIns="0" bIns="0" rtlCol="0" anchor="ctr"/>
          <a:lstStyle/>
          <a:p>
            <a:pPr indent="0" marL="0">
              <a:buNone/>
            </a:pPr>
            <a:r>
              <a:rPr lang="en-US" sz="1300" dirty="0">
                <a:solidFill>
                  <a:srgbClr val="1B2E1B"/>
                </a:solidFill>
                <a:latin typeface="Calibri" pitchFamily="34" charset="0"/>
                <a:ea typeface="Calibri" pitchFamily="34" charset="-122"/>
                <a:cs typeface="Calibri" pitchFamily="34" charset="-120"/>
              </a:rPr>
              <a:t>AWS eu-west-3 (Paris)</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5E"/>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3400" b="1" dirty="0">
                <a:solidFill>
                  <a:srgbClr val="2A7A4A"/>
                </a:solidFill>
                <a:latin typeface="Cambria" pitchFamily="34" charset="0"/>
                <a:ea typeface="Cambria" pitchFamily="34" charset="-122"/>
                <a:cs typeface="Cambria" pitchFamily="34" charset="-120"/>
              </a:rPr>
              <a:t>Requirements from the official specification</a:t>
            </a:r>
            <a:endParaRPr lang="en-US" sz="3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64240" cy="914400"/>
        </p:xfrm>
        <a:graphic>
          <a:graphicData uri="http://schemas.openxmlformats.org/drawingml/2006/table">
            <a:tbl>
              <a:tblPr/>
              <a:tblGrid>
                <a:gridCol w="2194560"/>
                <a:gridCol w="6583680"/>
                <a:gridCol w="1188720"/>
                <a:gridCol w="1097280"/>
              </a:tblGrid>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Requirement</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2A7A4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How CampusPulse meets it</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2A7A4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Priority</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2A7A4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Status</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2A7A4A"/>
                    </a:solidFill>
                  </a:tcPr>
                </a:tc>
              </a:tr>
              <a:tr h="457200">
                <a:tc>
                  <a:txBody>
                    <a:bodyPr/>
                    <a:lstStyle/>
                    <a:p>
                      <a:pPr indent="0" marL="0">
                        <a:buNone/>
                      </a:pPr>
                      <a:r>
                        <a:rPr lang="en-US" sz="1300" b="1" dirty="0">
                          <a:solidFill>
                            <a:srgbClr val="1B2E1B"/>
                          </a:solidFill>
                          <a:latin typeface="Calibri" pitchFamily="34" charset="0"/>
                          <a:ea typeface="Calibri" pitchFamily="34" charset="-122"/>
                          <a:cs typeface="Calibri" pitchFamily="34" charset="-120"/>
                        </a:rPr>
                        <a:t>REST API</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c>
                  <a:txBody>
                    <a:bodyPr/>
                    <a:lstStyle/>
                    <a:p>
                      <a:pPr indent="0" marL="0">
                        <a:buNone/>
                      </a:pPr>
                      <a:r>
                        <a:rPr lang="en-US" sz="1300" dirty="0">
                          <a:solidFill>
                            <a:srgbClr val="1B2E1B"/>
                          </a:solidFill>
                          <a:latin typeface="Calibri" pitchFamily="34" charset="0"/>
                          <a:ea typeface="Calibri" pitchFamily="34" charset="-122"/>
                          <a:cs typeface="Calibri" pitchFamily="34" charset="-120"/>
                        </a:rPr>
                        <a:t>POST /events · GET /events · GET /stats · GET /alerts · POST /login</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c>
                  <a:txBody>
                    <a:bodyPr/>
                    <a:lstStyle/>
                    <a:p>
                      <a:pPr indent="0" marL="0">
                        <a:buNone/>
                      </a:pPr>
                      <a:r>
                        <a:rPr lang="en-US" sz="1300" b="1" dirty="0">
                          <a:solidFill>
                            <a:srgbClr val="2A7A4A"/>
                          </a:solidFill>
                          <a:latin typeface="Calibri" pitchFamily="34" charset="0"/>
                          <a:ea typeface="Calibri" pitchFamily="34" charset="-122"/>
                          <a:cs typeface="Calibri" pitchFamily="34" charset="-120"/>
                        </a:rPr>
                        <a:t>Mandatory</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c>
                  <a:txBody>
                    <a:bodyPr/>
                    <a:lstStyle/>
                    <a:p>
                      <a:pPr indent="0" marL="0">
                        <a:buNone/>
                      </a:pPr>
                      <a:r>
                        <a:rPr lang="en-US" sz="1300" dirty="0">
                          <a:solidFill>
                            <a:srgbClr val="3A6888"/>
                          </a:solidFill>
                          <a:latin typeface="Calibri" pitchFamily="34" charset="0"/>
                          <a:ea typeface="Calibri" pitchFamily="34" charset="-122"/>
                          <a:cs typeface="Calibri" pitchFamily="34" charset="-120"/>
                        </a:rPr>
                        <a:t>Planned</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E1B"/>
                          </a:solidFill>
                          <a:latin typeface="Calibri" pitchFamily="34" charset="0"/>
                          <a:ea typeface="Calibri" pitchFamily="34" charset="-122"/>
                          <a:cs typeface="Calibri" pitchFamily="34" charset="-120"/>
                        </a:rPr>
                        <a:t>Data storage</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tc>
                  <a:txBody>
                    <a:bodyPr/>
                    <a:lstStyle/>
                    <a:p>
                      <a:pPr indent="0" marL="0">
                        <a:buNone/>
                      </a:pPr>
                      <a:r>
                        <a:rPr lang="en-US" sz="1300" dirty="0">
                          <a:solidFill>
                            <a:srgbClr val="1B2E1B"/>
                          </a:solidFill>
                          <a:latin typeface="Calibri" pitchFamily="34" charset="0"/>
                          <a:ea typeface="Calibri" pitchFamily="34" charset="-122"/>
                          <a:cs typeface="Calibri" pitchFamily="34" charset="-120"/>
                        </a:rPr>
                        <a:t>DynamoDB table CampusEvents (event_id + timestamp keys)</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tc>
                  <a:txBody>
                    <a:bodyPr/>
                    <a:lstStyle/>
                    <a:p>
                      <a:pPr indent="0" marL="0">
                        <a:buNone/>
                      </a:pPr>
                      <a:r>
                        <a:rPr lang="en-US" sz="1300" b="1" dirty="0">
                          <a:solidFill>
                            <a:srgbClr val="2A7A4A"/>
                          </a:solidFill>
                          <a:latin typeface="Calibri" pitchFamily="34" charset="0"/>
                          <a:ea typeface="Calibri" pitchFamily="34" charset="-122"/>
                          <a:cs typeface="Calibri" pitchFamily="34" charset="-120"/>
                        </a:rPr>
                        <a:t>Mandatory</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tc>
                  <a:txBody>
                    <a:bodyPr/>
                    <a:lstStyle/>
                    <a:p>
                      <a:pPr indent="0" marL="0">
                        <a:buNone/>
                      </a:pPr>
                      <a:r>
                        <a:rPr lang="en-US" sz="1300" dirty="0">
                          <a:solidFill>
                            <a:srgbClr val="3A6888"/>
                          </a:solidFill>
                          <a:latin typeface="Calibri" pitchFamily="34" charset="0"/>
                          <a:ea typeface="Calibri" pitchFamily="34" charset="-122"/>
                          <a:cs typeface="Calibri" pitchFamily="34" charset="-120"/>
                        </a:rPr>
                        <a:t>Planned</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tr>
              <a:tr h="457200">
                <a:tc>
                  <a:txBody>
                    <a:bodyPr/>
                    <a:lstStyle/>
                    <a:p>
                      <a:pPr indent="0" marL="0">
                        <a:buNone/>
                      </a:pPr>
                      <a:r>
                        <a:rPr lang="en-US" sz="1300" b="1" dirty="0">
                          <a:solidFill>
                            <a:srgbClr val="1B2E1B"/>
                          </a:solidFill>
                          <a:latin typeface="Calibri" pitchFamily="34" charset="0"/>
                          <a:ea typeface="Calibri" pitchFamily="34" charset="-122"/>
                          <a:cs typeface="Calibri" pitchFamily="34" charset="-120"/>
                        </a:rPr>
                        <a:t>Authentication</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c>
                  <a:txBody>
                    <a:bodyPr/>
                    <a:lstStyle/>
                    <a:p>
                      <a:pPr indent="0" marL="0">
                        <a:buNone/>
                      </a:pPr>
                      <a:r>
                        <a:rPr lang="en-US" sz="1300" dirty="0">
                          <a:solidFill>
                            <a:srgbClr val="1B2E1B"/>
                          </a:solidFill>
                          <a:latin typeface="Calibri" pitchFamily="34" charset="0"/>
                          <a:ea typeface="Calibri" pitchFamily="34" charset="-122"/>
                          <a:cs typeface="Calibri" pitchFamily="34" charset="-120"/>
                        </a:rPr>
                        <a:t>Amazon Cognito user pool with ADMIN and STAFF groups, JWT tokens</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c>
                  <a:txBody>
                    <a:bodyPr/>
                    <a:lstStyle/>
                    <a:p>
                      <a:pPr indent="0" marL="0">
                        <a:buNone/>
                      </a:pPr>
                      <a:r>
                        <a:rPr lang="en-US" sz="1300" b="1" dirty="0">
                          <a:solidFill>
                            <a:srgbClr val="2A7A4A"/>
                          </a:solidFill>
                          <a:latin typeface="Calibri" pitchFamily="34" charset="0"/>
                          <a:ea typeface="Calibri" pitchFamily="34" charset="-122"/>
                          <a:cs typeface="Calibri" pitchFamily="34" charset="-120"/>
                        </a:rPr>
                        <a:t>Mandatory</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c>
                  <a:txBody>
                    <a:bodyPr/>
                    <a:lstStyle/>
                    <a:p>
                      <a:pPr indent="0" marL="0">
                        <a:buNone/>
                      </a:pPr>
                      <a:r>
                        <a:rPr lang="en-US" sz="1300" dirty="0">
                          <a:solidFill>
                            <a:srgbClr val="3A6888"/>
                          </a:solidFill>
                          <a:latin typeface="Calibri" pitchFamily="34" charset="0"/>
                          <a:ea typeface="Calibri" pitchFamily="34" charset="-122"/>
                          <a:cs typeface="Calibri" pitchFamily="34" charset="-120"/>
                        </a:rPr>
                        <a:t>Planned</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E1B"/>
                          </a:solidFill>
                          <a:latin typeface="Calibri" pitchFamily="34" charset="0"/>
                          <a:ea typeface="Calibri" pitchFamily="34" charset="-122"/>
                          <a:cs typeface="Calibri" pitchFamily="34" charset="-120"/>
                        </a:rPr>
                        <a:t>Campus simulator</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tc>
                  <a:txBody>
                    <a:bodyPr/>
                    <a:lstStyle/>
                    <a:p>
                      <a:pPr indent="0" marL="0">
                        <a:buNone/>
                      </a:pPr>
                      <a:r>
                        <a:rPr lang="en-US" sz="1300" dirty="0">
                          <a:solidFill>
                            <a:srgbClr val="1B2E1B"/>
                          </a:solidFill>
                          <a:latin typeface="Calibri" pitchFamily="34" charset="0"/>
                          <a:ea typeface="Calibri" pitchFamily="34" charset="-122"/>
                          <a:cs typeface="Calibri" pitchFamily="34" charset="-120"/>
                        </a:rPr>
                        <a:t>Python script: occupancy, temperature, humidity, energy, equipment, service requests</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tc>
                  <a:txBody>
                    <a:bodyPr/>
                    <a:lstStyle/>
                    <a:p>
                      <a:pPr indent="0" marL="0">
                        <a:buNone/>
                      </a:pPr>
                      <a:r>
                        <a:rPr lang="en-US" sz="1300" b="1" dirty="0">
                          <a:solidFill>
                            <a:srgbClr val="2A7A4A"/>
                          </a:solidFill>
                          <a:latin typeface="Calibri" pitchFamily="34" charset="0"/>
                          <a:ea typeface="Calibri" pitchFamily="34" charset="-122"/>
                          <a:cs typeface="Calibri" pitchFamily="34" charset="-120"/>
                        </a:rPr>
                        <a:t>Mandatory</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tc>
                  <a:txBody>
                    <a:bodyPr/>
                    <a:lstStyle/>
                    <a:p>
                      <a:pPr indent="0" marL="0">
                        <a:buNone/>
                      </a:pPr>
                      <a:r>
                        <a:rPr lang="en-US" sz="1300" dirty="0">
                          <a:solidFill>
                            <a:srgbClr val="3A6888"/>
                          </a:solidFill>
                          <a:latin typeface="Calibri" pitchFamily="34" charset="0"/>
                          <a:ea typeface="Calibri" pitchFamily="34" charset="-122"/>
                          <a:cs typeface="Calibri" pitchFamily="34" charset="-120"/>
                        </a:rPr>
                        <a:t>Planned</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tr>
              <a:tr h="457200">
                <a:tc>
                  <a:txBody>
                    <a:bodyPr/>
                    <a:lstStyle/>
                    <a:p>
                      <a:pPr indent="0" marL="0">
                        <a:buNone/>
                      </a:pPr>
                      <a:r>
                        <a:rPr lang="en-US" sz="1300" b="1" dirty="0">
                          <a:solidFill>
                            <a:srgbClr val="1B2E1B"/>
                          </a:solidFill>
                          <a:latin typeface="Calibri" pitchFamily="34" charset="0"/>
                          <a:ea typeface="Calibri" pitchFamily="34" charset="-122"/>
                          <a:cs typeface="Calibri" pitchFamily="34" charset="-120"/>
                        </a:rPr>
                        <a:t>Dashboard</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c>
                  <a:txBody>
                    <a:bodyPr/>
                    <a:lstStyle/>
                    <a:p>
                      <a:pPr indent="0" marL="0">
                        <a:buNone/>
                      </a:pPr>
                      <a:r>
                        <a:rPr lang="en-US" sz="1300" dirty="0">
                          <a:solidFill>
                            <a:srgbClr val="1B2E1B"/>
                          </a:solidFill>
                          <a:latin typeface="Calibri" pitchFamily="34" charset="0"/>
                          <a:ea typeface="Calibri" pitchFamily="34" charset="-122"/>
                          <a:cs typeface="Calibri" pitchFamily="34" charset="-120"/>
                        </a:rPr>
                        <a:t>Static web page on S3 showing events, alerts and statistics</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c>
                  <a:txBody>
                    <a:bodyPr/>
                    <a:lstStyle/>
                    <a:p>
                      <a:pPr indent="0" marL="0">
                        <a:buNone/>
                      </a:pPr>
                      <a:r>
                        <a:rPr lang="en-US" sz="1300" b="1" dirty="0">
                          <a:solidFill>
                            <a:srgbClr val="2A7A4A"/>
                          </a:solidFill>
                          <a:latin typeface="Calibri" pitchFamily="34" charset="0"/>
                          <a:ea typeface="Calibri" pitchFamily="34" charset="-122"/>
                          <a:cs typeface="Calibri" pitchFamily="34" charset="-120"/>
                        </a:rPr>
                        <a:t>Mandatory</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c>
                  <a:txBody>
                    <a:bodyPr/>
                    <a:lstStyle/>
                    <a:p>
                      <a:pPr indent="0" marL="0">
                        <a:buNone/>
                      </a:pPr>
                      <a:r>
                        <a:rPr lang="en-US" sz="1300" dirty="0">
                          <a:solidFill>
                            <a:srgbClr val="3A6888"/>
                          </a:solidFill>
                          <a:latin typeface="Calibri" pitchFamily="34" charset="0"/>
                          <a:ea typeface="Calibri" pitchFamily="34" charset="-122"/>
                          <a:cs typeface="Calibri" pitchFamily="34" charset="-120"/>
                        </a:rPr>
                        <a:t>Planned</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E1B"/>
                          </a:solidFill>
                          <a:latin typeface="Calibri" pitchFamily="34" charset="0"/>
                          <a:ea typeface="Calibri" pitchFamily="34" charset="-122"/>
                          <a:cs typeface="Calibri" pitchFamily="34" charset="-120"/>
                        </a:rPr>
                        <a:t>Monitoring</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tc>
                  <a:txBody>
                    <a:bodyPr/>
                    <a:lstStyle/>
                    <a:p>
                      <a:pPr indent="0" marL="0">
                        <a:buNone/>
                      </a:pPr>
                      <a:r>
                        <a:rPr lang="en-US" sz="1300" dirty="0">
                          <a:solidFill>
                            <a:srgbClr val="1B2E1B"/>
                          </a:solidFill>
                          <a:latin typeface="Calibri" pitchFamily="34" charset="0"/>
                          <a:ea typeface="Calibri" pitchFamily="34" charset="-122"/>
                          <a:cs typeface="Calibri" pitchFamily="34" charset="-120"/>
                        </a:rPr>
                        <a:t>CloudWatch logs, API error metrics and basic alarms</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tc>
                  <a:txBody>
                    <a:bodyPr/>
                    <a:lstStyle/>
                    <a:p>
                      <a:pPr indent="0" marL="0">
                        <a:buNone/>
                      </a:pPr>
                      <a:r>
                        <a:rPr lang="en-US" sz="1300" b="1" dirty="0">
                          <a:solidFill>
                            <a:srgbClr val="2A7A4A"/>
                          </a:solidFill>
                          <a:latin typeface="Calibri" pitchFamily="34" charset="0"/>
                          <a:ea typeface="Calibri" pitchFamily="34" charset="-122"/>
                          <a:cs typeface="Calibri" pitchFamily="34" charset="-120"/>
                        </a:rPr>
                        <a:t>Mandatory</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tc>
                  <a:txBody>
                    <a:bodyPr/>
                    <a:lstStyle/>
                    <a:p>
                      <a:pPr indent="0" marL="0">
                        <a:buNone/>
                      </a:pPr>
                      <a:r>
                        <a:rPr lang="en-US" sz="1300" dirty="0">
                          <a:solidFill>
                            <a:srgbClr val="3A6888"/>
                          </a:solidFill>
                          <a:latin typeface="Calibri" pitchFamily="34" charset="0"/>
                          <a:ea typeface="Calibri" pitchFamily="34" charset="-122"/>
                          <a:cs typeface="Calibri" pitchFamily="34" charset="-120"/>
                        </a:rPr>
                        <a:t>Planned</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tr>
              <a:tr h="457200">
                <a:tc>
                  <a:txBody>
                    <a:bodyPr/>
                    <a:lstStyle/>
                    <a:p>
                      <a:pPr indent="0" marL="0">
                        <a:buNone/>
                      </a:pPr>
                      <a:r>
                        <a:rPr lang="en-US" sz="1300" b="1" dirty="0">
                          <a:solidFill>
                            <a:srgbClr val="1B2E1B"/>
                          </a:solidFill>
                          <a:latin typeface="Calibri" pitchFamily="34" charset="0"/>
                          <a:ea typeface="Calibri" pitchFamily="34" charset="-122"/>
                          <a:cs typeface="Calibri" pitchFamily="34" charset="-120"/>
                        </a:rPr>
                        <a:t>Infrastructure as Code</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c>
                  <a:txBody>
                    <a:bodyPr/>
                    <a:lstStyle/>
                    <a:p>
                      <a:pPr indent="0" marL="0">
                        <a:buNone/>
                      </a:pPr>
                      <a:r>
                        <a:rPr lang="en-US" sz="1300" dirty="0">
                          <a:solidFill>
                            <a:srgbClr val="1B2E1B"/>
                          </a:solidFill>
                          <a:latin typeface="Calibri" pitchFamily="34" charset="0"/>
                          <a:ea typeface="Calibri" pitchFamily="34" charset="-122"/>
                          <a:cs typeface="Calibri" pitchFamily="34" charset="-120"/>
                        </a:rPr>
                        <a:t>Terraform to deploy every AWS resource repeatably</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c>
                  <a:txBody>
                    <a:bodyPr/>
                    <a:lstStyle/>
                    <a:p>
                      <a:pPr indent="0" marL="0">
                        <a:buNone/>
                      </a:pPr>
                      <a:r>
                        <a:rPr lang="en-US" sz="1300" b="1" dirty="0">
                          <a:solidFill>
                            <a:srgbClr val="B05E10"/>
                          </a:solidFill>
                          <a:latin typeface="Calibri" pitchFamily="34" charset="0"/>
                          <a:ea typeface="Calibri" pitchFamily="34" charset="-122"/>
                          <a:cs typeface="Calibri" pitchFamily="34" charset="-120"/>
                        </a:rPr>
                        <a:t>Optional</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c>
                  <a:txBody>
                    <a:bodyPr/>
                    <a:lstStyle/>
                    <a:p>
                      <a:pPr indent="0" marL="0">
                        <a:buNone/>
                      </a:pPr>
                      <a:r>
                        <a:rPr lang="en-US" sz="1300" dirty="0">
                          <a:solidFill>
                            <a:srgbClr val="3A6888"/>
                          </a:solidFill>
                          <a:latin typeface="Calibri" pitchFamily="34" charset="0"/>
                          <a:ea typeface="Calibri" pitchFamily="34" charset="-122"/>
                          <a:cs typeface="Calibri" pitchFamily="34" charset="-120"/>
                        </a:rPr>
                        <a:t>Planned</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r>
            </a:tbl>
          </a:graphicData>
        </a:graphic>
      </p:graphicFrame>
      <p:sp>
        <p:nvSpPr>
          <p:cNvPr id="4" name="Shape 1"/>
          <p:cNvSpPr/>
          <p:nvPr/>
        </p:nvSpPr>
        <p:spPr>
          <a:xfrm>
            <a:off x="548640" y="5120640"/>
            <a:ext cx="11064240" cy="1005840"/>
          </a:xfrm>
          <a:prstGeom prst="roundRect">
            <a:avLst>
              <a:gd name="adj" fmla="val 7273"/>
            </a:avLst>
          </a:prstGeom>
          <a:solidFill>
            <a:srgbClr val="FBEFE2"/>
          </a:solidFill>
          <a:ln w="12700">
            <a:solidFill>
              <a:srgbClr val="E8CFA0"/>
            </a:solidFill>
            <a:prstDash val="solid"/>
          </a:ln>
        </p:spPr>
      </p:sp>
      <p:pic>
        <p:nvPicPr>
          <p:cNvPr id="5" name="Image 0" descr="preencoded.png">    </p:cNvPr>
          <p:cNvPicPr>
            <a:picLocks noChangeAspect="1"/>
          </p:cNvPicPr>
          <p:nvPr/>
        </p:nvPicPr>
        <p:blipFill>
          <a:blip r:embed="rId1"/>
          <a:stretch>
            <a:fillRect/>
          </a:stretch>
        </p:blipFill>
        <p:spPr>
          <a:xfrm>
            <a:off x="777240" y="5349240"/>
            <a:ext cx="502920" cy="502920"/>
          </a:xfrm>
          <a:prstGeom prst="rect">
            <a:avLst/>
          </a:prstGeom>
        </p:spPr>
      </p:pic>
      <p:sp>
        <p:nvSpPr>
          <p:cNvPr id="6" name="Text 2"/>
          <p:cNvSpPr txBox="1"/>
          <p:nvPr/>
        </p:nvSpPr>
        <p:spPr>
          <a:xfrm>
            <a:off x="1463040" y="5230368"/>
            <a:ext cx="5486400" cy="320040"/>
          </a:xfrm>
          <a:prstGeom prst="rect">
            <a:avLst/>
          </a:prstGeom>
          <a:noFill/>
          <a:ln/>
        </p:spPr>
        <p:txBody>
          <a:bodyPr wrap="square" lIns="0" tIns="0" rIns="0" bIns="0" rtlCol="0" anchor="ctr"/>
          <a:lstStyle/>
          <a:p>
            <a:pPr indent="0" marL="0">
              <a:buNone/>
            </a:pPr>
            <a:r>
              <a:rPr lang="en-US" sz="1500" b="1" dirty="0">
                <a:solidFill>
                  <a:srgbClr val="B05E10"/>
                </a:solidFill>
                <a:latin typeface="Calibri" pitchFamily="34" charset="0"/>
                <a:ea typeface="Calibri" pitchFamily="34" charset="-122"/>
                <a:cs typeface="Calibri" pitchFamily="34" charset="-120"/>
              </a:rPr>
              <a:t>Deliberately out of scope</a:t>
            </a:r>
            <a:endParaRPr lang="en-US" sz="1500" dirty="0"/>
          </a:p>
        </p:txBody>
      </p:sp>
      <p:sp>
        <p:nvSpPr>
          <p:cNvPr id="7" name="Text 3"/>
          <p:cNvSpPr txBox="1"/>
          <p:nvPr/>
        </p:nvSpPr>
        <p:spPr>
          <a:xfrm>
            <a:off x="1463040" y="5559552"/>
            <a:ext cx="9966960" cy="411480"/>
          </a:xfrm>
          <a:prstGeom prst="rect">
            <a:avLst/>
          </a:prstGeom>
          <a:noFill/>
          <a:ln/>
        </p:spPr>
        <p:txBody>
          <a:bodyPr wrap="square" lIns="0" tIns="0" rIns="0" bIns="0" rtlCol="0" anchor="ctr"/>
          <a:lstStyle/>
          <a:p>
            <a:pPr indent="0" marL="0">
              <a:buNone/>
            </a:pPr>
            <a:r>
              <a:rPr lang="en-US" sz="1400" dirty="0">
                <a:solidFill>
                  <a:srgbClr val="5A4A3A"/>
                </a:solidFill>
                <a:latin typeface="Calibri" pitchFamily="34" charset="0"/>
                <a:ea typeface="Calibri" pitchFamily="34" charset="-122"/>
                <a:cs typeface="Calibri" pitchFamily="34" charset="-120"/>
              </a:rPr>
              <a:t>Kubernetes · Kafka · Spark / EMR · Redshift · Machine learning · Multi-region · NAT Gateway · EC2 · RDS · Load balancers</a:t>
            </a:r>
            <a:endParaRPr lang="en-US" sz="14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5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3400" b="1" dirty="0">
                <a:solidFill>
                  <a:srgbClr val="2A7A4A"/>
                </a:solidFill>
                <a:latin typeface="Cambria" pitchFamily="34" charset="0"/>
                <a:ea typeface="Cambria" pitchFamily="34" charset="-122"/>
                <a:cs typeface="Cambria" pitchFamily="34" charset="-120"/>
              </a:rPr>
              <a:t>Solution architecture</a:t>
            </a:r>
            <a:endParaRPr lang="en-US" sz="3400" dirty="0"/>
          </a:p>
        </p:txBody>
      </p:sp>
      <p:sp>
        <p:nvSpPr>
          <p:cNvPr id="3" name="Shape 1"/>
          <p:cNvSpPr/>
          <p:nvPr/>
        </p:nvSpPr>
        <p:spPr>
          <a:xfrm>
            <a:off x="2057400" y="1143000"/>
            <a:ext cx="9829800" cy="5166360"/>
          </a:xfrm>
          <a:prstGeom prst="rect">
            <a:avLst/>
          </a:prstGeom>
          <a:solidFill>
            <a:srgbClr val="FFFFFF"/>
          </a:solidFill>
          <a:ln w="15875">
            <a:solidFill>
              <a:srgbClr val="232F3E"/>
            </a:solidFill>
            <a:prstDash val="solid"/>
          </a:ln>
        </p:spPr>
      </p:sp>
      <p:sp>
        <p:nvSpPr>
          <p:cNvPr id="4" name="Shape 2"/>
          <p:cNvSpPr/>
          <p:nvPr/>
        </p:nvSpPr>
        <p:spPr>
          <a:xfrm>
            <a:off x="2057400" y="1143000"/>
            <a:ext cx="310896" cy="274320"/>
          </a:xfrm>
          <a:prstGeom prst="rect">
            <a:avLst/>
          </a:prstGeom>
          <a:solidFill>
            <a:srgbClr val="232F3E"/>
          </a:solidFill>
          <a:ln w="12700">
            <a:solidFill>
              <a:srgbClr val="232F3E"/>
            </a:solidFill>
            <a:prstDash val="solid"/>
          </a:ln>
        </p:spPr>
      </p:sp>
      <p:pic>
        <p:nvPicPr>
          <p:cNvPr id="5" name="Image 0" descr="preencoded.png">    </p:cNvPr>
          <p:cNvPicPr>
            <a:picLocks noChangeAspect="1"/>
          </p:cNvPicPr>
          <p:nvPr/>
        </p:nvPicPr>
        <p:blipFill>
          <a:blip r:embed="rId1"/>
          <a:stretch>
            <a:fillRect/>
          </a:stretch>
        </p:blipFill>
        <p:spPr>
          <a:xfrm>
            <a:off x="2093976" y="1161288"/>
            <a:ext cx="237744" cy="237744"/>
          </a:xfrm>
          <a:prstGeom prst="rect">
            <a:avLst/>
          </a:prstGeom>
        </p:spPr>
      </p:pic>
      <p:sp>
        <p:nvSpPr>
          <p:cNvPr id="6" name="Text 3"/>
          <p:cNvSpPr txBox="1"/>
          <p:nvPr/>
        </p:nvSpPr>
        <p:spPr>
          <a:xfrm>
            <a:off x="2450592" y="1161288"/>
            <a:ext cx="2743200" cy="237744"/>
          </a:xfrm>
          <a:prstGeom prst="rect">
            <a:avLst/>
          </a:prstGeom>
          <a:noFill/>
          <a:ln/>
        </p:spPr>
        <p:txBody>
          <a:bodyPr wrap="square" lIns="0" tIns="0" rIns="0" bIns="0" rtlCol="0" anchor="ctr"/>
          <a:lstStyle/>
          <a:p>
            <a:pPr indent="0" marL="0">
              <a:buNone/>
            </a:pPr>
            <a:r>
              <a:rPr lang="en-US" sz="1100" b="1" dirty="0">
                <a:solidFill>
                  <a:srgbClr val="232F3E"/>
                </a:solidFill>
                <a:latin typeface="Calibri" pitchFamily="34" charset="0"/>
                <a:ea typeface="Calibri" pitchFamily="34" charset="-122"/>
                <a:cs typeface="Calibri" pitchFamily="34" charset="-120"/>
              </a:rPr>
              <a:t>AWS Cloud · eu-west-3 (Paris)</a:t>
            </a:r>
            <a:endParaRPr lang="en-US" sz="1100" dirty="0"/>
          </a:p>
        </p:txBody>
      </p:sp>
      <p:sp>
        <p:nvSpPr>
          <p:cNvPr id="7" name="Text 4"/>
          <p:cNvSpPr txBox="1"/>
          <p:nvPr/>
        </p:nvSpPr>
        <p:spPr>
          <a:xfrm>
            <a:off x="320040" y="1188720"/>
            <a:ext cx="1463040" cy="228600"/>
          </a:xfrm>
          <a:prstGeom prst="rect">
            <a:avLst/>
          </a:prstGeom>
          <a:noFill/>
          <a:ln/>
        </p:spPr>
        <p:txBody>
          <a:bodyPr wrap="square" lIns="0" tIns="0" rIns="0" bIns="0" rtlCol="0" anchor="ctr"/>
          <a:lstStyle/>
          <a:p>
            <a:pPr algn="ctr" indent="0" marL="0">
              <a:buNone/>
            </a:pPr>
            <a:r>
              <a:rPr lang="en-US" sz="1000" b="1" dirty="0">
                <a:solidFill>
                  <a:srgbClr val="5E6E5E"/>
                </a:solidFill>
                <a:latin typeface="Calibri" pitchFamily="34" charset="0"/>
                <a:ea typeface="Calibri" pitchFamily="34" charset="-122"/>
                <a:cs typeface="Calibri" pitchFamily="34" charset="-120"/>
              </a:rPr>
              <a:t>Users &amp; devices</a:t>
            </a:r>
            <a:endParaRPr lang="en-US" sz="1000" dirty="0"/>
          </a:p>
        </p:txBody>
      </p:sp>
      <p:sp>
        <p:nvSpPr>
          <p:cNvPr id="8" name="Shape 5"/>
          <p:cNvSpPr/>
          <p:nvPr/>
        </p:nvSpPr>
        <p:spPr>
          <a:xfrm>
            <a:off x="2331720" y="1508760"/>
            <a:ext cx="1463040" cy="1417320"/>
          </a:xfrm>
          <a:prstGeom prst="roundRect">
            <a:avLst>
              <a:gd name="adj" fmla="val 3871"/>
            </a:avLst>
          </a:prstGeom>
          <a:solidFill>
            <a:srgbClr val="FFFFFF">
              <a:alpha val="0"/>
            </a:srgbClr>
          </a:solidFill>
          <a:ln w="15875">
            <a:solidFill>
              <a:srgbClr val="4A88CC"/>
            </a:solidFill>
            <a:prstDash val="dash"/>
          </a:ln>
        </p:spPr>
      </p:sp>
      <p:sp>
        <p:nvSpPr>
          <p:cNvPr id="9" name="Text 6"/>
          <p:cNvSpPr txBox="1"/>
          <p:nvPr/>
        </p:nvSpPr>
        <p:spPr>
          <a:xfrm>
            <a:off x="2423160" y="1563624"/>
            <a:ext cx="1280160" cy="201168"/>
          </a:xfrm>
          <a:prstGeom prst="rect">
            <a:avLst/>
          </a:prstGeom>
          <a:noFill/>
          <a:ln/>
        </p:spPr>
        <p:txBody>
          <a:bodyPr wrap="square" lIns="0" tIns="0" rIns="0" bIns="0" rtlCol="0" anchor="ctr"/>
          <a:lstStyle/>
          <a:p>
            <a:pPr indent="0" marL="0">
              <a:buNone/>
            </a:pPr>
            <a:r>
              <a:rPr lang="en-US" sz="1000" b="1" dirty="0">
                <a:solidFill>
                  <a:srgbClr val="4A88CC"/>
                </a:solidFill>
                <a:latin typeface="Calibri" pitchFamily="34" charset="0"/>
                <a:ea typeface="Calibri" pitchFamily="34" charset="-122"/>
                <a:cs typeface="Calibri" pitchFamily="34" charset="-120"/>
              </a:rPr>
              <a:t>Frontend hosting</a:t>
            </a:r>
            <a:endParaRPr lang="en-US" sz="1000" dirty="0"/>
          </a:p>
        </p:txBody>
      </p:sp>
      <p:sp>
        <p:nvSpPr>
          <p:cNvPr id="10" name="Shape 7"/>
          <p:cNvSpPr/>
          <p:nvPr/>
        </p:nvSpPr>
        <p:spPr>
          <a:xfrm>
            <a:off x="2331720" y="3063240"/>
            <a:ext cx="1463040" cy="1463040"/>
          </a:xfrm>
          <a:prstGeom prst="roundRect">
            <a:avLst>
              <a:gd name="adj" fmla="val 3750"/>
            </a:avLst>
          </a:prstGeom>
          <a:solidFill>
            <a:srgbClr val="FFFFFF">
              <a:alpha val="0"/>
            </a:srgbClr>
          </a:solidFill>
          <a:ln w="15875">
            <a:solidFill>
              <a:srgbClr val="E7157B"/>
            </a:solidFill>
            <a:prstDash val="dash"/>
          </a:ln>
        </p:spPr>
      </p:sp>
      <p:sp>
        <p:nvSpPr>
          <p:cNvPr id="11" name="Text 8"/>
          <p:cNvSpPr txBox="1"/>
          <p:nvPr/>
        </p:nvSpPr>
        <p:spPr>
          <a:xfrm>
            <a:off x="2423160" y="3118104"/>
            <a:ext cx="1280160" cy="201168"/>
          </a:xfrm>
          <a:prstGeom prst="rect">
            <a:avLst/>
          </a:prstGeom>
          <a:noFill/>
          <a:ln/>
        </p:spPr>
        <p:txBody>
          <a:bodyPr wrap="square" lIns="0" tIns="0" rIns="0" bIns="0" rtlCol="0" anchor="ctr"/>
          <a:lstStyle/>
          <a:p>
            <a:pPr indent="0" marL="0">
              <a:buNone/>
            </a:pPr>
            <a:r>
              <a:rPr lang="en-US" sz="1000" b="1" dirty="0">
                <a:solidFill>
                  <a:srgbClr val="E7157B"/>
                </a:solidFill>
                <a:latin typeface="Calibri" pitchFamily="34" charset="0"/>
                <a:ea typeface="Calibri" pitchFamily="34" charset="-122"/>
                <a:cs typeface="Calibri" pitchFamily="34" charset="-120"/>
              </a:rPr>
              <a:t>API layer</a:t>
            </a:r>
            <a:endParaRPr lang="en-US" sz="1000" dirty="0"/>
          </a:p>
        </p:txBody>
      </p:sp>
      <p:sp>
        <p:nvSpPr>
          <p:cNvPr id="12" name="Shape 9"/>
          <p:cNvSpPr/>
          <p:nvPr/>
        </p:nvSpPr>
        <p:spPr>
          <a:xfrm>
            <a:off x="5029200" y="1508760"/>
            <a:ext cx="1554480" cy="4389120"/>
          </a:xfrm>
          <a:prstGeom prst="roundRect">
            <a:avLst>
              <a:gd name="adj" fmla="val 3529"/>
            </a:avLst>
          </a:prstGeom>
          <a:solidFill>
            <a:srgbClr val="FFFFFF">
              <a:alpha val="0"/>
            </a:srgbClr>
          </a:solidFill>
          <a:ln w="15875">
            <a:solidFill>
              <a:srgbClr val="2A7A4A"/>
            </a:solidFill>
            <a:prstDash val="dash"/>
          </a:ln>
        </p:spPr>
      </p:sp>
      <p:sp>
        <p:nvSpPr>
          <p:cNvPr id="13" name="Text 10"/>
          <p:cNvSpPr txBox="1"/>
          <p:nvPr/>
        </p:nvSpPr>
        <p:spPr>
          <a:xfrm>
            <a:off x="5120640" y="1563624"/>
            <a:ext cx="1371600" cy="201168"/>
          </a:xfrm>
          <a:prstGeom prst="rect">
            <a:avLst/>
          </a:prstGeom>
          <a:noFill/>
          <a:ln/>
        </p:spPr>
        <p:txBody>
          <a:bodyPr wrap="square" lIns="0" tIns="0" rIns="0" bIns="0" rtlCol="0" anchor="ctr"/>
          <a:lstStyle/>
          <a:p>
            <a:pPr indent="0" marL="0">
              <a:buNone/>
            </a:pPr>
            <a:r>
              <a:rPr lang="en-US" sz="1000" b="1" dirty="0">
                <a:solidFill>
                  <a:srgbClr val="2A7A4A"/>
                </a:solidFill>
                <a:latin typeface="Calibri" pitchFamily="34" charset="0"/>
                <a:ea typeface="Calibri" pitchFamily="34" charset="-122"/>
                <a:cs typeface="Calibri" pitchFamily="34" charset="-120"/>
              </a:rPr>
              <a:t>Compute (Lambda)</a:t>
            </a:r>
            <a:endParaRPr lang="en-US" sz="1000" dirty="0"/>
          </a:p>
        </p:txBody>
      </p:sp>
      <p:sp>
        <p:nvSpPr>
          <p:cNvPr id="14" name="Shape 11"/>
          <p:cNvSpPr/>
          <p:nvPr/>
        </p:nvSpPr>
        <p:spPr>
          <a:xfrm>
            <a:off x="7726680" y="1508760"/>
            <a:ext cx="1463040" cy="2240280"/>
          </a:xfrm>
          <a:prstGeom prst="roundRect">
            <a:avLst>
              <a:gd name="adj" fmla="val 3750"/>
            </a:avLst>
          </a:prstGeom>
          <a:solidFill>
            <a:srgbClr val="FFFFFF">
              <a:alpha val="0"/>
            </a:srgbClr>
          </a:solidFill>
          <a:ln w="15875">
            <a:solidFill>
              <a:srgbClr val="3B48CC"/>
            </a:solidFill>
            <a:prstDash val="dash"/>
          </a:ln>
        </p:spPr>
      </p:sp>
      <p:sp>
        <p:nvSpPr>
          <p:cNvPr id="15" name="Text 12"/>
          <p:cNvSpPr txBox="1"/>
          <p:nvPr/>
        </p:nvSpPr>
        <p:spPr>
          <a:xfrm>
            <a:off x="7818120" y="1563624"/>
            <a:ext cx="1280160" cy="201168"/>
          </a:xfrm>
          <a:prstGeom prst="rect">
            <a:avLst/>
          </a:prstGeom>
          <a:noFill/>
          <a:ln/>
        </p:spPr>
        <p:txBody>
          <a:bodyPr wrap="square" lIns="0" tIns="0" rIns="0" bIns="0" rtlCol="0" anchor="ctr"/>
          <a:lstStyle/>
          <a:p>
            <a:pPr indent="0" marL="0">
              <a:buNone/>
            </a:pPr>
            <a:r>
              <a:rPr lang="en-US" sz="1000" b="1" dirty="0">
                <a:solidFill>
                  <a:srgbClr val="3B48CC"/>
                </a:solidFill>
                <a:latin typeface="Calibri" pitchFamily="34" charset="0"/>
                <a:ea typeface="Calibri" pitchFamily="34" charset="-122"/>
                <a:cs typeface="Calibri" pitchFamily="34" charset="-120"/>
              </a:rPr>
              <a:t>Data</a:t>
            </a:r>
            <a:endParaRPr lang="en-US" sz="1000" dirty="0"/>
          </a:p>
        </p:txBody>
      </p:sp>
      <p:sp>
        <p:nvSpPr>
          <p:cNvPr id="16" name="Shape 13"/>
          <p:cNvSpPr/>
          <p:nvPr/>
        </p:nvSpPr>
        <p:spPr>
          <a:xfrm>
            <a:off x="7726680" y="4343400"/>
            <a:ext cx="1463040" cy="1554480"/>
          </a:xfrm>
          <a:prstGeom prst="roundRect">
            <a:avLst>
              <a:gd name="adj" fmla="val 3750"/>
            </a:avLst>
          </a:prstGeom>
          <a:solidFill>
            <a:srgbClr val="FFFFFF">
              <a:alpha val="0"/>
            </a:srgbClr>
          </a:solidFill>
          <a:ln w="15875">
            <a:solidFill>
              <a:srgbClr val="DD344C"/>
            </a:solidFill>
            <a:prstDash val="dash"/>
          </a:ln>
        </p:spPr>
      </p:sp>
      <p:sp>
        <p:nvSpPr>
          <p:cNvPr id="17" name="Text 14"/>
          <p:cNvSpPr txBox="1"/>
          <p:nvPr/>
        </p:nvSpPr>
        <p:spPr>
          <a:xfrm>
            <a:off x="7818120" y="4398264"/>
            <a:ext cx="1280160" cy="201168"/>
          </a:xfrm>
          <a:prstGeom prst="rect">
            <a:avLst/>
          </a:prstGeom>
          <a:noFill/>
          <a:ln/>
        </p:spPr>
        <p:txBody>
          <a:bodyPr wrap="square" lIns="0" tIns="0" rIns="0" bIns="0" rtlCol="0" anchor="ctr"/>
          <a:lstStyle/>
          <a:p>
            <a:pPr indent="0" marL="0">
              <a:buNone/>
            </a:pPr>
            <a:r>
              <a:rPr lang="en-US" sz="1000" b="1" dirty="0">
                <a:solidFill>
                  <a:srgbClr val="DD344C"/>
                </a:solidFill>
                <a:latin typeface="Calibri" pitchFamily="34" charset="0"/>
                <a:ea typeface="Calibri" pitchFamily="34" charset="-122"/>
                <a:cs typeface="Calibri" pitchFamily="34" charset="-120"/>
              </a:rPr>
              <a:t>Identity</a:t>
            </a:r>
            <a:endParaRPr lang="en-US" sz="1000" dirty="0"/>
          </a:p>
        </p:txBody>
      </p:sp>
      <p:sp>
        <p:nvSpPr>
          <p:cNvPr id="18" name="Shape 15"/>
          <p:cNvSpPr/>
          <p:nvPr/>
        </p:nvSpPr>
        <p:spPr>
          <a:xfrm>
            <a:off x="9509760" y="1508760"/>
            <a:ext cx="2194560" cy="4389120"/>
          </a:xfrm>
          <a:prstGeom prst="roundRect">
            <a:avLst>
              <a:gd name="adj" fmla="val 2500"/>
            </a:avLst>
          </a:prstGeom>
          <a:solidFill>
            <a:srgbClr val="FFFFFF">
              <a:alpha val="0"/>
            </a:srgbClr>
          </a:solidFill>
          <a:ln w="15875">
            <a:solidFill>
              <a:srgbClr val="B05E10"/>
            </a:solidFill>
            <a:prstDash val="dash"/>
          </a:ln>
        </p:spPr>
      </p:sp>
      <p:sp>
        <p:nvSpPr>
          <p:cNvPr id="19" name="Text 16"/>
          <p:cNvSpPr txBox="1"/>
          <p:nvPr/>
        </p:nvSpPr>
        <p:spPr>
          <a:xfrm>
            <a:off x="9601200" y="1563624"/>
            <a:ext cx="2011680" cy="201168"/>
          </a:xfrm>
          <a:prstGeom prst="rect">
            <a:avLst/>
          </a:prstGeom>
          <a:noFill/>
          <a:ln/>
        </p:spPr>
        <p:txBody>
          <a:bodyPr wrap="square" lIns="0" tIns="0" rIns="0" bIns="0" rtlCol="0" anchor="ctr"/>
          <a:lstStyle/>
          <a:p>
            <a:pPr indent="0" marL="0">
              <a:buNone/>
            </a:pPr>
            <a:r>
              <a:rPr lang="en-US" sz="1000" b="1" dirty="0">
                <a:solidFill>
                  <a:srgbClr val="B05E10"/>
                </a:solidFill>
                <a:latin typeface="Calibri" pitchFamily="34" charset="0"/>
                <a:ea typeface="Calibri" pitchFamily="34" charset="-122"/>
                <a:cs typeface="Calibri" pitchFamily="34" charset="-120"/>
              </a:rPr>
              <a:t>Operations &amp; governance</a:t>
            </a:r>
            <a:endParaRPr lang="en-US" sz="1000" dirty="0"/>
          </a:p>
        </p:txBody>
      </p:sp>
      <p:sp>
        <p:nvSpPr>
          <p:cNvPr id="20" name="Shape 17"/>
          <p:cNvSpPr/>
          <p:nvPr/>
        </p:nvSpPr>
        <p:spPr>
          <a:xfrm>
            <a:off x="1325880" y="2057400"/>
            <a:ext cx="1417320" cy="0"/>
          </a:xfrm>
          <a:prstGeom prst="line">
            <a:avLst/>
          </a:prstGeom>
          <a:noFill/>
          <a:ln w="19050">
            <a:solidFill>
              <a:srgbClr val="7A8A7A"/>
            </a:solidFill>
            <a:prstDash val="solid"/>
            <a:tailEnd type="triangle"/>
          </a:ln>
        </p:spPr>
      </p:sp>
      <p:sp>
        <p:nvSpPr>
          <p:cNvPr id="21" name="Shape 18"/>
          <p:cNvSpPr/>
          <p:nvPr/>
        </p:nvSpPr>
        <p:spPr>
          <a:xfrm>
            <a:off x="1005840" y="2880360"/>
            <a:ext cx="0" cy="685800"/>
          </a:xfrm>
          <a:prstGeom prst="line">
            <a:avLst/>
          </a:prstGeom>
          <a:noFill/>
          <a:ln w="19050">
            <a:solidFill>
              <a:srgbClr val="E7157B"/>
            </a:solidFill>
            <a:prstDash val="solid"/>
          </a:ln>
        </p:spPr>
      </p:sp>
      <p:sp>
        <p:nvSpPr>
          <p:cNvPr id="22" name="Shape 19"/>
          <p:cNvSpPr/>
          <p:nvPr/>
        </p:nvSpPr>
        <p:spPr>
          <a:xfrm>
            <a:off x="1005840" y="3566160"/>
            <a:ext cx="1737360" cy="0"/>
          </a:xfrm>
          <a:prstGeom prst="line">
            <a:avLst/>
          </a:prstGeom>
          <a:noFill/>
          <a:ln w="19050">
            <a:solidFill>
              <a:srgbClr val="E7157B"/>
            </a:solidFill>
            <a:prstDash val="solid"/>
            <a:tailEnd type="triangle"/>
          </a:ln>
        </p:spPr>
      </p:sp>
      <p:sp>
        <p:nvSpPr>
          <p:cNvPr id="23" name="Shape 20"/>
          <p:cNvSpPr/>
          <p:nvPr/>
        </p:nvSpPr>
        <p:spPr>
          <a:xfrm flipV="1">
            <a:off x="1005840" y="3977640"/>
            <a:ext cx="0" cy="777240"/>
          </a:xfrm>
          <a:prstGeom prst="line">
            <a:avLst/>
          </a:prstGeom>
          <a:noFill/>
          <a:ln w="19050">
            <a:solidFill>
              <a:srgbClr val="E7157B"/>
            </a:solidFill>
            <a:prstDash val="solid"/>
          </a:ln>
        </p:spPr>
      </p:sp>
      <p:sp>
        <p:nvSpPr>
          <p:cNvPr id="24" name="Shape 21"/>
          <p:cNvSpPr/>
          <p:nvPr/>
        </p:nvSpPr>
        <p:spPr>
          <a:xfrm>
            <a:off x="1005840" y="3977640"/>
            <a:ext cx="1737360" cy="0"/>
          </a:xfrm>
          <a:prstGeom prst="line">
            <a:avLst/>
          </a:prstGeom>
          <a:noFill/>
          <a:ln w="19050">
            <a:solidFill>
              <a:srgbClr val="E7157B"/>
            </a:solidFill>
            <a:prstDash val="solid"/>
            <a:tailEnd type="triangle"/>
          </a:ln>
        </p:spPr>
      </p:sp>
      <p:sp>
        <p:nvSpPr>
          <p:cNvPr id="25" name="Shape 22"/>
          <p:cNvSpPr/>
          <p:nvPr/>
        </p:nvSpPr>
        <p:spPr>
          <a:xfrm>
            <a:off x="3063240" y="4526280"/>
            <a:ext cx="0" cy="1581912"/>
          </a:xfrm>
          <a:prstGeom prst="line">
            <a:avLst/>
          </a:prstGeom>
          <a:noFill/>
          <a:ln w="19050">
            <a:solidFill>
              <a:srgbClr val="DD344C"/>
            </a:solidFill>
            <a:prstDash val="dash"/>
          </a:ln>
        </p:spPr>
      </p:sp>
      <p:sp>
        <p:nvSpPr>
          <p:cNvPr id="26" name="Shape 23"/>
          <p:cNvSpPr/>
          <p:nvPr/>
        </p:nvSpPr>
        <p:spPr>
          <a:xfrm>
            <a:off x="3063240" y="6108192"/>
            <a:ext cx="5394960" cy="0"/>
          </a:xfrm>
          <a:prstGeom prst="line">
            <a:avLst/>
          </a:prstGeom>
          <a:noFill/>
          <a:ln w="19050">
            <a:solidFill>
              <a:srgbClr val="DD344C"/>
            </a:solidFill>
            <a:prstDash val="dash"/>
          </a:ln>
        </p:spPr>
      </p:sp>
      <p:sp>
        <p:nvSpPr>
          <p:cNvPr id="27" name="Shape 24"/>
          <p:cNvSpPr/>
          <p:nvPr/>
        </p:nvSpPr>
        <p:spPr>
          <a:xfrm flipV="1">
            <a:off x="8458200" y="5870448"/>
            <a:ext cx="0" cy="237744"/>
          </a:xfrm>
          <a:prstGeom prst="line">
            <a:avLst/>
          </a:prstGeom>
          <a:noFill/>
          <a:ln w="19050">
            <a:solidFill>
              <a:srgbClr val="DD344C"/>
            </a:solidFill>
            <a:prstDash val="dash"/>
            <a:tailEnd type="triangle"/>
          </a:ln>
        </p:spPr>
      </p:sp>
      <p:sp>
        <p:nvSpPr>
          <p:cNvPr id="28" name="Shape 25"/>
          <p:cNvSpPr/>
          <p:nvPr/>
        </p:nvSpPr>
        <p:spPr>
          <a:xfrm>
            <a:off x="3383280" y="3767328"/>
            <a:ext cx="1097280" cy="0"/>
          </a:xfrm>
          <a:prstGeom prst="line">
            <a:avLst/>
          </a:prstGeom>
          <a:noFill/>
          <a:ln w="19050">
            <a:solidFill>
              <a:srgbClr val="2A7A4A"/>
            </a:solidFill>
            <a:prstDash val="solid"/>
          </a:ln>
        </p:spPr>
      </p:sp>
      <p:sp>
        <p:nvSpPr>
          <p:cNvPr id="29" name="Shape 26"/>
          <p:cNvSpPr/>
          <p:nvPr/>
        </p:nvSpPr>
        <p:spPr>
          <a:xfrm>
            <a:off x="4480560" y="2057400"/>
            <a:ext cx="0" cy="3017520"/>
          </a:xfrm>
          <a:prstGeom prst="line">
            <a:avLst/>
          </a:prstGeom>
          <a:noFill/>
          <a:ln w="19050">
            <a:solidFill>
              <a:srgbClr val="2A7A4A"/>
            </a:solidFill>
            <a:prstDash val="solid"/>
          </a:ln>
        </p:spPr>
      </p:sp>
      <p:sp>
        <p:nvSpPr>
          <p:cNvPr id="30" name="Shape 27"/>
          <p:cNvSpPr/>
          <p:nvPr/>
        </p:nvSpPr>
        <p:spPr>
          <a:xfrm>
            <a:off x="4480560" y="2057400"/>
            <a:ext cx="1005840" cy="0"/>
          </a:xfrm>
          <a:prstGeom prst="line">
            <a:avLst/>
          </a:prstGeom>
          <a:noFill/>
          <a:ln w="19050">
            <a:solidFill>
              <a:srgbClr val="2A7A4A"/>
            </a:solidFill>
            <a:prstDash val="solid"/>
            <a:tailEnd type="triangle"/>
          </a:ln>
        </p:spPr>
      </p:sp>
      <p:sp>
        <p:nvSpPr>
          <p:cNvPr id="31" name="Shape 28"/>
          <p:cNvSpPr/>
          <p:nvPr/>
        </p:nvSpPr>
        <p:spPr>
          <a:xfrm>
            <a:off x="4480560" y="3657600"/>
            <a:ext cx="1005840" cy="0"/>
          </a:xfrm>
          <a:prstGeom prst="line">
            <a:avLst/>
          </a:prstGeom>
          <a:noFill/>
          <a:ln w="19050">
            <a:solidFill>
              <a:srgbClr val="2A7A4A"/>
            </a:solidFill>
            <a:prstDash val="solid"/>
            <a:tailEnd type="triangle"/>
          </a:ln>
        </p:spPr>
      </p:sp>
      <p:sp>
        <p:nvSpPr>
          <p:cNvPr id="32" name="Shape 29"/>
          <p:cNvSpPr/>
          <p:nvPr/>
        </p:nvSpPr>
        <p:spPr>
          <a:xfrm>
            <a:off x="4480560" y="5074920"/>
            <a:ext cx="1005840" cy="0"/>
          </a:xfrm>
          <a:prstGeom prst="line">
            <a:avLst/>
          </a:prstGeom>
          <a:noFill/>
          <a:ln w="19050">
            <a:solidFill>
              <a:srgbClr val="2A7A4A"/>
            </a:solidFill>
            <a:prstDash val="solid"/>
            <a:tailEnd type="triangle"/>
          </a:ln>
        </p:spPr>
      </p:sp>
      <p:sp>
        <p:nvSpPr>
          <p:cNvPr id="33" name="Shape 30"/>
          <p:cNvSpPr/>
          <p:nvPr/>
        </p:nvSpPr>
        <p:spPr>
          <a:xfrm>
            <a:off x="6126480" y="2057400"/>
            <a:ext cx="1143000" cy="0"/>
          </a:xfrm>
          <a:prstGeom prst="line">
            <a:avLst/>
          </a:prstGeom>
          <a:noFill/>
          <a:ln w="19050">
            <a:solidFill>
              <a:srgbClr val="3B48CC"/>
            </a:solidFill>
            <a:prstDash val="solid"/>
          </a:ln>
        </p:spPr>
      </p:sp>
      <p:sp>
        <p:nvSpPr>
          <p:cNvPr id="34" name="Shape 31"/>
          <p:cNvSpPr/>
          <p:nvPr/>
        </p:nvSpPr>
        <p:spPr>
          <a:xfrm>
            <a:off x="7269480" y="2057400"/>
            <a:ext cx="0" cy="548640"/>
          </a:xfrm>
          <a:prstGeom prst="line">
            <a:avLst/>
          </a:prstGeom>
          <a:noFill/>
          <a:ln w="19050">
            <a:solidFill>
              <a:srgbClr val="3B48CC"/>
            </a:solidFill>
            <a:prstDash val="solid"/>
          </a:ln>
        </p:spPr>
      </p:sp>
      <p:sp>
        <p:nvSpPr>
          <p:cNvPr id="35" name="Shape 32"/>
          <p:cNvSpPr/>
          <p:nvPr/>
        </p:nvSpPr>
        <p:spPr>
          <a:xfrm>
            <a:off x="7269480" y="2606040"/>
            <a:ext cx="868680" cy="0"/>
          </a:xfrm>
          <a:prstGeom prst="line">
            <a:avLst/>
          </a:prstGeom>
          <a:noFill/>
          <a:ln w="19050">
            <a:solidFill>
              <a:srgbClr val="3B48CC"/>
            </a:solidFill>
            <a:prstDash val="solid"/>
            <a:tailEnd type="triangle"/>
          </a:ln>
        </p:spPr>
      </p:sp>
      <p:sp>
        <p:nvSpPr>
          <p:cNvPr id="36" name="Shape 33"/>
          <p:cNvSpPr/>
          <p:nvPr/>
        </p:nvSpPr>
        <p:spPr>
          <a:xfrm>
            <a:off x="6126480" y="3657600"/>
            <a:ext cx="960120" cy="0"/>
          </a:xfrm>
          <a:prstGeom prst="line">
            <a:avLst/>
          </a:prstGeom>
          <a:noFill/>
          <a:ln w="19050">
            <a:solidFill>
              <a:srgbClr val="3B48CC"/>
            </a:solidFill>
            <a:prstDash val="solid"/>
          </a:ln>
        </p:spPr>
      </p:sp>
      <p:sp>
        <p:nvSpPr>
          <p:cNvPr id="37" name="Shape 34"/>
          <p:cNvSpPr/>
          <p:nvPr/>
        </p:nvSpPr>
        <p:spPr>
          <a:xfrm flipV="1">
            <a:off x="7086600" y="2971800"/>
            <a:ext cx="0" cy="685800"/>
          </a:xfrm>
          <a:prstGeom prst="line">
            <a:avLst/>
          </a:prstGeom>
          <a:noFill/>
          <a:ln w="19050">
            <a:solidFill>
              <a:srgbClr val="3B48CC"/>
            </a:solidFill>
            <a:prstDash val="solid"/>
          </a:ln>
        </p:spPr>
      </p:sp>
      <p:sp>
        <p:nvSpPr>
          <p:cNvPr id="38" name="Shape 35"/>
          <p:cNvSpPr/>
          <p:nvPr/>
        </p:nvSpPr>
        <p:spPr>
          <a:xfrm>
            <a:off x="7086600" y="2971800"/>
            <a:ext cx="1051560" cy="0"/>
          </a:xfrm>
          <a:prstGeom prst="line">
            <a:avLst/>
          </a:prstGeom>
          <a:noFill/>
          <a:ln w="19050">
            <a:solidFill>
              <a:srgbClr val="3B48CC"/>
            </a:solidFill>
            <a:prstDash val="solid"/>
            <a:tailEnd type="triangle"/>
          </a:ln>
        </p:spPr>
      </p:sp>
      <p:sp>
        <p:nvSpPr>
          <p:cNvPr id="39" name="Shape 36"/>
          <p:cNvSpPr/>
          <p:nvPr/>
        </p:nvSpPr>
        <p:spPr>
          <a:xfrm>
            <a:off x="6126480" y="5074920"/>
            <a:ext cx="2011680" cy="0"/>
          </a:xfrm>
          <a:prstGeom prst="line">
            <a:avLst/>
          </a:prstGeom>
          <a:noFill/>
          <a:ln w="19050">
            <a:solidFill>
              <a:srgbClr val="DD344C"/>
            </a:solidFill>
            <a:prstDash val="solid"/>
            <a:tailEnd type="triangle"/>
          </a:ln>
        </p:spPr>
      </p:sp>
      <p:sp>
        <p:nvSpPr>
          <p:cNvPr id="40" name="Shape 37"/>
          <p:cNvSpPr/>
          <p:nvPr/>
        </p:nvSpPr>
        <p:spPr>
          <a:xfrm flipV="1">
            <a:off x="6400800" y="1298448"/>
            <a:ext cx="0" cy="210312"/>
          </a:xfrm>
          <a:prstGeom prst="line">
            <a:avLst/>
          </a:prstGeom>
          <a:noFill/>
          <a:ln w="19050">
            <a:solidFill>
              <a:srgbClr val="B05E10"/>
            </a:solidFill>
            <a:prstDash val="dash"/>
          </a:ln>
        </p:spPr>
      </p:sp>
      <p:sp>
        <p:nvSpPr>
          <p:cNvPr id="41" name="Shape 38"/>
          <p:cNvSpPr/>
          <p:nvPr/>
        </p:nvSpPr>
        <p:spPr>
          <a:xfrm>
            <a:off x="6400800" y="1298448"/>
            <a:ext cx="4754880" cy="0"/>
          </a:xfrm>
          <a:prstGeom prst="line">
            <a:avLst/>
          </a:prstGeom>
          <a:noFill/>
          <a:ln w="19050">
            <a:solidFill>
              <a:srgbClr val="B05E10"/>
            </a:solidFill>
            <a:prstDash val="dash"/>
          </a:ln>
        </p:spPr>
      </p:sp>
      <p:sp>
        <p:nvSpPr>
          <p:cNvPr id="42" name="Shape 39"/>
          <p:cNvSpPr/>
          <p:nvPr/>
        </p:nvSpPr>
        <p:spPr>
          <a:xfrm>
            <a:off x="11155680" y="1298448"/>
            <a:ext cx="0" cy="438912"/>
          </a:xfrm>
          <a:prstGeom prst="line">
            <a:avLst/>
          </a:prstGeom>
          <a:noFill/>
          <a:ln w="19050">
            <a:solidFill>
              <a:srgbClr val="B05E10"/>
            </a:solidFill>
            <a:prstDash val="dash"/>
            <a:tailEnd type="triangle"/>
          </a:ln>
        </p:spPr>
      </p:sp>
      <p:sp>
        <p:nvSpPr>
          <p:cNvPr id="43" name="Shape 40"/>
          <p:cNvSpPr/>
          <p:nvPr/>
        </p:nvSpPr>
        <p:spPr>
          <a:xfrm>
            <a:off x="685800" y="1737360"/>
            <a:ext cx="640080" cy="640080"/>
          </a:xfrm>
          <a:prstGeom prst="roundRect">
            <a:avLst>
              <a:gd name="adj" fmla="val 14286"/>
            </a:avLst>
          </a:prstGeom>
          <a:solidFill>
            <a:srgbClr val="4A6090"/>
          </a:solidFill>
          <a:ln w="6350">
            <a:solidFill>
              <a:srgbClr val="4A6090"/>
            </a:solidFill>
            <a:prstDash val="solid"/>
          </a:ln>
        </p:spPr>
      </p:sp>
      <p:pic>
        <p:nvPicPr>
          <p:cNvPr id="44" name="Image 1" descr="preencoded.png">    </p:cNvPr>
          <p:cNvPicPr>
            <a:picLocks noChangeAspect="1"/>
          </p:cNvPicPr>
          <p:nvPr/>
        </p:nvPicPr>
        <p:blipFill>
          <a:blip r:embed="rId2"/>
          <a:stretch>
            <a:fillRect/>
          </a:stretch>
        </p:blipFill>
        <p:spPr>
          <a:xfrm>
            <a:off x="807415" y="1858975"/>
            <a:ext cx="396850" cy="396850"/>
          </a:xfrm>
          <a:prstGeom prst="rect">
            <a:avLst/>
          </a:prstGeom>
        </p:spPr>
      </p:pic>
      <p:sp>
        <p:nvSpPr>
          <p:cNvPr id="45" name="Text 41"/>
          <p:cNvSpPr txBox="1"/>
          <p:nvPr/>
        </p:nvSpPr>
        <p:spPr>
          <a:xfrm>
            <a:off x="228600" y="2423160"/>
            <a:ext cx="1554480" cy="219456"/>
          </a:xfrm>
          <a:prstGeom prst="rect">
            <a:avLst/>
          </a:prstGeom>
          <a:noFill/>
          <a:ln/>
        </p:spPr>
        <p:txBody>
          <a:bodyPr wrap="square" lIns="0" tIns="0" rIns="0" bIns="0" rtlCol="0" anchor="ctr"/>
          <a:lstStyle/>
          <a:p>
            <a:pPr algn="ctr" indent="0" marL="0">
              <a:buNone/>
            </a:pPr>
            <a:r>
              <a:rPr lang="en-US" sz="1100" b="1" dirty="0">
                <a:solidFill>
                  <a:srgbClr val="1B2E1B"/>
                </a:solidFill>
                <a:latin typeface="Calibri" pitchFamily="34" charset="0"/>
                <a:ea typeface="Calibri" pitchFamily="34" charset="-122"/>
                <a:cs typeface="Calibri" pitchFamily="34" charset="-120"/>
              </a:rPr>
              <a:t>Web browser</a:t>
            </a:r>
            <a:endParaRPr lang="en-US" sz="1100" dirty="0"/>
          </a:p>
        </p:txBody>
      </p:sp>
      <p:sp>
        <p:nvSpPr>
          <p:cNvPr id="46" name="Text 42"/>
          <p:cNvSpPr txBox="1"/>
          <p:nvPr/>
        </p:nvSpPr>
        <p:spPr>
          <a:xfrm>
            <a:off x="228600" y="2633472"/>
            <a:ext cx="1554480" cy="201168"/>
          </a:xfrm>
          <a:prstGeom prst="rect">
            <a:avLst/>
          </a:prstGeom>
          <a:noFill/>
          <a:ln/>
        </p:spPr>
        <p:txBody>
          <a:bodyPr wrap="square" lIns="0" tIns="0" rIns="0" bIns="0" rtlCol="0" anchor="ctr"/>
          <a:lstStyle/>
          <a:p>
            <a:pPr algn="ctr" indent="0" marL="0">
              <a:buNone/>
            </a:pPr>
            <a:r>
              <a:rPr lang="en-US" sz="1000" dirty="0">
                <a:solidFill>
                  <a:srgbClr val="5E6E5E"/>
                </a:solidFill>
                <a:latin typeface="Calibri" pitchFamily="34" charset="0"/>
                <a:ea typeface="Calibri" pitchFamily="34" charset="-122"/>
                <a:cs typeface="Calibri" pitchFamily="34" charset="-120"/>
              </a:rPr>
              <a:t>Admin / Staff</a:t>
            </a:r>
            <a:endParaRPr lang="en-US" sz="1000" dirty="0"/>
          </a:p>
        </p:txBody>
      </p:sp>
      <p:sp>
        <p:nvSpPr>
          <p:cNvPr id="47" name="Shape 43"/>
          <p:cNvSpPr/>
          <p:nvPr/>
        </p:nvSpPr>
        <p:spPr>
          <a:xfrm>
            <a:off x="685800" y="4754880"/>
            <a:ext cx="640080" cy="640080"/>
          </a:xfrm>
          <a:prstGeom prst="roundRect">
            <a:avLst>
              <a:gd name="adj" fmla="val 14286"/>
            </a:avLst>
          </a:prstGeom>
          <a:solidFill>
            <a:srgbClr val="2A4A6A"/>
          </a:solidFill>
          <a:ln w="6350">
            <a:solidFill>
              <a:srgbClr val="2A4A6A"/>
            </a:solidFill>
            <a:prstDash val="solid"/>
          </a:ln>
        </p:spPr>
      </p:sp>
      <p:pic>
        <p:nvPicPr>
          <p:cNvPr id="48" name="Image 2" descr="preencoded.png">    </p:cNvPr>
          <p:cNvPicPr>
            <a:picLocks noChangeAspect="1"/>
          </p:cNvPicPr>
          <p:nvPr/>
        </p:nvPicPr>
        <p:blipFill>
          <a:blip r:embed="rId3"/>
          <a:stretch>
            <a:fillRect/>
          </a:stretch>
        </p:blipFill>
        <p:spPr>
          <a:xfrm>
            <a:off x="807415" y="4876495"/>
            <a:ext cx="396850" cy="396850"/>
          </a:xfrm>
          <a:prstGeom prst="rect">
            <a:avLst/>
          </a:prstGeom>
        </p:spPr>
      </p:pic>
      <p:sp>
        <p:nvSpPr>
          <p:cNvPr id="49" name="Text 44"/>
          <p:cNvSpPr txBox="1"/>
          <p:nvPr/>
        </p:nvSpPr>
        <p:spPr>
          <a:xfrm>
            <a:off x="228600" y="5440680"/>
            <a:ext cx="1554480" cy="219456"/>
          </a:xfrm>
          <a:prstGeom prst="rect">
            <a:avLst/>
          </a:prstGeom>
          <a:noFill/>
          <a:ln/>
        </p:spPr>
        <p:txBody>
          <a:bodyPr wrap="square" lIns="0" tIns="0" rIns="0" bIns="0" rtlCol="0" anchor="ctr"/>
          <a:lstStyle/>
          <a:p>
            <a:pPr algn="ctr" indent="0" marL="0">
              <a:buNone/>
            </a:pPr>
            <a:r>
              <a:rPr lang="en-US" sz="1100" b="1" dirty="0">
                <a:solidFill>
                  <a:srgbClr val="1B2E1B"/>
                </a:solidFill>
                <a:latin typeface="Calibri" pitchFamily="34" charset="0"/>
                <a:ea typeface="Calibri" pitchFamily="34" charset="-122"/>
                <a:cs typeface="Calibri" pitchFamily="34" charset="-120"/>
              </a:rPr>
              <a:t>Campus simulator</a:t>
            </a:r>
            <a:endParaRPr lang="en-US" sz="1100" dirty="0"/>
          </a:p>
        </p:txBody>
      </p:sp>
      <p:sp>
        <p:nvSpPr>
          <p:cNvPr id="50" name="Text 45"/>
          <p:cNvSpPr txBox="1"/>
          <p:nvPr/>
        </p:nvSpPr>
        <p:spPr>
          <a:xfrm>
            <a:off x="228600" y="5650992"/>
            <a:ext cx="1554480" cy="201168"/>
          </a:xfrm>
          <a:prstGeom prst="rect">
            <a:avLst/>
          </a:prstGeom>
          <a:noFill/>
          <a:ln/>
        </p:spPr>
        <p:txBody>
          <a:bodyPr wrap="square" lIns="0" tIns="0" rIns="0" bIns="0" rtlCol="0" anchor="ctr"/>
          <a:lstStyle/>
          <a:p>
            <a:pPr algn="ctr" indent="0" marL="0">
              <a:buNone/>
            </a:pPr>
            <a:r>
              <a:rPr lang="en-US" sz="1000" dirty="0">
                <a:solidFill>
                  <a:srgbClr val="5E6E5E"/>
                </a:solidFill>
                <a:latin typeface="Calibri" pitchFamily="34" charset="0"/>
                <a:ea typeface="Calibri" pitchFamily="34" charset="-122"/>
                <a:cs typeface="Calibri" pitchFamily="34" charset="-120"/>
              </a:rPr>
              <a:t>Python script</a:t>
            </a:r>
            <a:endParaRPr lang="en-US" sz="1000" dirty="0"/>
          </a:p>
        </p:txBody>
      </p:sp>
      <p:sp>
        <p:nvSpPr>
          <p:cNvPr id="51" name="Shape 46"/>
          <p:cNvSpPr/>
          <p:nvPr/>
        </p:nvSpPr>
        <p:spPr>
          <a:xfrm>
            <a:off x="2743200" y="1737360"/>
            <a:ext cx="640080" cy="640080"/>
          </a:xfrm>
          <a:prstGeom prst="roundRect">
            <a:avLst>
              <a:gd name="adj" fmla="val 14286"/>
            </a:avLst>
          </a:prstGeom>
          <a:solidFill>
            <a:srgbClr val="7AA116"/>
          </a:solidFill>
          <a:ln w="6350">
            <a:solidFill>
              <a:srgbClr val="7AA116"/>
            </a:solidFill>
            <a:prstDash val="solid"/>
          </a:ln>
        </p:spPr>
      </p:sp>
      <p:pic>
        <p:nvPicPr>
          <p:cNvPr id="52" name="Image 3" descr="preencoded.png">    </p:cNvPr>
          <p:cNvPicPr>
            <a:picLocks noChangeAspect="1"/>
          </p:cNvPicPr>
          <p:nvPr/>
        </p:nvPicPr>
        <p:blipFill>
          <a:blip r:embed="rId4"/>
          <a:stretch>
            <a:fillRect/>
          </a:stretch>
        </p:blipFill>
        <p:spPr>
          <a:xfrm>
            <a:off x="2864815" y="1858975"/>
            <a:ext cx="396850" cy="396850"/>
          </a:xfrm>
          <a:prstGeom prst="rect">
            <a:avLst/>
          </a:prstGeom>
        </p:spPr>
      </p:pic>
      <p:sp>
        <p:nvSpPr>
          <p:cNvPr id="53" name="Text 47"/>
          <p:cNvSpPr txBox="1"/>
          <p:nvPr/>
        </p:nvSpPr>
        <p:spPr>
          <a:xfrm>
            <a:off x="2286000" y="2423160"/>
            <a:ext cx="1554480" cy="219456"/>
          </a:xfrm>
          <a:prstGeom prst="rect">
            <a:avLst/>
          </a:prstGeom>
          <a:noFill/>
          <a:ln/>
        </p:spPr>
        <p:txBody>
          <a:bodyPr wrap="square" lIns="0" tIns="0" rIns="0" bIns="0" rtlCol="0" anchor="ctr"/>
          <a:lstStyle/>
          <a:p>
            <a:pPr algn="ctr" indent="0" marL="0">
              <a:buNone/>
            </a:pPr>
            <a:r>
              <a:rPr lang="en-US" sz="1100" b="1" dirty="0">
                <a:solidFill>
                  <a:srgbClr val="1B2E1B"/>
                </a:solidFill>
                <a:latin typeface="Calibri" pitchFamily="34" charset="0"/>
                <a:ea typeface="Calibri" pitchFamily="34" charset="-122"/>
                <a:cs typeface="Calibri" pitchFamily="34" charset="-120"/>
              </a:rPr>
              <a:t>Amazon S3</a:t>
            </a:r>
            <a:endParaRPr lang="en-US" sz="1100" dirty="0"/>
          </a:p>
        </p:txBody>
      </p:sp>
      <p:sp>
        <p:nvSpPr>
          <p:cNvPr id="54" name="Text 48"/>
          <p:cNvSpPr txBox="1"/>
          <p:nvPr/>
        </p:nvSpPr>
        <p:spPr>
          <a:xfrm>
            <a:off x="2286000" y="2633472"/>
            <a:ext cx="1554480" cy="201168"/>
          </a:xfrm>
          <a:prstGeom prst="rect">
            <a:avLst/>
          </a:prstGeom>
          <a:noFill/>
          <a:ln/>
        </p:spPr>
        <p:txBody>
          <a:bodyPr wrap="square" lIns="0" tIns="0" rIns="0" bIns="0" rtlCol="0" anchor="ctr"/>
          <a:lstStyle/>
          <a:p>
            <a:pPr algn="ctr" indent="0" marL="0">
              <a:buNone/>
            </a:pPr>
            <a:r>
              <a:rPr lang="en-US" sz="1000" dirty="0">
                <a:solidFill>
                  <a:srgbClr val="5E6E5E"/>
                </a:solidFill>
                <a:latin typeface="Calibri" pitchFamily="34" charset="0"/>
                <a:ea typeface="Calibri" pitchFamily="34" charset="-122"/>
                <a:cs typeface="Calibri" pitchFamily="34" charset="-120"/>
              </a:rPr>
              <a:t>Static dashboard</a:t>
            </a:r>
            <a:endParaRPr lang="en-US" sz="1000" dirty="0"/>
          </a:p>
        </p:txBody>
      </p:sp>
      <p:sp>
        <p:nvSpPr>
          <p:cNvPr id="55" name="Shape 49"/>
          <p:cNvSpPr/>
          <p:nvPr/>
        </p:nvSpPr>
        <p:spPr>
          <a:xfrm>
            <a:off x="2743200" y="3447288"/>
            <a:ext cx="640080" cy="640080"/>
          </a:xfrm>
          <a:prstGeom prst="roundRect">
            <a:avLst>
              <a:gd name="adj" fmla="val 14286"/>
            </a:avLst>
          </a:prstGeom>
          <a:solidFill>
            <a:srgbClr val="E7157B"/>
          </a:solidFill>
          <a:ln w="6350">
            <a:solidFill>
              <a:srgbClr val="E7157B"/>
            </a:solidFill>
            <a:prstDash val="solid"/>
          </a:ln>
        </p:spPr>
      </p:sp>
      <p:pic>
        <p:nvPicPr>
          <p:cNvPr id="56" name="Image 4" descr="preencoded.png">    </p:cNvPr>
          <p:cNvPicPr>
            <a:picLocks noChangeAspect="1"/>
          </p:cNvPicPr>
          <p:nvPr/>
        </p:nvPicPr>
        <p:blipFill>
          <a:blip r:embed="rId5"/>
          <a:stretch>
            <a:fillRect/>
          </a:stretch>
        </p:blipFill>
        <p:spPr>
          <a:xfrm>
            <a:off x="2864815" y="3568903"/>
            <a:ext cx="396850" cy="396850"/>
          </a:xfrm>
          <a:prstGeom prst="rect">
            <a:avLst/>
          </a:prstGeom>
        </p:spPr>
      </p:pic>
      <p:sp>
        <p:nvSpPr>
          <p:cNvPr id="57" name="Text 50"/>
          <p:cNvSpPr txBox="1"/>
          <p:nvPr/>
        </p:nvSpPr>
        <p:spPr>
          <a:xfrm>
            <a:off x="2286000" y="4133088"/>
            <a:ext cx="1554480" cy="219456"/>
          </a:xfrm>
          <a:prstGeom prst="rect">
            <a:avLst/>
          </a:prstGeom>
          <a:noFill/>
          <a:ln/>
        </p:spPr>
        <p:txBody>
          <a:bodyPr wrap="square" lIns="0" tIns="0" rIns="0" bIns="0" rtlCol="0" anchor="ctr"/>
          <a:lstStyle/>
          <a:p>
            <a:pPr algn="ctr" indent="0" marL="0">
              <a:buNone/>
            </a:pPr>
            <a:r>
              <a:rPr lang="en-US" sz="1100" b="1" dirty="0">
                <a:solidFill>
                  <a:srgbClr val="1B2E1B"/>
                </a:solidFill>
                <a:latin typeface="Calibri" pitchFamily="34" charset="0"/>
                <a:ea typeface="Calibri" pitchFamily="34" charset="-122"/>
                <a:cs typeface="Calibri" pitchFamily="34" charset="-120"/>
              </a:rPr>
              <a:t>API Gateway</a:t>
            </a:r>
            <a:endParaRPr lang="en-US" sz="1100" dirty="0"/>
          </a:p>
        </p:txBody>
      </p:sp>
      <p:sp>
        <p:nvSpPr>
          <p:cNvPr id="58" name="Text 51"/>
          <p:cNvSpPr txBox="1"/>
          <p:nvPr/>
        </p:nvSpPr>
        <p:spPr>
          <a:xfrm>
            <a:off x="2286000" y="4343400"/>
            <a:ext cx="1554480" cy="201168"/>
          </a:xfrm>
          <a:prstGeom prst="rect">
            <a:avLst/>
          </a:prstGeom>
          <a:noFill/>
          <a:ln/>
        </p:spPr>
        <p:txBody>
          <a:bodyPr wrap="square" lIns="0" tIns="0" rIns="0" bIns="0" rtlCol="0" anchor="ctr"/>
          <a:lstStyle/>
          <a:p>
            <a:pPr algn="ctr" indent="0" marL="0">
              <a:buNone/>
            </a:pPr>
            <a:r>
              <a:rPr lang="en-US" sz="1000" dirty="0">
                <a:solidFill>
                  <a:srgbClr val="5E6E5E"/>
                </a:solidFill>
                <a:latin typeface="Calibri" pitchFamily="34" charset="0"/>
                <a:ea typeface="Calibri" pitchFamily="34" charset="-122"/>
                <a:cs typeface="Calibri" pitchFamily="34" charset="-120"/>
              </a:rPr>
              <a:t>REST API + authorizer</a:t>
            </a:r>
            <a:endParaRPr lang="en-US" sz="1000" dirty="0"/>
          </a:p>
        </p:txBody>
      </p:sp>
      <p:sp>
        <p:nvSpPr>
          <p:cNvPr id="59" name="Shape 52"/>
          <p:cNvSpPr/>
          <p:nvPr/>
        </p:nvSpPr>
        <p:spPr>
          <a:xfrm>
            <a:off x="5486400" y="1737360"/>
            <a:ext cx="640080" cy="640080"/>
          </a:xfrm>
          <a:prstGeom prst="roundRect">
            <a:avLst>
              <a:gd name="adj" fmla="val 14286"/>
            </a:avLst>
          </a:prstGeom>
          <a:solidFill>
            <a:srgbClr val="ED7100"/>
          </a:solidFill>
          <a:ln w="6350">
            <a:solidFill>
              <a:srgbClr val="ED7100"/>
            </a:solidFill>
            <a:prstDash val="solid"/>
          </a:ln>
        </p:spPr>
      </p:sp>
      <p:pic>
        <p:nvPicPr>
          <p:cNvPr id="60" name="Image 5" descr="preencoded.png">    </p:cNvPr>
          <p:cNvPicPr>
            <a:picLocks noChangeAspect="1"/>
          </p:cNvPicPr>
          <p:nvPr/>
        </p:nvPicPr>
        <p:blipFill>
          <a:blip r:embed="rId6"/>
          <a:stretch>
            <a:fillRect/>
          </a:stretch>
        </p:blipFill>
        <p:spPr>
          <a:xfrm>
            <a:off x="5608015" y="1858975"/>
            <a:ext cx="396850" cy="396850"/>
          </a:xfrm>
          <a:prstGeom prst="rect">
            <a:avLst/>
          </a:prstGeom>
        </p:spPr>
      </p:pic>
      <p:sp>
        <p:nvSpPr>
          <p:cNvPr id="61" name="Text 53"/>
          <p:cNvSpPr txBox="1"/>
          <p:nvPr/>
        </p:nvSpPr>
        <p:spPr>
          <a:xfrm>
            <a:off x="5029200" y="2423160"/>
            <a:ext cx="1554480" cy="219456"/>
          </a:xfrm>
          <a:prstGeom prst="rect">
            <a:avLst/>
          </a:prstGeom>
          <a:noFill/>
          <a:ln/>
        </p:spPr>
        <p:txBody>
          <a:bodyPr wrap="square" lIns="0" tIns="0" rIns="0" bIns="0" rtlCol="0" anchor="ctr"/>
          <a:lstStyle/>
          <a:p>
            <a:pPr algn="ctr" indent="0" marL="0">
              <a:buNone/>
            </a:pPr>
            <a:r>
              <a:rPr lang="en-US" sz="1100" b="1" dirty="0">
                <a:solidFill>
                  <a:srgbClr val="1B2E1B"/>
                </a:solidFill>
                <a:latin typeface="Calibri" pitchFamily="34" charset="0"/>
                <a:ea typeface="Calibri" pitchFamily="34" charset="-122"/>
                <a:cs typeface="Calibri" pitchFamily="34" charset="-120"/>
              </a:rPr>
              <a:t>Lambda Ingest</a:t>
            </a:r>
            <a:endParaRPr lang="en-US" sz="1100" dirty="0"/>
          </a:p>
        </p:txBody>
      </p:sp>
      <p:sp>
        <p:nvSpPr>
          <p:cNvPr id="62" name="Text 54"/>
          <p:cNvSpPr txBox="1"/>
          <p:nvPr/>
        </p:nvSpPr>
        <p:spPr>
          <a:xfrm>
            <a:off x="5029200" y="2633472"/>
            <a:ext cx="1554480" cy="201168"/>
          </a:xfrm>
          <a:prstGeom prst="rect">
            <a:avLst/>
          </a:prstGeom>
          <a:noFill/>
          <a:ln/>
        </p:spPr>
        <p:txBody>
          <a:bodyPr wrap="square" lIns="0" tIns="0" rIns="0" bIns="0" rtlCol="0" anchor="ctr"/>
          <a:lstStyle/>
          <a:p>
            <a:pPr algn="ctr" indent="0" marL="0">
              <a:buNone/>
            </a:pPr>
            <a:r>
              <a:rPr lang="en-US" sz="1000" dirty="0">
                <a:solidFill>
                  <a:srgbClr val="5E6E5E"/>
                </a:solidFill>
                <a:latin typeface="Calibri" pitchFamily="34" charset="0"/>
                <a:ea typeface="Calibri" pitchFamily="34" charset="-122"/>
                <a:cs typeface="Calibri" pitchFamily="34" charset="-120"/>
              </a:rPr>
              <a:t>POST /events</a:t>
            </a:r>
            <a:endParaRPr lang="en-US" sz="1000" dirty="0"/>
          </a:p>
        </p:txBody>
      </p:sp>
      <p:sp>
        <p:nvSpPr>
          <p:cNvPr id="63" name="Shape 55"/>
          <p:cNvSpPr/>
          <p:nvPr/>
        </p:nvSpPr>
        <p:spPr>
          <a:xfrm>
            <a:off x="5486400" y="3337560"/>
            <a:ext cx="640080" cy="640080"/>
          </a:xfrm>
          <a:prstGeom prst="roundRect">
            <a:avLst>
              <a:gd name="adj" fmla="val 14286"/>
            </a:avLst>
          </a:prstGeom>
          <a:solidFill>
            <a:srgbClr val="ED7100"/>
          </a:solidFill>
          <a:ln w="6350">
            <a:solidFill>
              <a:srgbClr val="ED7100"/>
            </a:solidFill>
            <a:prstDash val="solid"/>
          </a:ln>
        </p:spPr>
      </p:sp>
      <p:pic>
        <p:nvPicPr>
          <p:cNvPr id="64" name="Image 6" descr="preencoded.png">    </p:cNvPr>
          <p:cNvPicPr>
            <a:picLocks noChangeAspect="1"/>
          </p:cNvPicPr>
          <p:nvPr/>
        </p:nvPicPr>
        <p:blipFill>
          <a:blip r:embed="rId7"/>
          <a:stretch>
            <a:fillRect/>
          </a:stretch>
        </p:blipFill>
        <p:spPr>
          <a:xfrm>
            <a:off x="5608015" y="3459175"/>
            <a:ext cx="396850" cy="396850"/>
          </a:xfrm>
          <a:prstGeom prst="rect">
            <a:avLst/>
          </a:prstGeom>
        </p:spPr>
      </p:pic>
      <p:sp>
        <p:nvSpPr>
          <p:cNvPr id="65" name="Text 56"/>
          <p:cNvSpPr txBox="1"/>
          <p:nvPr/>
        </p:nvSpPr>
        <p:spPr>
          <a:xfrm>
            <a:off x="5029200" y="4023360"/>
            <a:ext cx="1554480" cy="219456"/>
          </a:xfrm>
          <a:prstGeom prst="rect">
            <a:avLst/>
          </a:prstGeom>
          <a:noFill/>
          <a:ln/>
        </p:spPr>
        <p:txBody>
          <a:bodyPr wrap="square" lIns="0" tIns="0" rIns="0" bIns="0" rtlCol="0" anchor="ctr"/>
          <a:lstStyle/>
          <a:p>
            <a:pPr algn="ctr" indent="0" marL="0">
              <a:buNone/>
            </a:pPr>
            <a:r>
              <a:rPr lang="en-US" sz="1100" b="1" dirty="0">
                <a:solidFill>
                  <a:srgbClr val="1B2E1B"/>
                </a:solidFill>
                <a:latin typeface="Calibri" pitchFamily="34" charset="0"/>
                <a:ea typeface="Calibri" pitchFamily="34" charset="-122"/>
                <a:cs typeface="Calibri" pitchFamily="34" charset="-120"/>
              </a:rPr>
              <a:t>Lambda Query</a:t>
            </a:r>
            <a:endParaRPr lang="en-US" sz="1100" dirty="0"/>
          </a:p>
        </p:txBody>
      </p:sp>
      <p:sp>
        <p:nvSpPr>
          <p:cNvPr id="66" name="Text 57"/>
          <p:cNvSpPr txBox="1"/>
          <p:nvPr/>
        </p:nvSpPr>
        <p:spPr>
          <a:xfrm>
            <a:off x="5029200" y="4233672"/>
            <a:ext cx="1554480" cy="201168"/>
          </a:xfrm>
          <a:prstGeom prst="rect">
            <a:avLst/>
          </a:prstGeom>
          <a:noFill/>
          <a:ln/>
        </p:spPr>
        <p:txBody>
          <a:bodyPr wrap="square" lIns="0" tIns="0" rIns="0" bIns="0" rtlCol="0" anchor="ctr"/>
          <a:lstStyle/>
          <a:p>
            <a:pPr algn="ctr" indent="0" marL="0">
              <a:buNone/>
            </a:pPr>
            <a:r>
              <a:rPr lang="en-US" sz="1000" dirty="0">
                <a:solidFill>
                  <a:srgbClr val="5E6E5E"/>
                </a:solidFill>
                <a:latin typeface="Calibri" pitchFamily="34" charset="0"/>
                <a:ea typeface="Calibri" pitchFamily="34" charset="-122"/>
                <a:cs typeface="Calibri" pitchFamily="34" charset="-120"/>
              </a:rPr>
              <a:t>/events /stats /alerts</a:t>
            </a:r>
            <a:endParaRPr lang="en-US" sz="1000" dirty="0"/>
          </a:p>
        </p:txBody>
      </p:sp>
      <p:sp>
        <p:nvSpPr>
          <p:cNvPr id="67" name="Shape 58"/>
          <p:cNvSpPr/>
          <p:nvPr/>
        </p:nvSpPr>
        <p:spPr>
          <a:xfrm>
            <a:off x="5486400" y="4754880"/>
            <a:ext cx="640080" cy="640080"/>
          </a:xfrm>
          <a:prstGeom prst="roundRect">
            <a:avLst>
              <a:gd name="adj" fmla="val 14286"/>
            </a:avLst>
          </a:prstGeom>
          <a:solidFill>
            <a:srgbClr val="ED7100"/>
          </a:solidFill>
          <a:ln w="6350">
            <a:solidFill>
              <a:srgbClr val="ED7100"/>
            </a:solidFill>
            <a:prstDash val="solid"/>
          </a:ln>
        </p:spPr>
      </p:sp>
      <p:pic>
        <p:nvPicPr>
          <p:cNvPr id="68" name="Image 7" descr="preencoded.png">    </p:cNvPr>
          <p:cNvPicPr>
            <a:picLocks noChangeAspect="1"/>
          </p:cNvPicPr>
          <p:nvPr/>
        </p:nvPicPr>
        <p:blipFill>
          <a:blip r:embed="rId8"/>
          <a:stretch>
            <a:fillRect/>
          </a:stretch>
        </p:blipFill>
        <p:spPr>
          <a:xfrm>
            <a:off x="5608015" y="4876495"/>
            <a:ext cx="396850" cy="396850"/>
          </a:xfrm>
          <a:prstGeom prst="rect">
            <a:avLst/>
          </a:prstGeom>
        </p:spPr>
      </p:pic>
      <p:sp>
        <p:nvSpPr>
          <p:cNvPr id="69" name="Text 59"/>
          <p:cNvSpPr txBox="1"/>
          <p:nvPr/>
        </p:nvSpPr>
        <p:spPr>
          <a:xfrm>
            <a:off x="5029200" y="5440680"/>
            <a:ext cx="1554480" cy="219456"/>
          </a:xfrm>
          <a:prstGeom prst="rect">
            <a:avLst/>
          </a:prstGeom>
          <a:noFill/>
          <a:ln/>
        </p:spPr>
        <p:txBody>
          <a:bodyPr wrap="square" lIns="0" tIns="0" rIns="0" bIns="0" rtlCol="0" anchor="ctr"/>
          <a:lstStyle/>
          <a:p>
            <a:pPr algn="ctr" indent="0" marL="0">
              <a:buNone/>
            </a:pPr>
            <a:r>
              <a:rPr lang="en-US" sz="1100" b="1" dirty="0">
                <a:solidFill>
                  <a:srgbClr val="1B2E1B"/>
                </a:solidFill>
                <a:latin typeface="Calibri" pitchFamily="34" charset="0"/>
                <a:ea typeface="Calibri" pitchFamily="34" charset="-122"/>
                <a:cs typeface="Calibri" pitchFamily="34" charset="-120"/>
              </a:rPr>
              <a:t>Lambda Auth</a:t>
            </a:r>
            <a:endParaRPr lang="en-US" sz="1100" dirty="0"/>
          </a:p>
        </p:txBody>
      </p:sp>
      <p:sp>
        <p:nvSpPr>
          <p:cNvPr id="70" name="Text 60"/>
          <p:cNvSpPr txBox="1"/>
          <p:nvPr/>
        </p:nvSpPr>
        <p:spPr>
          <a:xfrm>
            <a:off x="5029200" y="5650992"/>
            <a:ext cx="1554480" cy="201168"/>
          </a:xfrm>
          <a:prstGeom prst="rect">
            <a:avLst/>
          </a:prstGeom>
          <a:noFill/>
          <a:ln/>
        </p:spPr>
        <p:txBody>
          <a:bodyPr wrap="square" lIns="0" tIns="0" rIns="0" bIns="0" rtlCol="0" anchor="ctr"/>
          <a:lstStyle/>
          <a:p>
            <a:pPr algn="ctr" indent="0" marL="0">
              <a:buNone/>
            </a:pPr>
            <a:r>
              <a:rPr lang="en-US" sz="1000" dirty="0">
                <a:solidFill>
                  <a:srgbClr val="5E6E5E"/>
                </a:solidFill>
                <a:latin typeface="Calibri" pitchFamily="34" charset="0"/>
                <a:ea typeface="Calibri" pitchFamily="34" charset="-122"/>
                <a:cs typeface="Calibri" pitchFamily="34" charset="-120"/>
              </a:rPr>
              <a:t>POST /login</a:t>
            </a:r>
            <a:endParaRPr lang="en-US" sz="1000" dirty="0"/>
          </a:p>
        </p:txBody>
      </p:sp>
      <p:sp>
        <p:nvSpPr>
          <p:cNvPr id="71" name="Shape 61"/>
          <p:cNvSpPr/>
          <p:nvPr/>
        </p:nvSpPr>
        <p:spPr>
          <a:xfrm>
            <a:off x="8138160" y="2468880"/>
            <a:ext cx="640080" cy="640080"/>
          </a:xfrm>
          <a:prstGeom prst="roundRect">
            <a:avLst>
              <a:gd name="adj" fmla="val 14286"/>
            </a:avLst>
          </a:prstGeom>
          <a:solidFill>
            <a:srgbClr val="3B48CC"/>
          </a:solidFill>
          <a:ln w="6350">
            <a:solidFill>
              <a:srgbClr val="3B48CC"/>
            </a:solidFill>
            <a:prstDash val="solid"/>
          </a:ln>
        </p:spPr>
      </p:sp>
      <p:pic>
        <p:nvPicPr>
          <p:cNvPr id="72" name="Image 8" descr="preencoded.png">    </p:cNvPr>
          <p:cNvPicPr>
            <a:picLocks noChangeAspect="1"/>
          </p:cNvPicPr>
          <p:nvPr/>
        </p:nvPicPr>
        <p:blipFill>
          <a:blip r:embed="rId9"/>
          <a:stretch>
            <a:fillRect/>
          </a:stretch>
        </p:blipFill>
        <p:spPr>
          <a:xfrm>
            <a:off x="8259775" y="2590495"/>
            <a:ext cx="396850" cy="396850"/>
          </a:xfrm>
          <a:prstGeom prst="rect">
            <a:avLst/>
          </a:prstGeom>
        </p:spPr>
      </p:pic>
      <p:sp>
        <p:nvSpPr>
          <p:cNvPr id="73" name="Text 62"/>
          <p:cNvSpPr txBox="1"/>
          <p:nvPr/>
        </p:nvSpPr>
        <p:spPr>
          <a:xfrm>
            <a:off x="7680960" y="3154680"/>
            <a:ext cx="1554480" cy="219456"/>
          </a:xfrm>
          <a:prstGeom prst="rect">
            <a:avLst/>
          </a:prstGeom>
          <a:noFill/>
          <a:ln/>
        </p:spPr>
        <p:txBody>
          <a:bodyPr wrap="square" lIns="0" tIns="0" rIns="0" bIns="0" rtlCol="0" anchor="ctr"/>
          <a:lstStyle/>
          <a:p>
            <a:pPr algn="ctr" indent="0" marL="0">
              <a:buNone/>
            </a:pPr>
            <a:r>
              <a:rPr lang="en-US" sz="1100" b="1" dirty="0">
                <a:solidFill>
                  <a:srgbClr val="1B2E1B"/>
                </a:solidFill>
                <a:latin typeface="Calibri" pitchFamily="34" charset="0"/>
                <a:ea typeface="Calibri" pitchFamily="34" charset="-122"/>
                <a:cs typeface="Calibri" pitchFamily="34" charset="-120"/>
              </a:rPr>
              <a:t>DynamoDB</a:t>
            </a:r>
            <a:endParaRPr lang="en-US" sz="1100" dirty="0"/>
          </a:p>
        </p:txBody>
      </p:sp>
      <p:sp>
        <p:nvSpPr>
          <p:cNvPr id="74" name="Text 63"/>
          <p:cNvSpPr txBox="1"/>
          <p:nvPr/>
        </p:nvSpPr>
        <p:spPr>
          <a:xfrm>
            <a:off x="7680960" y="3364992"/>
            <a:ext cx="1554480" cy="201168"/>
          </a:xfrm>
          <a:prstGeom prst="rect">
            <a:avLst/>
          </a:prstGeom>
          <a:noFill/>
          <a:ln/>
        </p:spPr>
        <p:txBody>
          <a:bodyPr wrap="square" lIns="0" tIns="0" rIns="0" bIns="0" rtlCol="0" anchor="ctr"/>
          <a:lstStyle/>
          <a:p>
            <a:pPr algn="ctr" indent="0" marL="0">
              <a:buNone/>
            </a:pPr>
            <a:r>
              <a:rPr lang="en-US" sz="1000" dirty="0">
                <a:solidFill>
                  <a:srgbClr val="5E6E5E"/>
                </a:solidFill>
                <a:latin typeface="Calibri" pitchFamily="34" charset="0"/>
                <a:ea typeface="Calibri" pitchFamily="34" charset="-122"/>
                <a:cs typeface="Calibri" pitchFamily="34" charset="-120"/>
              </a:rPr>
              <a:t>CampusEvents table</a:t>
            </a:r>
            <a:endParaRPr lang="en-US" sz="1000" dirty="0"/>
          </a:p>
        </p:txBody>
      </p:sp>
      <p:sp>
        <p:nvSpPr>
          <p:cNvPr id="75" name="Shape 64"/>
          <p:cNvSpPr/>
          <p:nvPr/>
        </p:nvSpPr>
        <p:spPr>
          <a:xfrm>
            <a:off x="8138160" y="4754880"/>
            <a:ext cx="640080" cy="640080"/>
          </a:xfrm>
          <a:prstGeom prst="roundRect">
            <a:avLst>
              <a:gd name="adj" fmla="val 14286"/>
            </a:avLst>
          </a:prstGeom>
          <a:solidFill>
            <a:srgbClr val="DD344C"/>
          </a:solidFill>
          <a:ln w="6350">
            <a:solidFill>
              <a:srgbClr val="DD344C"/>
            </a:solidFill>
            <a:prstDash val="solid"/>
          </a:ln>
        </p:spPr>
      </p:sp>
      <p:pic>
        <p:nvPicPr>
          <p:cNvPr id="76" name="Image 9" descr="preencoded.png">    </p:cNvPr>
          <p:cNvPicPr>
            <a:picLocks noChangeAspect="1"/>
          </p:cNvPicPr>
          <p:nvPr/>
        </p:nvPicPr>
        <p:blipFill>
          <a:blip r:embed="rId10"/>
          <a:stretch>
            <a:fillRect/>
          </a:stretch>
        </p:blipFill>
        <p:spPr>
          <a:xfrm>
            <a:off x="8259775" y="4876495"/>
            <a:ext cx="396850" cy="396850"/>
          </a:xfrm>
          <a:prstGeom prst="rect">
            <a:avLst/>
          </a:prstGeom>
        </p:spPr>
      </p:pic>
      <p:sp>
        <p:nvSpPr>
          <p:cNvPr id="77" name="Text 65"/>
          <p:cNvSpPr txBox="1"/>
          <p:nvPr/>
        </p:nvSpPr>
        <p:spPr>
          <a:xfrm>
            <a:off x="7680960" y="5440680"/>
            <a:ext cx="1554480" cy="219456"/>
          </a:xfrm>
          <a:prstGeom prst="rect">
            <a:avLst/>
          </a:prstGeom>
          <a:noFill/>
          <a:ln/>
        </p:spPr>
        <p:txBody>
          <a:bodyPr wrap="square" lIns="0" tIns="0" rIns="0" bIns="0" rtlCol="0" anchor="ctr"/>
          <a:lstStyle/>
          <a:p>
            <a:pPr algn="ctr" indent="0" marL="0">
              <a:buNone/>
            </a:pPr>
            <a:r>
              <a:rPr lang="en-US" sz="1100" b="1" dirty="0">
                <a:solidFill>
                  <a:srgbClr val="1B2E1B"/>
                </a:solidFill>
                <a:latin typeface="Calibri" pitchFamily="34" charset="0"/>
                <a:ea typeface="Calibri" pitchFamily="34" charset="-122"/>
                <a:cs typeface="Calibri" pitchFamily="34" charset="-120"/>
              </a:rPr>
              <a:t>Cognito</a:t>
            </a:r>
            <a:endParaRPr lang="en-US" sz="1100" dirty="0"/>
          </a:p>
        </p:txBody>
      </p:sp>
      <p:sp>
        <p:nvSpPr>
          <p:cNvPr id="78" name="Text 66"/>
          <p:cNvSpPr txBox="1"/>
          <p:nvPr/>
        </p:nvSpPr>
        <p:spPr>
          <a:xfrm>
            <a:off x="7680960" y="5650992"/>
            <a:ext cx="1554480" cy="201168"/>
          </a:xfrm>
          <a:prstGeom prst="rect">
            <a:avLst/>
          </a:prstGeom>
          <a:noFill/>
          <a:ln/>
        </p:spPr>
        <p:txBody>
          <a:bodyPr wrap="square" lIns="0" tIns="0" rIns="0" bIns="0" rtlCol="0" anchor="ctr"/>
          <a:lstStyle/>
          <a:p>
            <a:pPr algn="ctr" indent="0" marL="0">
              <a:buNone/>
            </a:pPr>
            <a:r>
              <a:rPr lang="en-US" sz="1000" dirty="0">
                <a:solidFill>
                  <a:srgbClr val="5E6E5E"/>
                </a:solidFill>
                <a:latin typeface="Calibri" pitchFamily="34" charset="0"/>
                <a:ea typeface="Calibri" pitchFamily="34" charset="-122"/>
                <a:cs typeface="Calibri" pitchFamily="34" charset="-120"/>
              </a:rPr>
              <a:t>User pool · groups</a:t>
            </a:r>
            <a:endParaRPr lang="en-US" sz="1000" dirty="0"/>
          </a:p>
        </p:txBody>
      </p:sp>
      <p:sp>
        <p:nvSpPr>
          <p:cNvPr id="79" name="Shape 67"/>
          <p:cNvSpPr/>
          <p:nvPr/>
        </p:nvSpPr>
        <p:spPr>
          <a:xfrm>
            <a:off x="10835640" y="1737360"/>
            <a:ext cx="640080" cy="640080"/>
          </a:xfrm>
          <a:prstGeom prst="roundRect">
            <a:avLst>
              <a:gd name="adj" fmla="val 14286"/>
            </a:avLst>
          </a:prstGeom>
          <a:solidFill>
            <a:srgbClr val="E7157B"/>
          </a:solidFill>
          <a:ln w="6350">
            <a:solidFill>
              <a:srgbClr val="E7157B"/>
            </a:solidFill>
            <a:prstDash val="solid"/>
          </a:ln>
        </p:spPr>
      </p:sp>
      <p:pic>
        <p:nvPicPr>
          <p:cNvPr id="80" name="Image 10" descr="preencoded.png">    </p:cNvPr>
          <p:cNvPicPr>
            <a:picLocks noChangeAspect="1"/>
          </p:cNvPicPr>
          <p:nvPr/>
        </p:nvPicPr>
        <p:blipFill>
          <a:blip r:embed="rId11"/>
          <a:stretch>
            <a:fillRect/>
          </a:stretch>
        </p:blipFill>
        <p:spPr>
          <a:xfrm>
            <a:off x="10957255" y="1858975"/>
            <a:ext cx="396850" cy="396850"/>
          </a:xfrm>
          <a:prstGeom prst="rect">
            <a:avLst/>
          </a:prstGeom>
        </p:spPr>
      </p:pic>
      <p:sp>
        <p:nvSpPr>
          <p:cNvPr id="81" name="Text 68"/>
          <p:cNvSpPr txBox="1"/>
          <p:nvPr/>
        </p:nvSpPr>
        <p:spPr>
          <a:xfrm>
            <a:off x="10378440" y="2423160"/>
            <a:ext cx="1554480" cy="219456"/>
          </a:xfrm>
          <a:prstGeom prst="rect">
            <a:avLst/>
          </a:prstGeom>
          <a:noFill/>
          <a:ln/>
        </p:spPr>
        <p:txBody>
          <a:bodyPr wrap="square" lIns="0" tIns="0" rIns="0" bIns="0" rtlCol="0" anchor="ctr"/>
          <a:lstStyle/>
          <a:p>
            <a:pPr algn="ctr" indent="0" marL="0">
              <a:buNone/>
            </a:pPr>
            <a:r>
              <a:rPr lang="en-US" sz="1100" b="1" dirty="0">
                <a:solidFill>
                  <a:srgbClr val="1B2E1B"/>
                </a:solidFill>
                <a:latin typeface="Calibri" pitchFamily="34" charset="0"/>
                <a:ea typeface="Calibri" pitchFamily="34" charset="-122"/>
                <a:cs typeface="Calibri" pitchFamily="34" charset="-120"/>
              </a:rPr>
              <a:t>CloudWatch</a:t>
            </a:r>
            <a:endParaRPr lang="en-US" sz="1100" dirty="0"/>
          </a:p>
        </p:txBody>
      </p:sp>
      <p:sp>
        <p:nvSpPr>
          <p:cNvPr id="82" name="Text 69"/>
          <p:cNvSpPr txBox="1"/>
          <p:nvPr/>
        </p:nvSpPr>
        <p:spPr>
          <a:xfrm>
            <a:off x="10378440" y="2633472"/>
            <a:ext cx="1554480" cy="201168"/>
          </a:xfrm>
          <a:prstGeom prst="rect">
            <a:avLst/>
          </a:prstGeom>
          <a:noFill/>
          <a:ln/>
        </p:spPr>
        <p:txBody>
          <a:bodyPr wrap="square" lIns="0" tIns="0" rIns="0" bIns="0" rtlCol="0" anchor="ctr"/>
          <a:lstStyle/>
          <a:p>
            <a:pPr algn="ctr" indent="0" marL="0">
              <a:buNone/>
            </a:pPr>
            <a:r>
              <a:rPr lang="en-US" sz="1000" dirty="0">
                <a:solidFill>
                  <a:srgbClr val="5E6E5E"/>
                </a:solidFill>
                <a:latin typeface="Calibri" pitchFamily="34" charset="0"/>
                <a:ea typeface="Calibri" pitchFamily="34" charset="-122"/>
                <a:cs typeface="Calibri" pitchFamily="34" charset="-120"/>
              </a:rPr>
              <a:t>Logs · metrics</a:t>
            </a:r>
            <a:endParaRPr lang="en-US" sz="1000" dirty="0"/>
          </a:p>
        </p:txBody>
      </p:sp>
      <p:sp>
        <p:nvSpPr>
          <p:cNvPr id="83" name="Shape 70"/>
          <p:cNvSpPr/>
          <p:nvPr/>
        </p:nvSpPr>
        <p:spPr>
          <a:xfrm>
            <a:off x="9738360" y="1737360"/>
            <a:ext cx="640080" cy="640080"/>
          </a:xfrm>
          <a:prstGeom prst="roundRect">
            <a:avLst>
              <a:gd name="adj" fmla="val 14286"/>
            </a:avLst>
          </a:prstGeom>
          <a:solidFill>
            <a:srgbClr val="DD344C"/>
          </a:solidFill>
          <a:ln w="6350">
            <a:solidFill>
              <a:srgbClr val="DD344C"/>
            </a:solidFill>
            <a:prstDash val="solid"/>
          </a:ln>
        </p:spPr>
      </p:sp>
      <p:pic>
        <p:nvPicPr>
          <p:cNvPr id="84" name="Image 11" descr="preencoded.png">    </p:cNvPr>
          <p:cNvPicPr>
            <a:picLocks noChangeAspect="1"/>
          </p:cNvPicPr>
          <p:nvPr/>
        </p:nvPicPr>
        <p:blipFill>
          <a:blip r:embed="rId12"/>
          <a:stretch>
            <a:fillRect/>
          </a:stretch>
        </p:blipFill>
        <p:spPr>
          <a:xfrm>
            <a:off x="9859975" y="1858975"/>
            <a:ext cx="396850" cy="396850"/>
          </a:xfrm>
          <a:prstGeom prst="rect">
            <a:avLst/>
          </a:prstGeom>
        </p:spPr>
      </p:pic>
      <p:sp>
        <p:nvSpPr>
          <p:cNvPr id="85" name="Text 71"/>
          <p:cNvSpPr txBox="1"/>
          <p:nvPr/>
        </p:nvSpPr>
        <p:spPr>
          <a:xfrm>
            <a:off x="9281160" y="2423160"/>
            <a:ext cx="1554480" cy="219456"/>
          </a:xfrm>
          <a:prstGeom prst="rect">
            <a:avLst/>
          </a:prstGeom>
          <a:noFill/>
          <a:ln/>
        </p:spPr>
        <p:txBody>
          <a:bodyPr wrap="square" lIns="0" tIns="0" rIns="0" bIns="0" rtlCol="0" anchor="ctr"/>
          <a:lstStyle/>
          <a:p>
            <a:pPr algn="ctr" indent="0" marL="0">
              <a:buNone/>
            </a:pPr>
            <a:r>
              <a:rPr lang="en-US" sz="1100" b="1" dirty="0">
                <a:solidFill>
                  <a:srgbClr val="1B2E1B"/>
                </a:solidFill>
                <a:latin typeface="Calibri" pitchFamily="34" charset="0"/>
                <a:ea typeface="Calibri" pitchFamily="34" charset="-122"/>
                <a:cs typeface="Calibri" pitchFamily="34" charset="-120"/>
              </a:rPr>
              <a:t>IAM</a:t>
            </a:r>
            <a:endParaRPr lang="en-US" sz="1100" dirty="0"/>
          </a:p>
        </p:txBody>
      </p:sp>
      <p:sp>
        <p:nvSpPr>
          <p:cNvPr id="86" name="Text 72"/>
          <p:cNvSpPr txBox="1"/>
          <p:nvPr/>
        </p:nvSpPr>
        <p:spPr>
          <a:xfrm>
            <a:off x="9281160" y="2633472"/>
            <a:ext cx="1554480" cy="201168"/>
          </a:xfrm>
          <a:prstGeom prst="rect">
            <a:avLst/>
          </a:prstGeom>
          <a:noFill/>
          <a:ln/>
        </p:spPr>
        <p:txBody>
          <a:bodyPr wrap="square" lIns="0" tIns="0" rIns="0" bIns="0" rtlCol="0" anchor="ctr"/>
          <a:lstStyle/>
          <a:p>
            <a:pPr algn="ctr" indent="0" marL="0">
              <a:buNone/>
            </a:pPr>
            <a:r>
              <a:rPr lang="en-US" sz="1000" dirty="0">
                <a:solidFill>
                  <a:srgbClr val="5E6E5E"/>
                </a:solidFill>
                <a:latin typeface="Calibri" pitchFamily="34" charset="0"/>
                <a:ea typeface="Calibri" pitchFamily="34" charset="-122"/>
                <a:cs typeface="Calibri" pitchFamily="34" charset="-120"/>
              </a:rPr>
              <a:t>Role per Lambda</a:t>
            </a:r>
            <a:endParaRPr lang="en-US" sz="1000" dirty="0"/>
          </a:p>
        </p:txBody>
      </p:sp>
      <p:sp>
        <p:nvSpPr>
          <p:cNvPr id="87" name="Shape 73"/>
          <p:cNvSpPr/>
          <p:nvPr/>
        </p:nvSpPr>
        <p:spPr>
          <a:xfrm>
            <a:off x="9738360" y="3337560"/>
            <a:ext cx="640080" cy="640080"/>
          </a:xfrm>
          <a:prstGeom prst="roundRect">
            <a:avLst>
              <a:gd name="adj" fmla="val 14286"/>
            </a:avLst>
          </a:prstGeom>
          <a:solidFill>
            <a:srgbClr val="7AA116"/>
          </a:solidFill>
          <a:ln w="6350">
            <a:solidFill>
              <a:srgbClr val="7AA116"/>
            </a:solidFill>
            <a:prstDash val="solid"/>
          </a:ln>
        </p:spPr>
      </p:sp>
      <p:pic>
        <p:nvPicPr>
          <p:cNvPr id="88" name="Image 12" descr="preencoded.png">    </p:cNvPr>
          <p:cNvPicPr>
            <a:picLocks noChangeAspect="1"/>
          </p:cNvPicPr>
          <p:nvPr/>
        </p:nvPicPr>
        <p:blipFill>
          <a:blip r:embed="rId13"/>
          <a:stretch>
            <a:fillRect/>
          </a:stretch>
        </p:blipFill>
        <p:spPr>
          <a:xfrm>
            <a:off x="9859975" y="3459175"/>
            <a:ext cx="396850" cy="396850"/>
          </a:xfrm>
          <a:prstGeom prst="rect">
            <a:avLst/>
          </a:prstGeom>
        </p:spPr>
      </p:pic>
      <p:sp>
        <p:nvSpPr>
          <p:cNvPr id="89" name="Text 74"/>
          <p:cNvSpPr txBox="1"/>
          <p:nvPr/>
        </p:nvSpPr>
        <p:spPr>
          <a:xfrm>
            <a:off x="9281160" y="4023360"/>
            <a:ext cx="1554480" cy="219456"/>
          </a:xfrm>
          <a:prstGeom prst="rect">
            <a:avLst/>
          </a:prstGeom>
          <a:noFill/>
          <a:ln/>
        </p:spPr>
        <p:txBody>
          <a:bodyPr wrap="square" lIns="0" tIns="0" rIns="0" bIns="0" rtlCol="0" anchor="ctr"/>
          <a:lstStyle/>
          <a:p>
            <a:pPr algn="ctr" indent="0" marL="0">
              <a:buNone/>
            </a:pPr>
            <a:r>
              <a:rPr lang="en-US" sz="1100" b="1" dirty="0">
                <a:solidFill>
                  <a:srgbClr val="1B2E1B"/>
                </a:solidFill>
                <a:latin typeface="Calibri" pitchFamily="34" charset="0"/>
                <a:ea typeface="Calibri" pitchFamily="34" charset="-122"/>
                <a:cs typeface="Calibri" pitchFamily="34" charset="-120"/>
              </a:rPr>
              <a:t>AWS Budgets</a:t>
            </a:r>
            <a:endParaRPr lang="en-US" sz="1100" dirty="0"/>
          </a:p>
        </p:txBody>
      </p:sp>
      <p:sp>
        <p:nvSpPr>
          <p:cNvPr id="90" name="Text 75"/>
          <p:cNvSpPr txBox="1"/>
          <p:nvPr/>
        </p:nvSpPr>
        <p:spPr>
          <a:xfrm>
            <a:off x="9281160" y="4233672"/>
            <a:ext cx="1554480" cy="201168"/>
          </a:xfrm>
          <a:prstGeom prst="rect">
            <a:avLst/>
          </a:prstGeom>
          <a:noFill/>
          <a:ln/>
        </p:spPr>
        <p:txBody>
          <a:bodyPr wrap="square" lIns="0" tIns="0" rIns="0" bIns="0" rtlCol="0" anchor="ctr"/>
          <a:lstStyle/>
          <a:p>
            <a:pPr algn="ctr" indent="0" marL="0">
              <a:buNone/>
            </a:pPr>
            <a:r>
              <a:rPr lang="en-US" sz="1000" dirty="0">
                <a:solidFill>
                  <a:srgbClr val="5E6E5E"/>
                </a:solidFill>
                <a:latin typeface="Calibri" pitchFamily="34" charset="0"/>
                <a:ea typeface="Calibri" pitchFamily="34" charset="-122"/>
                <a:cs typeface="Calibri" pitchFamily="34" charset="-120"/>
              </a:rPr>
              <a:t>Cost alert</a:t>
            </a:r>
            <a:endParaRPr lang="en-US" sz="1000" dirty="0"/>
          </a:p>
        </p:txBody>
      </p:sp>
      <p:sp>
        <p:nvSpPr>
          <p:cNvPr id="91" name="Shape 76"/>
          <p:cNvSpPr/>
          <p:nvPr/>
        </p:nvSpPr>
        <p:spPr>
          <a:xfrm>
            <a:off x="10835640" y="3337560"/>
            <a:ext cx="640080" cy="640080"/>
          </a:xfrm>
          <a:prstGeom prst="roundRect">
            <a:avLst>
              <a:gd name="adj" fmla="val 14286"/>
            </a:avLst>
          </a:prstGeom>
          <a:solidFill>
            <a:srgbClr val="7B42BC"/>
          </a:solidFill>
          <a:ln w="6350">
            <a:solidFill>
              <a:srgbClr val="7B42BC"/>
            </a:solidFill>
            <a:prstDash val="solid"/>
          </a:ln>
        </p:spPr>
      </p:sp>
      <p:pic>
        <p:nvPicPr>
          <p:cNvPr id="92" name="Image 13" descr="preencoded.png">    </p:cNvPr>
          <p:cNvPicPr>
            <a:picLocks noChangeAspect="1"/>
          </p:cNvPicPr>
          <p:nvPr/>
        </p:nvPicPr>
        <p:blipFill>
          <a:blip r:embed="rId14"/>
          <a:stretch>
            <a:fillRect/>
          </a:stretch>
        </p:blipFill>
        <p:spPr>
          <a:xfrm>
            <a:off x="10957255" y="3459175"/>
            <a:ext cx="396850" cy="396850"/>
          </a:xfrm>
          <a:prstGeom prst="rect">
            <a:avLst/>
          </a:prstGeom>
        </p:spPr>
      </p:pic>
      <p:sp>
        <p:nvSpPr>
          <p:cNvPr id="93" name="Text 77"/>
          <p:cNvSpPr txBox="1"/>
          <p:nvPr/>
        </p:nvSpPr>
        <p:spPr>
          <a:xfrm>
            <a:off x="10378440" y="4023360"/>
            <a:ext cx="1554480" cy="219456"/>
          </a:xfrm>
          <a:prstGeom prst="rect">
            <a:avLst/>
          </a:prstGeom>
          <a:noFill/>
          <a:ln/>
        </p:spPr>
        <p:txBody>
          <a:bodyPr wrap="square" lIns="0" tIns="0" rIns="0" bIns="0" rtlCol="0" anchor="ctr"/>
          <a:lstStyle/>
          <a:p>
            <a:pPr algn="ctr" indent="0" marL="0">
              <a:buNone/>
            </a:pPr>
            <a:r>
              <a:rPr lang="en-US" sz="1100" b="1" dirty="0">
                <a:solidFill>
                  <a:srgbClr val="1B2E1B"/>
                </a:solidFill>
                <a:latin typeface="Calibri" pitchFamily="34" charset="0"/>
                <a:ea typeface="Calibri" pitchFamily="34" charset="-122"/>
                <a:cs typeface="Calibri" pitchFamily="34" charset="-120"/>
              </a:rPr>
              <a:t>Terraform</a:t>
            </a:r>
            <a:endParaRPr lang="en-US" sz="1100" dirty="0"/>
          </a:p>
        </p:txBody>
      </p:sp>
      <p:sp>
        <p:nvSpPr>
          <p:cNvPr id="94" name="Text 78"/>
          <p:cNvSpPr txBox="1"/>
          <p:nvPr/>
        </p:nvSpPr>
        <p:spPr>
          <a:xfrm>
            <a:off x="10378440" y="4233672"/>
            <a:ext cx="1554480" cy="201168"/>
          </a:xfrm>
          <a:prstGeom prst="rect">
            <a:avLst/>
          </a:prstGeom>
          <a:noFill/>
          <a:ln/>
        </p:spPr>
        <p:txBody>
          <a:bodyPr wrap="square" lIns="0" tIns="0" rIns="0" bIns="0" rtlCol="0" anchor="ctr"/>
          <a:lstStyle/>
          <a:p>
            <a:pPr algn="ctr" indent="0" marL="0">
              <a:buNone/>
            </a:pPr>
            <a:r>
              <a:rPr lang="en-US" sz="1000" dirty="0">
                <a:solidFill>
                  <a:srgbClr val="5E6E5E"/>
                </a:solidFill>
                <a:latin typeface="Calibri" pitchFamily="34" charset="0"/>
                <a:ea typeface="Calibri" pitchFamily="34" charset="-122"/>
                <a:cs typeface="Calibri" pitchFamily="34" charset="-120"/>
              </a:rPr>
              <a:t>Deploys all (IaC)</a:t>
            </a:r>
            <a:endParaRPr lang="en-US" sz="1000" dirty="0"/>
          </a:p>
        </p:txBody>
      </p:sp>
      <p:sp>
        <p:nvSpPr>
          <p:cNvPr id="95" name="Text 79"/>
          <p:cNvSpPr txBox="1"/>
          <p:nvPr/>
        </p:nvSpPr>
        <p:spPr>
          <a:xfrm>
            <a:off x="9692640" y="4754880"/>
            <a:ext cx="1874520" cy="1005840"/>
          </a:xfrm>
          <a:prstGeom prst="rect">
            <a:avLst/>
          </a:prstGeom>
          <a:noFill/>
          <a:ln/>
        </p:spPr>
        <p:txBody>
          <a:bodyPr wrap="square" lIns="0" tIns="0" rIns="0" bIns="0" rtlCol="0" anchor="ctr"/>
          <a:lstStyle/>
          <a:p>
            <a:pPr indent="0" marL="0">
              <a:buNone/>
            </a:pPr>
            <a:r>
              <a:rPr lang="en-US" sz="1000" i="1" dirty="0">
                <a:solidFill>
                  <a:srgbClr val="5E6E5E"/>
                </a:solidFill>
                <a:latin typeface="Calibri" pitchFamily="34" charset="0"/>
                <a:ea typeface="Calibri" pitchFamily="34" charset="-122"/>
                <a:cs typeface="Calibri" pitchFamily="34" charset="-120"/>
              </a:rPr>
              <a:t>IAM grants each Lambda only the DynamoDB or Cognito actions it needs. Terraform creates every resource inside this boundary.</a:t>
            </a:r>
            <a:endParaRPr lang="en-US" sz="1000" dirty="0"/>
          </a:p>
        </p:txBody>
      </p:sp>
      <p:sp>
        <p:nvSpPr>
          <p:cNvPr id="96" name="Shape 80"/>
          <p:cNvSpPr/>
          <p:nvPr/>
        </p:nvSpPr>
        <p:spPr>
          <a:xfrm>
            <a:off x="1746504" y="1938528"/>
            <a:ext cx="256032" cy="237744"/>
          </a:xfrm>
          <a:prstGeom prst="roundRect">
            <a:avLst>
              <a:gd name="adj" fmla="val 19231"/>
            </a:avLst>
          </a:prstGeom>
          <a:solidFill>
            <a:srgbClr val="1168B8"/>
          </a:solidFill>
          <a:ln w="12700">
            <a:solidFill>
              <a:srgbClr val="FFFFFF"/>
            </a:solidFill>
            <a:prstDash val="solid"/>
          </a:ln>
        </p:spPr>
      </p:sp>
      <p:sp>
        <p:nvSpPr>
          <p:cNvPr id="97" name="Text 81"/>
          <p:cNvSpPr txBox="1"/>
          <p:nvPr/>
        </p:nvSpPr>
        <p:spPr>
          <a:xfrm>
            <a:off x="1746504" y="1938528"/>
            <a:ext cx="256032"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98" name="Shape 82"/>
          <p:cNvSpPr/>
          <p:nvPr/>
        </p:nvSpPr>
        <p:spPr>
          <a:xfrm>
            <a:off x="1700784" y="3447288"/>
            <a:ext cx="256032" cy="237744"/>
          </a:xfrm>
          <a:prstGeom prst="roundRect">
            <a:avLst>
              <a:gd name="adj" fmla="val 19231"/>
            </a:avLst>
          </a:prstGeom>
          <a:solidFill>
            <a:srgbClr val="1168B8"/>
          </a:solidFill>
          <a:ln w="12700">
            <a:solidFill>
              <a:srgbClr val="FFFFFF"/>
            </a:solidFill>
            <a:prstDash val="solid"/>
          </a:ln>
        </p:spPr>
      </p:sp>
      <p:sp>
        <p:nvSpPr>
          <p:cNvPr id="99" name="Text 83"/>
          <p:cNvSpPr txBox="1"/>
          <p:nvPr/>
        </p:nvSpPr>
        <p:spPr>
          <a:xfrm>
            <a:off x="1700784" y="3447288"/>
            <a:ext cx="256032"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00" name="Shape 84"/>
          <p:cNvSpPr/>
          <p:nvPr/>
        </p:nvSpPr>
        <p:spPr>
          <a:xfrm>
            <a:off x="1700784" y="3858768"/>
            <a:ext cx="256032" cy="237744"/>
          </a:xfrm>
          <a:prstGeom prst="roundRect">
            <a:avLst>
              <a:gd name="adj" fmla="val 19231"/>
            </a:avLst>
          </a:prstGeom>
          <a:solidFill>
            <a:srgbClr val="1168B8"/>
          </a:solidFill>
          <a:ln w="12700">
            <a:solidFill>
              <a:srgbClr val="FFFFFF"/>
            </a:solidFill>
            <a:prstDash val="solid"/>
          </a:ln>
        </p:spPr>
      </p:sp>
      <p:sp>
        <p:nvSpPr>
          <p:cNvPr id="101" name="Text 85"/>
          <p:cNvSpPr txBox="1"/>
          <p:nvPr/>
        </p:nvSpPr>
        <p:spPr>
          <a:xfrm>
            <a:off x="1700784" y="3858768"/>
            <a:ext cx="256032"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02" name="Shape 86"/>
          <p:cNvSpPr/>
          <p:nvPr/>
        </p:nvSpPr>
        <p:spPr>
          <a:xfrm>
            <a:off x="4626864" y="5961888"/>
            <a:ext cx="256032" cy="237744"/>
          </a:xfrm>
          <a:prstGeom prst="roundRect">
            <a:avLst>
              <a:gd name="adj" fmla="val 19231"/>
            </a:avLst>
          </a:prstGeom>
          <a:solidFill>
            <a:srgbClr val="1168B8"/>
          </a:solidFill>
          <a:ln w="12700">
            <a:solidFill>
              <a:srgbClr val="FFFFFF"/>
            </a:solidFill>
            <a:prstDash val="solid"/>
          </a:ln>
        </p:spPr>
      </p:sp>
      <p:sp>
        <p:nvSpPr>
          <p:cNvPr id="103" name="Text 87"/>
          <p:cNvSpPr txBox="1"/>
          <p:nvPr/>
        </p:nvSpPr>
        <p:spPr>
          <a:xfrm>
            <a:off x="4626864" y="5961888"/>
            <a:ext cx="256032"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104" name="Shape 88"/>
          <p:cNvSpPr/>
          <p:nvPr/>
        </p:nvSpPr>
        <p:spPr>
          <a:xfrm>
            <a:off x="4855464" y="1938528"/>
            <a:ext cx="256032" cy="237744"/>
          </a:xfrm>
          <a:prstGeom prst="roundRect">
            <a:avLst>
              <a:gd name="adj" fmla="val 19231"/>
            </a:avLst>
          </a:prstGeom>
          <a:solidFill>
            <a:srgbClr val="1168B8"/>
          </a:solidFill>
          <a:ln w="12700">
            <a:solidFill>
              <a:srgbClr val="FFFFFF"/>
            </a:solidFill>
            <a:prstDash val="solid"/>
          </a:ln>
        </p:spPr>
      </p:sp>
      <p:sp>
        <p:nvSpPr>
          <p:cNvPr id="105" name="Text 89"/>
          <p:cNvSpPr txBox="1"/>
          <p:nvPr/>
        </p:nvSpPr>
        <p:spPr>
          <a:xfrm>
            <a:off x="4855464" y="1938528"/>
            <a:ext cx="256032"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106" name="Shape 90"/>
          <p:cNvSpPr/>
          <p:nvPr/>
        </p:nvSpPr>
        <p:spPr>
          <a:xfrm>
            <a:off x="4855464" y="3538728"/>
            <a:ext cx="256032" cy="237744"/>
          </a:xfrm>
          <a:prstGeom prst="roundRect">
            <a:avLst>
              <a:gd name="adj" fmla="val 19231"/>
            </a:avLst>
          </a:prstGeom>
          <a:solidFill>
            <a:srgbClr val="1168B8"/>
          </a:solidFill>
          <a:ln w="12700">
            <a:solidFill>
              <a:srgbClr val="FFFFFF"/>
            </a:solidFill>
            <a:prstDash val="solid"/>
          </a:ln>
        </p:spPr>
      </p:sp>
      <p:sp>
        <p:nvSpPr>
          <p:cNvPr id="107" name="Text 91"/>
          <p:cNvSpPr txBox="1"/>
          <p:nvPr/>
        </p:nvSpPr>
        <p:spPr>
          <a:xfrm>
            <a:off x="4855464" y="3538728"/>
            <a:ext cx="256032"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108" name="Shape 92"/>
          <p:cNvSpPr/>
          <p:nvPr/>
        </p:nvSpPr>
        <p:spPr>
          <a:xfrm>
            <a:off x="4855464" y="4956048"/>
            <a:ext cx="256032" cy="237744"/>
          </a:xfrm>
          <a:prstGeom prst="roundRect">
            <a:avLst>
              <a:gd name="adj" fmla="val 19231"/>
            </a:avLst>
          </a:prstGeom>
          <a:solidFill>
            <a:srgbClr val="1168B8"/>
          </a:solidFill>
          <a:ln w="12700">
            <a:solidFill>
              <a:srgbClr val="FFFFFF"/>
            </a:solidFill>
            <a:prstDash val="solid"/>
          </a:ln>
        </p:spPr>
      </p:sp>
      <p:sp>
        <p:nvSpPr>
          <p:cNvPr id="109" name="Text 93"/>
          <p:cNvSpPr txBox="1"/>
          <p:nvPr/>
        </p:nvSpPr>
        <p:spPr>
          <a:xfrm>
            <a:off x="4855464" y="4956048"/>
            <a:ext cx="256032"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7</a:t>
            </a:r>
            <a:endParaRPr lang="en-US" sz="1000" dirty="0"/>
          </a:p>
        </p:txBody>
      </p:sp>
      <p:sp>
        <p:nvSpPr>
          <p:cNvPr id="110" name="Shape 94"/>
          <p:cNvSpPr/>
          <p:nvPr/>
        </p:nvSpPr>
        <p:spPr>
          <a:xfrm>
            <a:off x="7141464" y="2212848"/>
            <a:ext cx="256032" cy="237744"/>
          </a:xfrm>
          <a:prstGeom prst="roundRect">
            <a:avLst>
              <a:gd name="adj" fmla="val 19231"/>
            </a:avLst>
          </a:prstGeom>
          <a:solidFill>
            <a:srgbClr val="1168B8"/>
          </a:solidFill>
          <a:ln w="12700">
            <a:solidFill>
              <a:srgbClr val="FFFFFF"/>
            </a:solidFill>
            <a:prstDash val="solid"/>
          </a:ln>
        </p:spPr>
      </p:sp>
      <p:sp>
        <p:nvSpPr>
          <p:cNvPr id="111" name="Text 95"/>
          <p:cNvSpPr txBox="1"/>
          <p:nvPr/>
        </p:nvSpPr>
        <p:spPr>
          <a:xfrm>
            <a:off x="7141464" y="2212848"/>
            <a:ext cx="256032"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8</a:t>
            </a:r>
            <a:endParaRPr lang="en-US" sz="1000" dirty="0"/>
          </a:p>
        </p:txBody>
      </p:sp>
      <p:sp>
        <p:nvSpPr>
          <p:cNvPr id="112" name="Shape 96"/>
          <p:cNvSpPr/>
          <p:nvPr/>
        </p:nvSpPr>
        <p:spPr>
          <a:xfrm>
            <a:off x="6958584" y="3191256"/>
            <a:ext cx="256032" cy="237744"/>
          </a:xfrm>
          <a:prstGeom prst="roundRect">
            <a:avLst>
              <a:gd name="adj" fmla="val 19231"/>
            </a:avLst>
          </a:prstGeom>
          <a:solidFill>
            <a:srgbClr val="1168B8"/>
          </a:solidFill>
          <a:ln w="12700">
            <a:solidFill>
              <a:srgbClr val="FFFFFF"/>
            </a:solidFill>
            <a:prstDash val="solid"/>
          </a:ln>
        </p:spPr>
      </p:sp>
      <p:sp>
        <p:nvSpPr>
          <p:cNvPr id="113" name="Text 97"/>
          <p:cNvSpPr txBox="1"/>
          <p:nvPr/>
        </p:nvSpPr>
        <p:spPr>
          <a:xfrm>
            <a:off x="6958584" y="3191256"/>
            <a:ext cx="256032"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9</a:t>
            </a:r>
            <a:endParaRPr lang="en-US" sz="1000" dirty="0"/>
          </a:p>
        </p:txBody>
      </p:sp>
      <p:sp>
        <p:nvSpPr>
          <p:cNvPr id="114" name="Shape 98"/>
          <p:cNvSpPr/>
          <p:nvPr/>
        </p:nvSpPr>
        <p:spPr>
          <a:xfrm>
            <a:off x="7114032" y="4956048"/>
            <a:ext cx="310896" cy="237744"/>
          </a:xfrm>
          <a:prstGeom prst="roundRect">
            <a:avLst>
              <a:gd name="adj" fmla="val 19231"/>
            </a:avLst>
          </a:prstGeom>
          <a:solidFill>
            <a:srgbClr val="1168B8"/>
          </a:solidFill>
          <a:ln w="12700">
            <a:solidFill>
              <a:srgbClr val="FFFFFF"/>
            </a:solidFill>
            <a:prstDash val="solid"/>
          </a:ln>
        </p:spPr>
      </p:sp>
      <p:sp>
        <p:nvSpPr>
          <p:cNvPr id="115" name="Text 99"/>
          <p:cNvSpPr txBox="1"/>
          <p:nvPr/>
        </p:nvSpPr>
        <p:spPr>
          <a:xfrm>
            <a:off x="7114032" y="4956048"/>
            <a:ext cx="310896"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10</a:t>
            </a:r>
            <a:endParaRPr lang="en-US" sz="1000" dirty="0"/>
          </a:p>
        </p:txBody>
      </p:sp>
      <p:sp>
        <p:nvSpPr>
          <p:cNvPr id="116" name="Shape 100"/>
          <p:cNvSpPr/>
          <p:nvPr/>
        </p:nvSpPr>
        <p:spPr>
          <a:xfrm>
            <a:off x="8622792" y="1179576"/>
            <a:ext cx="310896" cy="237744"/>
          </a:xfrm>
          <a:prstGeom prst="roundRect">
            <a:avLst>
              <a:gd name="adj" fmla="val 19231"/>
            </a:avLst>
          </a:prstGeom>
          <a:solidFill>
            <a:srgbClr val="1168B8"/>
          </a:solidFill>
          <a:ln w="12700">
            <a:solidFill>
              <a:srgbClr val="FFFFFF"/>
            </a:solidFill>
            <a:prstDash val="solid"/>
          </a:ln>
        </p:spPr>
      </p:sp>
      <p:sp>
        <p:nvSpPr>
          <p:cNvPr id="117" name="Text 101"/>
          <p:cNvSpPr txBox="1"/>
          <p:nvPr/>
        </p:nvSpPr>
        <p:spPr>
          <a:xfrm>
            <a:off x="8622792" y="1179576"/>
            <a:ext cx="310896"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11</a:t>
            </a:r>
            <a:endParaRPr lang="en-US" sz="10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5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3400" b="1" dirty="0">
                <a:solidFill>
                  <a:srgbClr val="2A7A4A"/>
                </a:solidFill>
                <a:latin typeface="Cambria" pitchFamily="34" charset="0"/>
                <a:ea typeface="Cambria" pitchFamily="34" charset="-122"/>
                <a:cs typeface="Cambria" pitchFamily="34" charset="-120"/>
              </a:rPr>
              <a:t>How a request flows through the architecture</a:t>
            </a:r>
            <a:endParaRPr lang="en-US" sz="3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5440680" cy="914400"/>
        </p:xfrm>
        <a:graphic>
          <a:graphicData uri="http://schemas.openxmlformats.org/drawingml/2006/table">
            <a:tbl>
              <a:tblPr/>
              <a:tblGrid>
                <a:gridCol w="457200"/>
                <a:gridCol w="4983480"/>
              </a:tblGrid>
              <a:tr h="786384">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109728" marR="109728" marT="36576" marB="36576"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1168B8"/>
                    </a:solidFill>
                  </a:tcPr>
                </a:tc>
                <a:tc>
                  <a:txBody>
                    <a:bodyPr/>
                    <a:lstStyle/>
                    <a:p>
                      <a:pPr indent="0" marL="0">
                        <a:buNone/>
                      </a:pPr>
                      <a:r>
                        <a:rPr lang="en-US" sz="1200" b="1" dirty="0">
                          <a:solidFill>
                            <a:srgbClr val="1B2E1B"/>
                          </a:solidFill>
                          <a:latin typeface="Calibri" pitchFamily="34" charset="0"/>
                          <a:ea typeface="Calibri" pitchFamily="34" charset="-122"/>
                          <a:cs typeface="Calibri" pitchFamily="34" charset="-120"/>
                        </a:rPr>
                        <a:t>Browser → S3</a:t>
                      </a:r>
                      <a:endParaRPr lang="en-US" sz="1200" dirty="0">
                        <a:latin typeface="Calibri" charset="0"/>
                        <a:ea typeface="Calibri" charset="0"/>
                        <a:cs typeface="Calibri" charset="0"/>
                      </a:endParaRPr>
                    </a:p>
                    <a:p>
                      <a:pPr indent="0" marL="0">
                        <a:buNone/>
                      </a:pPr>
                      <a:r>
                        <a:rPr lang="en-US" sz="1200" dirty="0">
                          <a:solidFill>
                            <a:srgbClr val="3E4E3E"/>
                          </a:solidFill>
                          <a:latin typeface="Calibri" pitchFamily="34" charset="0"/>
                          <a:ea typeface="Calibri" pitchFamily="34" charset="-122"/>
                          <a:cs typeface="Calibri" pitchFamily="34" charset="-120"/>
                        </a:rPr>
                        <a:t>Staff open the dashboard; S3 serves the static HTML, CSS and JavaScript.</a:t>
                      </a:r>
                      <a:endParaRPr lang="en-US" sz="1200" dirty="0">
                        <a:latin typeface="Calibri" charset="0"/>
                        <a:ea typeface="Calibri" charset="0"/>
                        <a:cs typeface="Calibri" charset="0"/>
                      </a:endParaRPr>
                    </a:p>
                  </a:txBody>
                  <a:tcPr marL="109728" marR="109728" marT="36576" marB="36576"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r>
              <a:tr h="786384">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109728" marR="109728" marT="36576" marB="36576"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1168B8"/>
                    </a:solidFill>
                  </a:tcPr>
                </a:tc>
                <a:tc>
                  <a:txBody>
                    <a:bodyPr/>
                    <a:lstStyle/>
                    <a:p>
                      <a:pPr indent="0" marL="0">
                        <a:buNone/>
                      </a:pPr>
                      <a:r>
                        <a:rPr lang="en-US" sz="1200" b="1" dirty="0">
                          <a:solidFill>
                            <a:srgbClr val="1B2E1B"/>
                          </a:solidFill>
                          <a:latin typeface="Calibri" pitchFamily="34" charset="0"/>
                          <a:ea typeface="Calibri" pitchFamily="34" charset="-122"/>
                          <a:cs typeface="Calibri" pitchFamily="34" charset="-120"/>
                        </a:rPr>
                        <a:t>Browser → API Gateway</a:t>
                      </a:r>
                      <a:endParaRPr lang="en-US" sz="1200" dirty="0">
                        <a:latin typeface="Calibri" charset="0"/>
                        <a:ea typeface="Calibri" charset="0"/>
                        <a:cs typeface="Calibri" charset="0"/>
                      </a:endParaRPr>
                    </a:p>
                    <a:p>
                      <a:pPr indent="0" marL="0">
                        <a:buNone/>
                      </a:pPr>
                      <a:r>
                        <a:rPr lang="en-US" sz="1200" dirty="0">
                          <a:solidFill>
                            <a:srgbClr val="3E4E3E"/>
                          </a:solidFill>
                          <a:latin typeface="Calibri" pitchFamily="34" charset="0"/>
                          <a:ea typeface="Calibri" pitchFamily="34" charset="-122"/>
                          <a:cs typeface="Calibri" pitchFamily="34" charset="-120"/>
                        </a:rPr>
                        <a:t>The dashboard calls GET /events, /stats and /alerts with the user's JWT.</a:t>
                      </a:r>
                      <a:endParaRPr lang="en-US" sz="1200" dirty="0">
                        <a:latin typeface="Calibri" charset="0"/>
                        <a:ea typeface="Calibri" charset="0"/>
                        <a:cs typeface="Calibri" charset="0"/>
                      </a:endParaRPr>
                    </a:p>
                  </a:txBody>
                  <a:tcPr marL="109728" marR="109728" marT="36576" marB="36576"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r>
              <a:tr h="786384">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109728" marR="109728" marT="36576" marB="36576"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1168B8"/>
                    </a:solidFill>
                  </a:tcPr>
                </a:tc>
                <a:tc>
                  <a:txBody>
                    <a:bodyPr/>
                    <a:lstStyle/>
                    <a:p>
                      <a:pPr indent="0" marL="0">
                        <a:buNone/>
                      </a:pPr>
                      <a:r>
                        <a:rPr lang="en-US" sz="1200" b="1" dirty="0">
                          <a:solidFill>
                            <a:srgbClr val="1B2E1B"/>
                          </a:solidFill>
                          <a:latin typeface="Calibri" pitchFamily="34" charset="0"/>
                          <a:ea typeface="Calibri" pitchFamily="34" charset="-122"/>
                          <a:cs typeface="Calibri" pitchFamily="34" charset="-120"/>
                        </a:rPr>
                        <a:t>Simulator → API Gateway</a:t>
                      </a:r>
                      <a:endParaRPr lang="en-US" sz="1200" dirty="0">
                        <a:latin typeface="Calibri" charset="0"/>
                        <a:ea typeface="Calibri" charset="0"/>
                        <a:cs typeface="Calibri" charset="0"/>
                      </a:endParaRPr>
                    </a:p>
                    <a:p>
                      <a:pPr indent="0" marL="0">
                        <a:buNone/>
                      </a:pPr>
                      <a:r>
                        <a:rPr lang="en-US" sz="1200" dirty="0">
                          <a:solidFill>
                            <a:srgbClr val="3E4E3E"/>
                          </a:solidFill>
                          <a:latin typeface="Calibri" pitchFamily="34" charset="0"/>
                          <a:ea typeface="Calibri" pitchFamily="34" charset="-122"/>
                          <a:cs typeface="Calibri" pitchFamily="34" charset="-120"/>
                        </a:rPr>
                        <a:t>The Python simulator sends JSON campus events with POST /events.</a:t>
                      </a:r>
                      <a:endParaRPr lang="en-US" sz="1200" dirty="0">
                        <a:latin typeface="Calibri" charset="0"/>
                        <a:ea typeface="Calibri" charset="0"/>
                        <a:cs typeface="Calibri" charset="0"/>
                      </a:endParaRPr>
                    </a:p>
                  </a:txBody>
                  <a:tcPr marL="109728" marR="109728" marT="36576" marB="36576"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r>
              <a:tr h="786384">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109728" marR="109728" marT="36576" marB="36576"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1168B8"/>
                    </a:solidFill>
                  </a:tcPr>
                </a:tc>
                <a:tc>
                  <a:txBody>
                    <a:bodyPr/>
                    <a:lstStyle/>
                    <a:p>
                      <a:pPr indent="0" marL="0">
                        <a:buNone/>
                      </a:pPr>
                      <a:r>
                        <a:rPr lang="en-US" sz="1200" b="1" dirty="0">
                          <a:solidFill>
                            <a:srgbClr val="1B2E1B"/>
                          </a:solidFill>
                          <a:latin typeface="Calibri" pitchFamily="34" charset="0"/>
                          <a:ea typeface="Calibri" pitchFamily="34" charset="-122"/>
                          <a:cs typeface="Calibri" pitchFamily="34" charset="-120"/>
                        </a:rPr>
                        <a:t>API Gateway → Cognito</a:t>
                      </a:r>
                      <a:endParaRPr lang="en-US" sz="1200" dirty="0">
                        <a:latin typeface="Calibri" charset="0"/>
                        <a:ea typeface="Calibri" charset="0"/>
                        <a:cs typeface="Calibri" charset="0"/>
                      </a:endParaRPr>
                    </a:p>
                    <a:p>
                      <a:pPr indent="0" marL="0">
                        <a:buNone/>
                      </a:pPr>
                      <a:r>
                        <a:rPr lang="en-US" sz="1200" dirty="0">
                          <a:solidFill>
                            <a:srgbClr val="3E4E3E"/>
                          </a:solidFill>
                          <a:latin typeface="Calibri" pitchFamily="34" charset="0"/>
                          <a:ea typeface="Calibri" pitchFamily="34" charset="-122"/>
                          <a:cs typeface="Calibri" pitchFamily="34" charset="-120"/>
                        </a:rPr>
                        <a:t>On protected routes the Cognito authorizer validates the JWT; no valid token returns 401.</a:t>
                      </a:r>
                      <a:endParaRPr lang="en-US" sz="1200" dirty="0">
                        <a:latin typeface="Calibri" charset="0"/>
                        <a:ea typeface="Calibri" charset="0"/>
                        <a:cs typeface="Calibri" charset="0"/>
                      </a:endParaRPr>
                    </a:p>
                  </a:txBody>
                  <a:tcPr marL="109728" marR="109728" marT="36576" marB="36576"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r>
              <a:tr h="786384">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109728" marR="109728" marT="36576" marB="36576"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1168B8"/>
                    </a:solidFill>
                  </a:tcPr>
                </a:tc>
                <a:tc>
                  <a:txBody>
                    <a:bodyPr/>
                    <a:lstStyle/>
                    <a:p>
                      <a:pPr indent="0" marL="0">
                        <a:buNone/>
                      </a:pPr>
                      <a:r>
                        <a:rPr lang="en-US" sz="1200" b="1" dirty="0">
                          <a:solidFill>
                            <a:srgbClr val="1B2E1B"/>
                          </a:solidFill>
                          <a:latin typeface="Calibri" pitchFamily="34" charset="0"/>
                          <a:ea typeface="Calibri" pitchFamily="34" charset="-122"/>
                          <a:cs typeface="Calibri" pitchFamily="34" charset="-120"/>
                        </a:rPr>
                        <a:t>API Gateway → Lambda Ingest</a:t>
                      </a:r>
                      <a:endParaRPr lang="en-US" sz="1200" dirty="0">
                        <a:latin typeface="Calibri" charset="0"/>
                        <a:ea typeface="Calibri" charset="0"/>
                        <a:cs typeface="Calibri" charset="0"/>
                      </a:endParaRPr>
                    </a:p>
                    <a:p>
                      <a:pPr indent="0" marL="0">
                        <a:buNone/>
                      </a:pPr>
                      <a:r>
                        <a:rPr lang="en-US" sz="1200" dirty="0">
                          <a:solidFill>
                            <a:srgbClr val="3E4E3E"/>
                          </a:solidFill>
                          <a:latin typeface="Calibri" pitchFamily="34" charset="0"/>
                          <a:ea typeface="Calibri" pitchFamily="34" charset="-122"/>
                          <a:cs typeface="Calibri" pitchFamily="34" charset="-120"/>
                        </a:rPr>
                        <a:t>POST /events is routed to the ingest function.</a:t>
                      </a:r>
                      <a:endParaRPr lang="en-US" sz="1200" dirty="0">
                        <a:latin typeface="Calibri" charset="0"/>
                        <a:ea typeface="Calibri" charset="0"/>
                        <a:cs typeface="Calibri" charset="0"/>
                      </a:endParaRPr>
                    </a:p>
                  </a:txBody>
                  <a:tcPr marL="109728" marR="109728" marT="36576" marB="36576"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r>
              <a:tr h="786384">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latin typeface="Calibri" charset="0"/>
                        <a:ea typeface="Calibri" charset="0"/>
                        <a:cs typeface="Calibri" charset="0"/>
                      </a:endParaRPr>
                    </a:p>
                  </a:txBody>
                  <a:tcPr marL="109728" marR="109728" marT="36576" marB="36576"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1168B8"/>
                    </a:solidFill>
                  </a:tcPr>
                </a:tc>
                <a:tc>
                  <a:txBody>
                    <a:bodyPr/>
                    <a:lstStyle/>
                    <a:p>
                      <a:pPr indent="0" marL="0">
                        <a:buNone/>
                      </a:pPr>
                      <a:r>
                        <a:rPr lang="en-US" sz="1200" b="1" dirty="0">
                          <a:solidFill>
                            <a:srgbClr val="1B2E1B"/>
                          </a:solidFill>
                          <a:latin typeface="Calibri" pitchFamily="34" charset="0"/>
                          <a:ea typeface="Calibri" pitchFamily="34" charset="-122"/>
                          <a:cs typeface="Calibri" pitchFamily="34" charset="-120"/>
                        </a:rPr>
                        <a:t>API Gateway → Lambda Query</a:t>
                      </a:r>
                      <a:endParaRPr lang="en-US" sz="1200" dirty="0">
                        <a:latin typeface="Calibri" charset="0"/>
                        <a:ea typeface="Calibri" charset="0"/>
                        <a:cs typeface="Calibri" charset="0"/>
                      </a:endParaRPr>
                    </a:p>
                    <a:p>
                      <a:pPr indent="0" marL="0">
                        <a:buNone/>
                      </a:pPr>
                      <a:r>
                        <a:rPr lang="en-US" sz="1200" dirty="0">
                          <a:solidFill>
                            <a:srgbClr val="3E4E3E"/>
                          </a:solidFill>
                          <a:latin typeface="Calibri" pitchFamily="34" charset="0"/>
                          <a:ea typeface="Calibri" pitchFamily="34" charset="-122"/>
                          <a:cs typeface="Calibri" pitchFamily="34" charset="-120"/>
                        </a:rPr>
                        <a:t>GET /events, /stats and /alerts are routed to the query function.</a:t>
                      </a:r>
                      <a:endParaRPr lang="en-US" sz="1200" dirty="0">
                        <a:latin typeface="Calibri" charset="0"/>
                        <a:ea typeface="Calibri" charset="0"/>
                        <a:cs typeface="Calibri" charset="0"/>
                      </a:endParaRPr>
                    </a:p>
                  </a:txBody>
                  <a:tcPr marL="109728" marR="109728" marT="36576" marB="36576"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r>
            </a:tbl>
          </a:graphicData>
        </a:graphic>
      </p:graphicFrame>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6172200" y="1234440"/>
          <a:ext cx="5440680" cy="914400"/>
        </p:xfrm>
        <a:graphic>
          <a:graphicData uri="http://schemas.openxmlformats.org/drawingml/2006/table">
            <a:tbl>
              <a:tblPr/>
              <a:tblGrid>
                <a:gridCol w="457200"/>
                <a:gridCol w="4983480"/>
              </a:tblGrid>
              <a:tr h="786384">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latin typeface="Calibri" charset="0"/>
                        <a:ea typeface="Calibri" charset="0"/>
                        <a:cs typeface="Calibri" charset="0"/>
                      </a:endParaRPr>
                    </a:p>
                  </a:txBody>
                  <a:tcPr marL="109728" marR="109728" marT="36576" marB="36576"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1168B8"/>
                    </a:solidFill>
                  </a:tcPr>
                </a:tc>
                <a:tc>
                  <a:txBody>
                    <a:bodyPr/>
                    <a:lstStyle/>
                    <a:p>
                      <a:pPr indent="0" marL="0">
                        <a:buNone/>
                      </a:pPr>
                      <a:r>
                        <a:rPr lang="en-US" sz="1200" b="1" dirty="0">
                          <a:solidFill>
                            <a:srgbClr val="1B2E1B"/>
                          </a:solidFill>
                          <a:latin typeface="Calibri" pitchFamily="34" charset="0"/>
                          <a:ea typeface="Calibri" pitchFamily="34" charset="-122"/>
                          <a:cs typeface="Calibri" pitchFamily="34" charset="-120"/>
                        </a:rPr>
                        <a:t>API Gateway → Lambda Auth</a:t>
                      </a:r>
                      <a:endParaRPr lang="en-US" sz="1200" dirty="0">
                        <a:latin typeface="Calibri" charset="0"/>
                        <a:ea typeface="Calibri" charset="0"/>
                        <a:cs typeface="Calibri" charset="0"/>
                      </a:endParaRPr>
                    </a:p>
                    <a:p>
                      <a:pPr indent="0" marL="0">
                        <a:buNone/>
                      </a:pPr>
                      <a:r>
                        <a:rPr lang="en-US" sz="1200" dirty="0">
                          <a:solidFill>
                            <a:srgbClr val="3E4E3E"/>
                          </a:solidFill>
                          <a:latin typeface="Calibri" pitchFamily="34" charset="0"/>
                          <a:ea typeface="Calibri" pitchFamily="34" charset="-122"/>
                          <a:cs typeface="Calibri" pitchFamily="34" charset="-120"/>
                        </a:rPr>
                        <a:t>POST /login is routed to the auth function.</a:t>
                      </a:r>
                      <a:endParaRPr lang="en-US" sz="1200" dirty="0">
                        <a:latin typeface="Calibri" charset="0"/>
                        <a:ea typeface="Calibri" charset="0"/>
                        <a:cs typeface="Calibri" charset="0"/>
                      </a:endParaRPr>
                    </a:p>
                  </a:txBody>
                  <a:tcPr marL="109728" marR="109728" marT="36576" marB="36576"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r>
              <a:tr h="786384">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marL="109728" marR="109728" marT="36576" marB="36576"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1168B8"/>
                    </a:solidFill>
                  </a:tcPr>
                </a:tc>
                <a:tc>
                  <a:txBody>
                    <a:bodyPr/>
                    <a:lstStyle/>
                    <a:p>
                      <a:pPr indent="0" marL="0">
                        <a:buNone/>
                      </a:pPr>
                      <a:r>
                        <a:rPr lang="en-US" sz="1200" b="1" dirty="0">
                          <a:solidFill>
                            <a:srgbClr val="1B2E1B"/>
                          </a:solidFill>
                          <a:latin typeface="Calibri" pitchFamily="34" charset="0"/>
                          <a:ea typeface="Calibri" pitchFamily="34" charset="-122"/>
                          <a:cs typeface="Calibri" pitchFamily="34" charset="-120"/>
                        </a:rPr>
                        <a:t>Lambda Ingest → DynamoDB</a:t>
                      </a:r>
                      <a:endParaRPr lang="en-US" sz="1200" dirty="0">
                        <a:latin typeface="Calibri" charset="0"/>
                        <a:ea typeface="Calibri" charset="0"/>
                        <a:cs typeface="Calibri" charset="0"/>
                      </a:endParaRPr>
                    </a:p>
                    <a:p>
                      <a:pPr indent="0" marL="0">
                        <a:buNone/>
                      </a:pPr>
                      <a:r>
                        <a:rPr lang="en-US" sz="1200" dirty="0">
                          <a:solidFill>
                            <a:srgbClr val="3E4E3E"/>
                          </a:solidFill>
                          <a:latin typeface="Calibri" pitchFamily="34" charset="0"/>
                          <a:ea typeface="Calibri" pitchFamily="34" charset="-122"/>
                          <a:cs typeface="Calibri" pitchFamily="34" charset="-120"/>
                        </a:rPr>
                        <a:t>Validates fields, applies alert rules, sets severity, then PutItem.</a:t>
                      </a:r>
                      <a:endParaRPr lang="en-US" sz="1200" dirty="0">
                        <a:latin typeface="Calibri" charset="0"/>
                        <a:ea typeface="Calibri" charset="0"/>
                        <a:cs typeface="Calibri" charset="0"/>
                      </a:endParaRPr>
                    </a:p>
                  </a:txBody>
                  <a:tcPr marL="109728" marR="109728" marT="36576" marB="36576"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r>
              <a:tr h="786384">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9</a:t>
                      </a:r>
                      <a:endParaRPr lang="en-US" sz="1300" dirty="0">
                        <a:latin typeface="Calibri" charset="0"/>
                        <a:ea typeface="Calibri" charset="0"/>
                        <a:cs typeface="Calibri" charset="0"/>
                      </a:endParaRPr>
                    </a:p>
                  </a:txBody>
                  <a:tcPr marL="109728" marR="109728" marT="36576" marB="36576"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1168B8"/>
                    </a:solidFill>
                  </a:tcPr>
                </a:tc>
                <a:tc>
                  <a:txBody>
                    <a:bodyPr/>
                    <a:lstStyle/>
                    <a:p>
                      <a:pPr indent="0" marL="0">
                        <a:buNone/>
                      </a:pPr>
                      <a:r>
                        <a:rPr lang="en-US" sz="1200" b="1" dirty="0">
                          <a:solidFill>
                            <a:srgbClr val="1B2E1B"/>
                          </a:solidFill>
                          <a:latin typeface="Calibri" pitchFamily="34" charset="0"/>
                          <a:ea typeface="Calibri" pitchFamily="34" charset="-122"/>
                          <a:cs typeface="Calibri" pitchFamily="34" charset="-120"/>
                        </a:rPr>
                        <a:t>Lambda Query → DynamoDB</a:t>
                      </a:r>
                      <a:endParaRPr lang="en-US" sz="1200" dirty="0">
                        <a:latin typeface="Calibri" charset="0"/>
                        <a:ea typeface="Calibri" charset="0"/>
                        <a:cs typeface="Calibri" charset="0"/>
                      </a:endParaRPr>
                    </a:p>
                    <a:p>
                      <a:pPr indent="0" marL="0">
                        <a:buNone/>
                      </a:pPr>
                      <a:r>
                        <a:rPr lang="en-US" sz="1200" dirty="0">
                          <a:solidFill>
                            <a:srgbClr val="3E4E3E"/>
                          </a:solidFill>
                          <a:latin typeface="Calibri" pitchFamily="34" charset="0"/>
                          <a:ea typeface="Calibri" pitchFamily="34" charset="-122"/>
                          <a:cs typeface="Calibri" pitchFamily="34" charset="-120"/>
                        </a:rPr>
                        <a:t>Reads events and computes statistics and the list of alerts.</a:t>
                      </a:r>
                      <a:endParaRPr lang="en-US" sz="1200" dirty="0">
                        <a:latin typeface="Calibri" charset="0"/>
                        <a:ea typeface="Calibri" charset="0"/>
                        <a:cs typeface="Calibri" charset="0"/>
                      </a:endParaRPr>
                    </a:p>
                  </a:txBody>
                  <a:tcPr marL="109728" marR="109728" marT="36576" marB="36576"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r>
              <a:tr h="786384">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marL="109728" marR="109728" marT="36576" marB="36576"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1168B8"/>
                    </a:solidFill>
                  </a:tcPr>
                </a:tc>
                <a:tc>
                  <a:txBody>
                    <a:bodyPr/>
                    <a:lstStyle/>
                    <a:p>
                      <a:pPr indent="0" marL="0">
                        <a:buNone/>
                      </a:pPr>
                      <a:r>
                        <a:rPr lang="en-US" sz="1200" b="1" dirty="0">
                          <a:solidFill>
                            <a:srgbClr val="1B2E1B"/>
                          </a:solidFill>
                          <a:latin typeface="Calibri" pitchFamily="34" charset="0"/>
                          <a:ea typeface="Calibri" pitchFamily="34" charset="-122"/>
                          <a:cs typeface="Calibri" pitchFamily="34" charset="-120"/>
                        </a:rPr>
                        <a:t>Lambda Auth → Cognito</a:t>
                      </a:r>
                      <a:endParaRPr lang="en-US" sz="1200" dirty="0">
                        <a:latin typeface="Calibri" charset="0"/>
                        <a:ea typeface="Calibri" charset="0"/>
                        <a:cs typeface="Calibri" charset="0"/>
                      </a:endParaRPr>
                    </a:p>
                    <a:p>
                      <a:pPr indent="0" marL="0">
                        <a:buNone/>
                      </a:pPr>
                      <a:r>
                        <a:rPr lang="en-US" sz="1200" dirty="0">
                          <a:solidFill>
                            <a:srgbClr val="3E4E3E"/>
                          </a:solidFill>
                          <a:latin typeface="Calibri" pitchFamily="34" charset="0"/>
                          <a:ea typeface="Calibri" pitchFamily="34" charset="-122"/>
                          <a:cs typeface="Calibri" pitchFamily="34" charset="-120"/>
                        </a:rPr>
                        <a:t>Checks username and password, returns tokens carrying the ADMIN or STAFF group.</a:t>
                      </a:r>
                      <a:endParaRPr lang="en-US" sz="1200" dirty="0">
                        <a:latin typeface="Calibri" charset="0"/>
                        <a:ea typeface="Calibri" charset="0"/>
                        <a:cs typeface="Calibri" charset="0"/>
                      </a:endParaRPr>
                    </a:p>
                  </a:txBody>
                  <a:tcPr marL="109728" marR="109728" marT="36576" marB="36576"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r>
              <a:tr h="786384">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latin typeface="Calibri" charset="0"/>
                        <a:ea typeface="Calibri" charset="0"/>
                        <a:cs typeface="Calibri" charset="0"/>
                      </a:endParaRPr>
                    </a:p>
                  </a:txBody>
                  <a:tcPr marL="109728" marR="109728" marT="36576" marB="36576"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1168B8"/>
                    </a:solidFill>
                  </a:tcPr>
                </a:tc>
                <a:tc>
                  <a:txBody>
                    <a:bodyPr/>
                    <a:lstStyle/>
                    <a:p>
                      <a:pPr indent="0" marL="0">
                        <a:buNone/>
                      </a:pPr>
                      <a:r>
                        <a:rPr lang="en-US" sz="1200" b="1" dirty="0">
                          <a:solidFill>
                            <a:srgbClr val="1B2E1B"/>
                          </a:solidFill>
                          <a:latin typeface="Calibri" pitchFamily="34" charset="0"/>
                          <a:ea typeface="Calibri" pitchFamily="34" charset="-122"/>
                          <a:cs typeface="Calibri" pitchFamily="34" charset="-120"/>
                        </a:rPr>
                        <a:t>All Lambdas → CloudWatch</a:t>
                      </a:r>
                      <a:endParaRPr lang="en-US" sz="1200" dirty="0">
                        <a:latin typeface="Calibri" charset="0"/>
                        <a:ea typeface="Calibri" charset="0"/>
                        <a:cs typeface="Calibri" charset="0"/>
                      </a:endParaRPr>
                    </a:p>
                    <a:p>
                      <a:pPr indent="0" marL="0">
                        <a:buNone/>
                      </a:pPr>
                      <a:r>
                        <a:rPr lang="en-US" sz="1200" dirty="0">
                          <a:solidFill>
                            <a:srgbClr val="3E4E3E"/>
                          </a:solidFill>
                          <a:latin typeface="Calibri" pitchFamily="34" charset="0"/>
                          <a:ea typeface="Calibri" pitchFamily="34" charset="-122"/>
                          <a:cs typeface="Calibri" pitchFamily="34" charset="-120"/>
                        </a:rPr>
                        <a:t>Every invocation writes logs and metrics; alarms watch the error count.</a:t>
                      </a:r>
                      <a:endParaRPr lang="en-US" sz="1200" dirty="0">
                        <a:latin typeface="Calibri" charset="0"/>
                        <a:ea typeface="Calibri" charset="0"/>
                        <a:cs typeface="Calibri" charset="0"/>
                      </a:endParaRPr>
                    </a:p>
                  </a:txBody>
                  <a:tcPr marL="109728" marR="109728" marT="36576" marB="36576"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r>
            </a:tbl>
          </a:graphicData>
        </a:graphic>
      </p:graphicFrame>
      <p:sp>
        <p:nvSpPr>
          <p:cNvPr id="5" name="Shape 1"/>
          <p:cNvSpPr/>
          <p:nvPr/>
        </p:nvSpPr>
        <p:spPr>
          <a:xfrm>
            <a:off x="6172200" y="5349240"/>
            <a:ext cx="5440680" cy="603504"/>
          </a:xfrm>
          <a:prstGeom prst="roundRect">
            <a:avLst>
              <a:gd name="adj" fmla="val 12121"/>
            </a:avLst>
          </a:prstGeom>
          <a:solidFill>
            <a:srgbClr val="E8F3EC"/>
          </a:solidFill>
          <a:ln w="12700">
            <a:solidFill>
              <a:srgbClr val="E8F3EC"/>
            </a:solidFill>
            <a:prstDash val="solid"/>
          </a:ln>
        </p:spPr>
      </p:sp>
      <p:sp>
        <p:nvSpPr>
          <p:cNvPr id="6" name="Text 2"/>
          <p:cNvSpPr txBox="1"/>
          <p:nvPr/>
        </p:nvSpPr>
        <p:spPr>
          <a:xfrm>
            <a:off x="6355080" y="5349240"/>
            <a:ext cx="5120640" cy="603504"/>
          </a:xfrm>
          <a:prstGeom prst="rect">
            <a:avLst/>
          </a:prstGeom>
          <a:noFill/>
          <a:ln/>
        </p:spPr>
        <p:txBody>
          <a:bodyPr wrap="square" lIns="0" tIns="0" rIns="0" bIns="0" rtlCol="0" anchor="ctr"/>
          <a:lstStyle/>
          <a:p>
            <a:pPr indent="0" marL="0">
              <a:buNone/>
            </a:pPr>
            <a:r>
              <a:rPr lang="en-US" sz="1300" b="1" dirty="0">
                <a:solidFill>
                  <a:srgbClr val="2A7A4A"/>
                </a:solidFill>
                <a:latin typeface="Calibri" pitchFamily="34" charset="0"/>
                <a:ea typeface="Calibri" pitchFamily="34" charset="-122"/>
                <a:cs typeface="Calibri" pitchFamily="34" charset="-120"/>
              </a:rPr>
              <a:t>Ingest path: </a:t>
            </a:r>
            <a:pPr indent="0" marL="0">
              <a:buNone/>
            </a:pPr>
            <a:r>
              <a:rPr lang="en-US" sz="1300" dirty="0">
                <a:solidFill>
                  <a:srgbClr val="1B2E1B"/>
                </a:solidFill>
                <a:latin typeface="Calibri" pitchFamily="34" charset="0"/>
                <a:ea typeface="Calibri" pitchFamily="34" charset="-122"/>
                <a:cs typeface="Calibri" pitchFamily="34" charset="-120"/>
              </a:rPr>
              <a:t>3→4→5→8    </a:t>
            </a:r>
            <a:pPr indent="0" marL="0">
              <a:buNone/>
            </a:pPr>
            <a:r>
              <a:rPr lang="en-US" sz="1300" b="1" dirty="0">
                <a:solidFill>
                  <a:srgbClr val="3A6888"/>
                </a:solidFill>
                <a:latin typeface="Calibri" pitchFamily="34" charset="0"/>
                <a:ea typeface="Calibri" pitchFamily="34" charset="-122"/>
                <a:cs typeface="Calibri" pitchFamily="34" charset="-120"/>
              </a:rPr>
              <a:t>Read path: </a:t>
            </a:r>
            <a:pPr indent="0" marL="0">
              <a:buNone/>
            </a:pPr>
            <a:r>
              <a:rPr lang="en-US" sz="1300" dirty="0">
                <a:solidFill>
                  <a:srgbClr val="1B2E1B"/>
                </a:solidFill>
                <a:latin typeface="Calibri" pitchFamily="34" charset="0"/>
                <a:ea typeface="Calibri" pitchFamily="34" charset="-122"/>
                <a:cs typeface="Calibri" pitchFamily="34" charset="-120"/>
              </a:rPr>
              <a:t>1→2→4→6→9    </a:t>
            </a:r>
            <a:pPr indent="0" marL="0">
              <a:buNone/>
            </a:pPr>
            <a:r>
              <a:rPr lang="en-US" sz="1300" b="1" dirty="0">
                <a:solidFill>
                  <a:srgbClr val="6A4898"/>
                </a:solidFill>
                <a:latin typeface="Calibri" pitchFamily="34" charset="0"/>
                <a:ea typeface="Calibri" pitchFamily="34" charset="-122"/>
                <a:cs typeface="Calibri" pitchFamily="34" charset="-120"/>
              </a:rPr>
              <a:t>Login: </a:t>
            </a:r>
            <a:pPr indent="0" marL="0">
              <a:buNone/>
            </a:pPr>
            <a:r>
              <a:rPr lang="en-US" sz="1300" dirty="0">
                <a:solidFill>
                  <a:srgbClr val="1B2E1B"/>
                </a:solidFill>
                <a:latin typeface="Calibri" pitchFamily="34" charset="0"/>
                <a:ea typeface="Calibri" pitchFamily="34" charset="-122"/>
                <a:cs typeface="Calibri" pitchFamily="34" charset="-120"/>
              </a:rPr>
              <a:t>7→10</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5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3400" b="1" dirty="0">
                <a:solidFill>
                  <a:srgbClr val="2A7A4A"/>
                </a:solidFill>
                <a:latin typeface="Cambria" pitchFamily="34" charset="0"/>
                <a:ea typeface="Cambria" pitchFamily="34" charset="-122"/>
                <a:cs typeface="Cambria" pitchFamily="34" charset="-120"/>
              </a:rPr>
              <a:t>Why each AWS service is in the design</a:t>
            </a:r>
            <a:endParaRPr lang="en-US" sz="3400" dirty="0"/>
          </a:p>
        </p:txBody>
      </p:sp>
      <p:sp>
        <p:nvSpPr>
          <p:cNvPr id="3" name="Shape 1"/>
          <p:cNvSpPr/>
          <p:nvPr/>
        </p:nvSpPr>
        <p:spPr>
          <a:xfrm>
            <a:off x="548640" y="1234440"/>
            <a:ext cx="3566160" cy="1508760"/>
          </a:xfrm>
          <a:prstGeom prst="roundRect">
            <a:avLst>
              <a:gd name="adj" fmla="val 4848"/>
            </a:avLst>
          </a:prstGeom>
          <a:solidFill>
            <a:srgbClr val="FFFFFF"/>
          </a:solidFill>
          <a:ln w="12700">
            <a:solidFill>
              <a:srgbClr val="C8D5C8"/>
            </a:solidFill>
            <a:prstDash val="solid"/>
          </a:ln>
        </p:spPr>
      </p:sp>
      <p:sp>
        <p:nvSpPr>
          <p:cNvPr id="4" name="Shape 2"/>
          <p:cNvSpPr/>
          <p:nvPr/>
        </p:nvSpPr>
        <p:spPr>
          <a:xfrm>
            <a:off x="731520" y="1435608"/>
            <a:ext cx="548640" cy="548640"/>
          </a:xfrm>
          <a:prstGeom prst="roundRect">
            <a:avLst>
              <a:gd name="adj" fmla="val 13333"/>
            </a:avLst>
          </a:prstGeom>
          <a:solidFill>
            <a:srgbClr val="E7157B"/>
          </a:solidFill>
          <a:ln w="12700">
            <a:solidFill>
              <a:srgbClr val="E7157B"/>
            </a:solidFill>
            <a:prstDash val="solid"/>
          </a:ln>
        </p:spPr>
      </p:sp>
      <p:pic>
        <p:nvPicPr>
          <p:cNvPr id="5" name="Image 0" descr="preencoded.png">    </p:cNvPr>
          <p:cNvPicPr>
            <a:picLocks noChangeAspect="1"/>
          </p:cNvPicPr>
          <p:nvPr/>
        </p:nvPicPr>
        <p:blipFill>
          <a:blip r:embed="rId1"/>
          <a:stretch>
            <a:fillRect/>
          </a:stretch>
        </p:blipFill>
        <p:spPr>
          <a:xfrm>
            <a:off x="822960" y="1527048"/>
            <a:ext cx="365760" cy="365760"/>
          </a:xfrm>
          <a:prstGeom prst="rect">
            <a:avLst/>
          </a:prstGeom>
        </p:spPr>
      </p:pic>
      <p:sp>
        <p:nvSpPr>
          <p:cNvPr id="6" name="Text 3"/>
          <p:cNvSpPr txBox="1"/>
          <p:nvPr/>
        </p:nvSpPr>
        <p:spPr>
          <a:xfrm>
            <a:off x="1417320" y="1399032"/>
            <a:ext cx="2560320" cy="292608"/>
          </a:xfrm>
          <a:prstGeom prst="rect">
            <a:avLst/>
          </a:prstGeom>
          <a:noFill/>
          <a:ln/>
        </p:spPr>
        <p:txBody>
          <a:bodyPr wrap="square" lIns="0" tIns="0" rIns="0" bIns="0" rtlCol="0" anchor="ctr"/>
          <a:lstStyle/>
          <a:p>
            <a:pPr indent="0" marL="0">
              <a:buNone/>
            </a:pPr>
            <a:r>
              <a:rPr lang="en-US" sz="1500" b="1" dirty="0">
                <a:solidFill>
                  <a:srgbClr val="1B2E1B"/>
                </a:solidFill>
                <a:latin typeface="Calibri" pitchFamily="34" charset="0"/>
                <a:ea typeface="Calibri" pitchFamily="34" charset="-122"/>
                <a:cs typeface="Calibri" pitchFamily="34" charset="-120"/>
              </a:rPr>
              <a:t>API Gateway</a:t>
            </a:r>
            <a:endParaRPr lang="en-US" sz="1500" dirty="0"/>
          </a:p>
        </p:txBody>
      </p:sp>
      <p:sp>
        <p:nvSpPr>
          <p:cNvPr id="7" name="Text 4"/>
          <p:cNvSpPr txBox="1"/>
          <p:nvPr/>
        </p:nvSpPr>
        <p:spPr>
          <a:xfrm>
            <a:off x="1417320" y="1691640"/>
            <a:ext cx="2560320" cy="237744"/>
          </a:xfrm>
          <a:prstGeom prst="rect">
            <a:avLst/>
          </a:prstGeom>
          <a:noFill/>
          <a:ln/>
        </p:spPr>
        <p:txBody>
          <a:bodyPr wrap="square" lIns="0" tIns="0" rIns="0" bIns="0" rtlCol="0" anchor="ctr"/>
          <a:lstStyle/>
          <a:p>
            <a:pPr indent="0" marL="0">
              <a:buNone/>
            </a:pPr>
            <a:r>
              <a:rPr lang="en-US" sz="1100" b="1" dirty="0">
                <a:solidFill>
                  <a:srgbClr val="2A7A4A"/>
                </a:solidFill>
                <a:latin typeface="Calibri" pitchFamily="34" charset="0"/>
                <a:ea typeface="Calibri" pitchFamily="34" charset="-122"/>
                <a:cs typeface="Calibri" pitchFamily="34" charset="-120"/>
              </a:rPr>
              <a:t>Satisfies: REST API</a:t>
            </a:r>
            <a:endParaRPr lang="en-US" sz="1100" dirty="0"/>
          </a:p>
        </p:txBody>
      </p:sp>
      <p:sp>
        <p:nvSpPr>
          <p:cNvPr id="8" name="Text 5"/>
          <p:cNvSpPr txBox="1"/>
          <p:nvPr/>
        </p:nvSpPr>
        <p:spPr>
          <a:xfrm>
            <a:off x="731520" y="2075688"/>
            <a:ext cx="3200400" cy="566928"/>
          </a:xfrm>
          <a:prstGeom prst="rect">
            <a:avLst/>
          </a:prstGeom>
          <a:noFill/>
          <a:ln/>
        </p:spPr>
        <p:txBody>
          <a:bodyPr wrap="square" lIns="0" tIns="0" rIns="0" bIns="0" rtlCol="0" anchor="t"/>
          <a:lstStyle/>
          <a:p>
            <a:pPr indent="0" marL="0">
              <a:buNone/>
            </a:pPr>
            <a:r>
              <a:rPr lang="en-US" sz="1200" dirty="0">
                <a:solidFill>
                  <a:srgbClr val="3E4E3E"/>
                </a:solidFill>
                <a:latin typeface="Calibri" pitchFamily="34" charset="0"/>
                <a:ea typeface="Calibri" pitchFamily="34" charset="-122"/>
                <a:cs typeface="Calibri" pitchFamily="34" charset="-120"/>
              </a:rPr>
              <a:t>Single HTTPS entry point; routes the five endpoints and runs the Cognito authorizer.</a:t>
            </a:r>
            <a:endParaRPr lang="en-US" sz="1200" dirty="0"/>
          </a:p>
        </p:txBody>
      </p:sp>
      <p:sp>
        <p:nvSpPr>
          <p:cNvPr id="9" name="Shape 6"/>
          <p:cNvSpPr/>
          <p:nvPr/>
        </p:nvSpPr>
        <p:spPr>
          <a:xfrm>
            <a:off x="4297680" y="1234440"/>
            <a:ext cx="3566160" cy="1508760"/>
          </a:xfrm>
          <a:prstGeom prst="roundRect">
            <a:avLst>
              <a:gd name="adj" fmla="val 4848"/>
            </a:avLst>
          </a:prstGeom>
          <a:solidFill>
            <a:srgbClr val="FFFFFF"/>
          </a:solidFill>
          <a:ln w="12700">
            <a:solidFill>
              <a:srgbClr val="C8D5C8"/>
            </a:solidFill>
            <a:prstDash val="solid"/>
          </a:ln>
        </p:spPr>
      </p:sp>
      <p:sp>
        <p:nvSpPr>
          <p:cNvPr id="10" name="Shape 7"/>
          <p:cNvSpPr/>
          <p:nvPr/>
        </p:nvSpPr>
        <p:spPr>
          <a:xfrm>
            <a:off x="4480560" y="1435608"/>
            <a:ext cx="548640" cy="548640"/>
          </a:xfrm>
          <a:prstGeom prst="roundRect">
            <a:avLst>
              <a:gd name="adj" fmla="val 13333"/>
            </a:avLst>
          </a:prstGeom>
          <a:solidFill>
            <a:srgbClr val="ED7100"/>
          </a:solidFill>
          <a:ln w="12700">
            <a:solidFill>
              <a:srgbClr val="ED7100"/>
            </a:solidFill>
            <a:prstDash val="solid"/>
          </a:ln>
        </p:spPr>
      </p:sp>
      <p:pic>
        <p:nvPicPr>
          <p:cNvPr id="11" name="Image 1" descr="preencoded.png">    </p:cNvPr>
          <p:cNvPicPr>
            <a:picLocks noChangeAspect="1"/>
          </p:cNvPicPr>
          <p:nvPr/>
        </p:nvPicPr>
        <p:blipFill>
          <a:blip r:embed="rId2"/>
          <a:stretch>
            <a:fillRect/>
          </a:stretch>
        </p:blipFill>
        <p:spPr>
          <a:xfrm>
            <a:off x="4572000" y="1527048"/>
            <a:ext cx="365760" cy="365760"/>
          </a:xfrm>
          <a:prstGeom prst="rect">
            <a:avLst/>
          </a:prstGeom>
        </p:spPr>
      </p:pic>
      <p:sp>
        <p:nvSpPr>
          <p:cNvPr id="12" name="Text 8"/>
          <p:cNvSpPr txBox="1"/>
          <p:nvPr/>
        </p:nvSpPr>
        <p:spPr>
          <a:xfrm>
            <a:off x="5166360" y="1399032"/>
            <a:ext cx="2560320" cy="292608"/>
          </a:xfrm>
          <a:prstGeom prst="rect">
            <a:avLst/>
          </a:prstGeom>
          <a:noFill/>
          <a:ln/>
        </p:spPr>
        <p:txBody>
          <a:bodyPr wrap="square" lIns="0" tIns="0" rIns="0" bIns="0" rtlCol="0" anchor="ctr"/>
          <a:lstStyle/>
          <a:p>
            <a:pPr indent="0" marL="0">
              <a:buNone/>
            </a:pPr>
            <a:r>
              <a:rPr lang="en-US" sz="1500" b="1" dirty="0">
                <a:solidFill>
                  <a:srgbClr val="1B2E1B"/>
                </a:solidFill>
                <a:latin typeface="Calibri" pitchFamily="34" charset="0"/>
                <a:ea typeface="Calibri" pitchFamily="34" charset="-122"/>
                <a:cs typeface="Calibri" pitchFamily="34" charset="-120"/>
              </a:rPr>
              <a:t>AWS Lambda (×3)</a:t>
            </a:r>
            <a:endParaRPr lang="en-US" sz="1500" dirty="0"/>
          </a:p>
        </p:txBody>
      </p:sp>
      <p:sp>
        <p:nvSpPr>
          <p:cNvPr id="13" name="Text 9"/>
          <p:cNvSpPr txBox="1"/>
          <p:nvPr/>
        </p:nvSpPr>
        <p:spPr>
          <a:xfrm>
            <a:off x="5166360" y="1691640"/>
            <a:ext cx="2560320" cy="237744"/>
          </a:xfrm>
          <a:prstGeom prst="rect">
            <a:avLst/>
          </a:prstGeom>
          <a:noFill/>
          <a:ln/>
        </p:spPr>
        <p:txBody>
          <a:bodyPr wrap="square" lIns="0" tIns="0" rIns="0" bIns="0" rtlCol="0" anchor="ctr"/>
          <a:lstStyle/>
          <a:p>
            <a:pPr indent="0" marL="0">
              <a:buNone/>
            </a:pPr>
            <a:r>
              <a:rPr lang="en-US" sz="1100" b="1" dirty="0">
                <a:solidFill>
                  <a:srgbClr val="2A7A4A"/>
                </a:solidFill>
                <a:latin typeface="Calibri" pitchFamily="34" charset="0"/>
                <a:ea typeface="Calibri" pitchFamily="34" charset="-122"/>
                <a:cs typeface="Calibri" pitchFamily="34" charset="-120"/>
              </a:rPr>
              <a:t>Satisfies: Processing logic</a:t>
            </a:r>
            <a:endParaRPr lang="en-US" sz="1100" dirty="0"/>
          </a:p>
        </p:txBody>
      </p:sp>
      <p:sp>
        <p:nvSpPr>
          <p:cNvPr id="14" name="Text 10"/>
          <p:cNvSpPr txBox="1"/>
          <p:nvPr/>
        </p:nvSpPr>
        <p:spPr>
          <a:xfrm>
            <a:off x="4480560" y="2075688"/>
            <a:ext cx="3200400" cy="566928"/>
          </a:xfrm>
          <a:prstGeom prst="rect">
            <a:avLst/>
          </a:prstGeom>
          <a:noFill/>
          <a:ln/>
        </p:spPr>
        <p:txBody>
          <a:bodyPr wrap="square" lIns="0" tIns="0" rIns="0" bIns="0" rtlCol="0" anchor="t"/>
          <a:lstStyle/>
          <a:p>
            <a:pPr indent="0" marL="0">
              <a:buNone/>
            </a:pPr>
            <a:r>
              <a:rPr lang="en-US" sz="1200" dirty="0">
                <a:solidFill>
                  <a:srgbClr val="3E4E3E"/>
                </a:solidFill>
                <a:latin typeface="Calibri" pitchFamily="34" charset="0"/>
                <a:ea typeface="Calibri" pitchFamily="34" charset="-122"/>
                <a:cs typeface="Calibri" pitchFamily="34" charset="-120"/>
              </a:rPr>
              <a:t>Backend code without servers: Ingest, Query and Auth functions.</a:t>
            </a:r>
            <a:endParaRPr lang="en-US" sz="1200" dirty="0"/>
          </a:p>
        </p:txBody>
      </p:sp>
      <p:sp>
        <p:nvSpPr>
          <p:cNvPr id="15" name="Shape 11"/>
          <p:cNvSpPr/>
          <p:nvPr/>
        </p:nvSpPr>
        <p:spPr>
          <a:xfrm>
            <a:off x="8046720" y="1234440"/>
            <a:ext cx="3566160" cy="1508760"/>
          </a:xfrm>
          <a:prstGeom prst="roundRect">
            <a:avLst>
              <a:gd name="adj" fmla="val 4848"/>
            </a:avLst>
          </a:prstGeom>
          <a:solidFill>
            <a:srgbClr val="FFFFFF"/>
          </a:solidFill>
          <a:ln w="12700">
            <a:solidFill>
              <a:srgbClr val="C8D5C8"/>
            </a:solidFill>
            <a:prstDash val="solid"/>
          </a:ln>
        </p:spPr>
      </p:sp>
      <p:sp>
        <p:nvSpPr>
          <p:cNvPr id="16" name="Shape 12"/>
          <p:cNvSpPr/>
          <p:nvPr/>
        </p:nvSpPr>
        <p:spPr>
          <a:xfrm>
            <a:off x="8229600" y="1435608"/>
            <a:ext cx="548640" cy="548640"/>
          </a:xfrm>
          <a:prstGeom prst="roundRect">
            <a:avLst>
              <a:gd name="adj" fmla="val 13333"/>
            </a:avLst>
          </a:prstGeom>
          <a:solidFill>
            <a:srgbClr val="3B48CC"/>
          </a:solidFill>
          <a:ln w="12700">
            <a:solidFill>
              <a:srgbClr val="3B48CC"/>
            </a:solidFill>
            <a:prstDash val="solid"/>
          </a:ln>
        </p:spPr>
      </p:sp>
      <p:pic>
        <p:nvPicPr>
          <p:cNvPr id="17" name="Image 2" descr="preencoded.png">    </p:cNvPr>
          <p:cNvPicPr>
            <a:picLocks noChangeAspect="1"/>
          </p:cNvPicPr>
          <p:nvPr/>
        </p:nvPicPr>
        <p:blipFill>
          <a:blip r:embed="rId3"/>
          <a:stretch>
            <a:fillRect/>
          </a:stretch>
        </p:blipFill>
        <p:spPr>
          <a:xfrm>
            <a:off x="8321040" y="1527048"/>
            <a:ext cx="365760" cy="365760"/>
          </a:xfrm>
          <a:prstGeom prst="rect">
            <a:avLst/>
          </a:prstGeom>
        </p:spPr>
      </p:pic>
      <p:sp>
        <p:nvSpPr>
          <p:cNvPr id="18" name="Text 13"/>
          <p:cNvSpPr txBox="1"/>
          <p:nvPr/>
        </p:nvSpPr>
        <p:spPr>
          <a:xfrm>
            <a:off x="8915400" y="1399032"/>
            <a:ext cx="2560320" cy="292608"/>
          </a:xfrm>
          <a:prstGeom prst="rect">
            <a:avLst/>
          </a:prstGeom>
          <a:noFill/>
          <a:ln/>
        </p:spPr>
        <p:txBody>
          <a:bodyPr wrap="square" lIns="0" tIns="0" rIns="0" bIns="0" rtlCol="0" anchor="ctr"/>
          <a:lstStyle/>
          <a:p>
            <a:pPr indent="0" marL="0">
              <a:buNone/>
            </a:pPr>
            <a:r>
              <a:rPr lang="en-US" sz="1500" b="1" dirty="0">
                <a:solidFill>
                  <a:srgbClr val="1B2E1B"/>
                </a:solidFill>
                <a:latin typeface="Calibri" pitchFamily="34" charset="0"/>
                <a:ea typeface="Calibri" pitchFamily="34" charset="-122"/>
                <a:cs typeface="Calibri" pitchFamily="34" charset="-120"/>
              </a:rPr>
              <a:t>Amazon DynamoDB</a:t>
            </a:r>
            <a:endParaRPr lang="en-US" sz="1500" dirty="0"/>
          </a:p>
        </p:txBody>
      </p:sp>
      <p:sp>
        <p:nvSpPr>
          <p:cNvPr id="19" name="Text 14"/>
          <p:cNvSpPr txBox="1"/>
          <p:nvPr/>
        </p:nvSpPr>
        <p:spPr>
          <a:xfrm>
            <a:off x="8915400" y="1691640"/>
            <a:ext cx="2560320" cy="237744"/>
          </a:xfrm>
          <a:prstGeom prst="rect">
            <a:avLst/>
          </a:prstGeom>
          <a:noFill/>
          <a:ln/>
        </p:spPr>
        <p:txBody>
          <a:bodyPr wrap="square" lIns="0" tIns="0" rIns="0" bIns="0" rtlCol="0" anchor="ctr"/>
          <a:lstStyle/>
          <a:p>
            <a:pPr indent="0" marL="0">
              <a:buNone/>
            </a:pPr>
            <a:r>
              <a:rPr lang="en-US" sz="1100" b="1" dirty="0">
                <a:solidFill>
                  <a:srgbClr val="2A7A4A"/>
                </a:solidFill>
                <a:latin typeface="Calibri" pitchFamily="34" charset="0"/>
                <a:ea typeface="Calibri" pitchFamily="34" charset="-122"/>
                <a:cs typeface="Calibri" pitchFamily="34" charset="-120"/>
              </a:rPr>
              <a:t>Satisfies: Data storage</a:t>
            </a:r>
            <a:endParaRPr lang="en-US" sz="1100" dirty="0"/>
          </a:p>
        </p:txBody>
      </p:sp>
      <p:sp>
        <p:nvSpPr>
          <p:cNvPr id="20" name="Text 15"/>
          <p:cNvSpPr txBox="1"/>
          <p:nvPr/>
        </p:nvSpPr>
        <p:spPr>
          <a:xfrm>
            <a:off x="8229600" y="2075688"/>
            <a:ext cx="3200400" cy="566928"/>
          </a:xfrm>
          <a:prstGeom prst="rect">
            <a:avLst/>
          </a:prstGeom>
          <a:noFill/>
          <a:ln/>
        </p:spPr>
        <p:txBody>
          <a:bodyPr wrap="square" lIns="0" tIns="0" rIns="0" bIns="0" rtlCol="0" anchor="t"/>
          <a:lstStyle/>
          <a:p>
            <a:pPr indent="0" marL="0">
              <a:buNone/>
            </a:pPr>
            <a:r>
              <a:rPr lang="en-US" sz="1200" dirty="0">
                <a:solidFill>
                  <a:srgbClr val="3E4E3E"/>
                </a:solidFill>
                <a:latin typeface="Calibri" pitchFamily="34" charset="0"/>
                <a:ea typeface="Calibri" pitchFamily="34" charset="-122"/>
                <a:cs typeface="Calibri" pitchFamily="34" charset="-120"/>
              </a:rPr>
              <a:t>Serverless NoSQL table for all event types; on-demand capacity.</a:t>
            </a:r>
            <a:endParaRPr lang="en-US" sz="1200" dirty="0"/>
          </a:p>
        </p:txBody>
      </p:sp>
      <p:sp>
        <p:nvSpPr>
          <p:cNvPr id="21" name="Shape 16"/>
          <p:cNvSpPr/>
          <p:nvPr/>
        </p:nvSpPr>
        <p:spPr>
          <a:xfrm>
            <a:off x="548640" y="2926080"/>
            <a:ext cx="3566160" cy="1508760"/>
          </a:xfrm>
          <a:prstGeom prst="roundRect">
            <a:avLst>
              <a:gd name="adj" fmla="val 4848"/>
            </a:avLst>
          </a:prstGeom>
          <a:solidFill>
            <a:srgbClr val="FFFFFF"/>
          </a:solidFill>
          <a:ln w="12700">
            <a:solidFill>
              <a:srgbClr val="C8D5C8"/>
            </a:solidFill>
            <a:prstDash val="solid"/>
          </a:ln>
        </p:spPr>
      </p:sp>
      <p:sp>
        <p:nvSpPr>
          <p:cNvPr id="22" name="Shape 17"/>
          <p:cNvSpPr/>
          <p:nvPr/>
        </p:nvSpPr>
        <p:spPr>
          <a:xfrm>
            <a:off x="731520" y="3127248"/>
            <a:ext cx="548640" cy="548640"/>
          </a:xfrm>
          <a:prstGeom prst="roundRect">
            <a:avLst>
              <a:gd name="adj" fmla="val 13333"/>
            </a:avLst>
          </a:prstGeom>
          <a:solidFill>
            <a:srgbClr val="DD344C"/>
          </a:solidFill>
          <a:ln w="12700">
            <a:solidFill>
              <a:srgbClr val="DD344C"/>
            </a:solidFill>
            <a:prstDash val="solid"/>
          </a:ln>
        </p:spPr>
      </p:sp>
      <p:pic>
        <p:nvPicPr>
          <p:cNvPr id="23" name="Image 3" descr="preencoded.png">    </p:cNvPr>
          <p:cNvPicPr>
            <a:picLocks noChangeAspect="1"/>
          </p:cNvPicPr>
          <p:nvPr/>
        </p:nvPicPr>
        <p:blipFill>
          <a:blip r:embed="rId4"/>
          <a:stretch>
            <a:fillRect/>
          </a:stretch>
        </p:blipFill>
        <p:spPr>
          <a:xfrm>
            <a:off x="822960" y="3218688"/>
            <a:ext cx="365760" cy="365760"/>
          </a:xfrm>
          <a:prstGeom prst="rect">
            <a:avLst/>
          </a:prstGeom>
        </p:spPr>
      </p:pic>
      <p:sp>
        <p:nvSpPr>
          <p:cNvPr id="24" name="Text 18"/>
          <p:cNvSpPr txBox="1"/>
          <p:nvPr/>
        </p:nvSpPr>
        <p:spPr>
          <a:xfrm>
            <a:off x="1417320" y="3090672"/>
            <a:ext cx="2560320" cy="292608"/>
          </a:xfrm>
          <a:prstGeom prst="rect">
            <a:avLst/>
          </a:prstGeom>
          <a:noFill/>
          <a:ln/>
        </p:spPr>
        <p:txBody>
          <a:bodyPr wrap="square" lIns="0" tIns="0" rIns="0" bIns="0" rtlCol="0" anchor="ctr"/>
          <a:lstStyle/>
          <a:p>
            <a:pPr indent="0" marL="0">
              <a:buNone/>
            </a:pPr>
            <a:r>
              <a:rPr lang="en-US" sz="1500" b="1" dirty="0">
                <a:solidFill>
                  <a:srgbClr val="1B2E1B"/>
                </a:solidFill>
                <a:latin typeface="Calibri" pitchFamily="34" charset="0"/>
                <a:ea typeface="Calibri" pitchFamily="34" charset="-122"/>
                <a:cs typeface="Calibri" pitchFamily="34" charset="-120"/>
              </a:rPr>
              <a:t>Amazon Cognito</a:t>
            </a:r>
            <a:endParaRPr lang="en-US" sz="1500" dirty="0"/>
          </a:p>
        </p:txBody>
      </p:sp>
      <p:sp>
        <p:nvSpPr>
          <p:cNvPr id="25" name="Text 19"/>
          <p:cNvSpPr txBox="1"/>
          <p:nvPr/>
        </p:nvSpPr>
        <p:spPr>
          <a:xfrm>
            <a:off x="1417320" y="3383280"/>
            <a:ext cx="2560320" cy="237744"/>
          </a:xfrm>
          <a:prstGeom prst="rect">
            <a:avLst/>
          </a:prstGeom>
          <a:noFill/>
          <a:ln/>
        </p:spPr>
        <p:txBody>
          <a:bodyPr wrap="square" lIns="0" tIns="0" rIns="0" bIns="0" rtlCol="0" anchor="ctr"/>
          <a:lstStyle/>
          <a:p>
            <a:pPr indent="0" marL="0">
              <a:buNone/>
            </a:pPr>
            <a:r>
              <a:rPr lang="en-US" sz="1100" b="1" dirty="0">
                <a:solidFill>
                  <a:srgbClr val="2A7A4A"/>
                </a:solidFill>
                <a:latin typeface="Calibri" pitchFamily="34" charset="0"/>
                <a:ea typeface="Calibri" pitchFamily="34" charset="-122"/>
                <a:cs typeface="Calibri" pitchFamily="34" charset="-120"/>
              </a:rPr>
              <a:t>Satisfies: Authentication</a:t>
            </a:r>
            <a:endParaRPr lang="en-US" sz="1100" dirty="0"/>
          </a:p>
        </p:txBody>
      </p:sp>
      <p:sp>
        <p:nvSpPr>
          <p:cNvPr id="26" name="Text 20"/>
          <p:cNvSpPr txBox="1"/>
          <p:nvPr/>
        </p:nvSpPr>
        <p:spPr>
          <a:xfrm>
            <a:off x="731520" y="3767328"/>
            <a:ext cx="3200400" cy="566928"/>
          </a:xfrm>
          <a:prstGeom prst="rect">
            <a:avLst/>
          </a:prstGeom>
          <a:noFill/>
          <a:ln/>
        </p:spPr>
        <p:txBody>
          <a:bodyPr wrap="square" lIns="0" tIns="0" rIns="0" bIns="0" rtlCol="0" anchor="t"/>
          <a:lstStyle/>
          <a:p>
            <a:pPr indent="0" marL="0">
              <a:buNone/>
            </a:pPr>
            <a:r>
              <a:rPr lang="en-US" sz="1200" dirty="0">
                <a:solidFill>
                  <a:srgbClr val="3E4E3E"/>
                </a:solidFill>
                <a:latin typeface="Calibri" pitchFamily="34" charset="0"/>
                <a:ea typeface="Calibri" pitchFamily="34" charset="-122"/>
                <a:cs typeface="Calibri" pitchFamily="34" charset="-120"/>
              </a:rPr>
              <a:t>User pool with ADMIN and STAFF groups; issues JWT tokens.</a:t>
            </a:r>
            <a:endParaRPr lang="en-US" sz="1200" dirty="0"/>
          </a:p>
        </p:txBody>
      </p:sp>
      <p:sp>
        <p:nvSpPr>
          <p:cNvPr id="27" name="Shape 21"/>
          <p:cNvSpPr/>
          <p:nvPr/>
        </p:nvSpPr>
        <p:spPr>
          <a:xfrm>
            <a:off x="4297680" y="2926080"/>
            <a:ext cx="3566160" cy="1508760"/>
          </a:xfrm>
          <a:prstGeom prst="roundRect">
            <a:avLst>
              <a:gd name="adj" fmla="val 4848"/>
            </a:avLst>
          </a:prstGeom>
          <a:solidFill>
            <a:srgbClr val="FFFFFF"/>
          </a:solidFill>
          <a:ln w="12700">
            <a:solidFill>
              <a:srgbClr val="C8D5C8"/>
            </a:solidFill>
            <a:prstDash val="solid"/>
          </a:ln>
        </p:spPr>
      </p:sp>
      <p:sp>
        <p:nvSpPr>
          <p:cNvPr id="28" name="Shape 22"/>
          <p:cNvSpPr/>
          <p:nvPr/>
        </p:nvSpPr>
        <p:spPr>
          <a:xfrm>
            <a:off x="4480560" y="3127248"/>
            <a:ext cx="548640" cy="548640"/>
          </a:xfrm>
          <a:prstGeom prst="roundRect">
            <a:avLst>
              <a:gd name="adj" fmla="val 13333"/>
            </a:avLst>
          </a:prstGeom>
          <a:solidFill>
            <a:srgbClr val="7AA116"/>
          </a:solidFill>
          <a:ln w="12700">
            <a:solidFill>
              <a:srgbClr val="7AA116"/>
            </a:solidFill>
            <a:prstDash val="solid"/>
          </a:ln>
        </p:spPr>
      </p:sp>
      <p:pic>
        <p:nvPicPr>
          <p:cNvPr id="29" name="Image 4" descr="preencoded.png">    </p:cNvPr>
          <p:cNvPicPr>
            <a:picLocks noChangeAspect="1"/>
          </p:cNvPicPr>
          <p:nvPr/>
        </p:nvPicPr>
        <p:blipFill>
          <a:blip r:embed="rId5"/>
          <a:stretch>
            <a:fillRect/>
          </a:stretch>
        </p:blipFill>
        <p:spPr>
          <a:xfrm>
            <a:off x="4572000" y="3218688"/>
            <a:ext cx="365760" cy="365760"/>
          </a:xfrm>
          <a:prstGeom prst="rect">
            <a:avLst/>
          </a:prstGeom>
        </p:spPr>
      </p:pic>
      <p:sp>
        <p:nvSpPr>
          <p:cNvPr id="30" name="Text 23"/>
          <p:cNvSpPr txBox="1"/>
          <p:nvPr/>
        </p:nvSpPr>
        <p:spPr>
          <a:xfrm>
            <a:off x="5166360" y="3090672"/>
            <a:ext cx="2560320" cy="292608"/>
          </a:xfrm>
          <a:prstGeom prst="rect">
            <a:avLst/>
          </a:prstGeom>
          <a:noFill/>
          <a:ln/>
        </p:spPr>
        <p:txBody>
          <a:bodyPr wrap="square" lIns="0" tIns="0" rIns="0" bIns="0" rtlCol="0" anchor="ctr"/>
          <a:lstStyle/>
          <a:p>
            <a:pPr indent="0" marL="0">
              <a:buNone/>
            </a:pPr>
            <a:r>
              <a:rPr lang="en-US" sz="1500" b="1" dirty="0">
                <a:solidFill>
                  <a:srgbClr val="1B2E1B"/>
                </a:solidFill>
                <a:latin typeface="Calibri" pitchFamily="34" charset="0"/>
                <a:ea typeface="Calibri" pitchFamily="34" charset="-122"/>
                <a:cs typeface="Calibri" pitchFamily="34" charset="-120"/>
              </a:rPr>
              <a:t>Amazon S3</a:t>
            </a:r>
            <a:endParaRPr lang="en-US" sz="1500" dirty="0"/>
          </a:p>
        </p:txBody>
      </p:sp>
      <p:sp>
        <p:nvSpPr>
          <p:cNvPr id="31" name="Text 24"/>
          <p:cNvSpPr txBox="1"/>
          <p:nvPr/>
        </p:nvSpPr>
        <p:spPr>
          <a:xfrm>
            <a:off x="5166360" y="3383280"/>
            <a:ext cx="2560320" cy="237744"/>
          </a:xfrm>
          <a:prstGeom prst="rect">
            <a:avLst/>
          </a:prstGeom>
          <a:noFill/>
          <a:ln/>
        </p:spPr>
        <p:txBody>
          <a:bodyPr wrap="square" lIns="0" tIns="0" rIns="0" bIns="0" rtlCol="0" anchor="ctr"/>
          <a:lstStyle/>
          <a:p>
            <a:pPr indent="0" marL="0">
              <a:buNone/>
            </a:pPr>
            <a:r>
              <a:rPr lang="en-US" sz="1100" b="1" dirty="0">
                <a:solidFill>
                  <a:srgbClr val="2A7A4A"/>
                </a:solidFill>
                <a:latin typeface="Calibri" pitchFamily="34" charset="0"/>
                <a:ea typeface="Calibri" pitchFamily="34" charset="-122"/>
                <a:cs typeface="Calibri" pitchFamily="34" charset="-120"/>
              </a:rPr>
              <a:t>Satisfies: Dashboard</a:t>
            </a:r>
            <a:endParaRPr lang="en-US" sz="1100" dirty="0"/>
          </a:p>
        </p:txBody>
      </p:sp>
      <p:sp>
        <p:nvSpPr>
          <p:cNvPr id="32" name="Text 25"/>
          <p:cNvSpPr txBox="1"/>
          <p:nvPr/>
        </p:nvSpPr>
        <p:spPr>
          <a:xfrm>
            <a:off x="4480560" y="3767328"/>
            <a:ext cx="3200400" cy="566928"/>
          </a:xfrm>
          <a:prstGeom prst="rect">
            <a:avLst/>
          </a:prstGeom>
          <a:noFill/>
          <a:ln/>
        </p:spPr>
        <p:txBody>
          <a:bodyPr wrap="square" lIns="0" tIns="0" rIns="0" bIns="0" rtlCol="0" anchor="t"/>
          <a:lstStyle/>
          <a:p>
            <a:pPr indent="0" marL="0">
              <a:buNone/>
            </a:pPr>
            <a:r>
              <a:rPr lang="en-US" sz="1200" dirty="0">
                <a:solidFill>
                  <a:srgbClr val="3E4E3E"/>
                </a:solidFill>
                <a:latin typeface="Calibri" pitchFamily="34" charset="0"/>
                <a:ea typeface="Calibri" pitchFamily="34" charset="-122"/>
                <a:cs typeface="Calibri" pitchFamily="34" charset="-120"/>
              </a:rPr>
              <a:t>Hosts the static dashboard (HTML, CSS, JavaScript).</a:t>
            </a:r>
            <a:endParaRPr lang="en-US" sz="1200" dirty="0"/>
          </a:p>
        </p:txBody>
      </p:sp>
      <p:sp>
        <p:nvSpPr>
          <p:cNvPr id="33" name="Shape 26"/>
          <p:cNvSpPr/>
          <p:nvPr/>
        </p:nvSpPr>
        <p:spPr>
          <a:xfrm>
            <a:off x="8046720" y="2926080"/>
            <a:ext cx="3566160" cy="1508760"/>
          </a:xfrm>
          <a:prstGeom prst="roundRect">
            <a:avLst>
              <a:gd name="adj" fmla="val 4848"/>
            </a:avLst>
          </a:prstGeom>
          <a:solidFill>
            <a:srgbClr val="FFFFFF"/>
          </a:solidFill>
          <a:ln w="12700">
            <a:solidFill>
              <a:srgbClr val="C8D5C8"/>
            </a:solidFill>
            <a:prstDash val="solid"/>
          </a:ln>
        </p:spPr>
      </p:sp>
      <p:sp>
        <p:nvSpPr>
          <p:cNvPr id="34" name="Shape 27"/>
          <p:cNvSpPr/>
          <p:nvPr/>
        </p:nvSpPr>
        <p:spPr>
          <a:xfrm>
            <a:off x="8229600" y="3127248"/>
            <a:ext cx="548640" cy="548640"/>
          </a:xfrm>
          <a:prstGeom prst="roundRect">
            <a:avLst>
              <a:gd name="adj" fmla="val 13333"/>
            </a:avLst>
          </a:prstGeom>
          <a:solidFill>
            <a:srgbClr val="E7157B"/>
          </a:solidFill>
          <a:ln w="12700">
            <a:solidFill>
              <a:srgbClr val="E7157B"/>
            </a:solidFill>
            <a:prstDash val="solid"/>
          </a:ln>
        </p:spPr>
      </p:sp>
      <p:pic>
        <p:nvPicPr>
          <p:cNvPr id="35" name="Image 5" descr="preencoded.png">    </p:cNvPr>
          <p:cNvPicPr>
            <a:picLocks noChangeAspect="1"/>
          </p:cNvPicPr>
          <p:nvPr/>
        </p:nvPicPr>
        <p:blipFill>
          <a:blip r:embed="rId6"/>
          <a:stretch>
            <a:fillRect/>
          </a:stretch>
        </p:blipFill>
        <p:spPr>
          <a:xfrm>
            <a:off x="8321040" y="3218688"/>
            <a:ext cx="365760" cy="365760"/>
          </a:xfrm>
          <a:prstGeom prst="rect">
            <a:avLst/>
          </a:prstGeom>
        </p:spPr>
      </p:pic>
      <p:sp>
        <p:nvSpPr>
          <p:cNvPr id="36" name="Text 28"/>
          <p:cNvSpPr txBox="1"/>
          <p:nvPr/>
        </p:nvSpPr>
        <p:spPr>
          <a:xfrm>
            <a:off x="8915400" y="3090672"/>
            <a:ext cx="2560320" cy="292608"/>
          </a:xfrm>
          <a:prstGeom prst="rect">
            <a:avLst/>
          </a:prstGeom>
          <a:noFill/>
          <a:ln/>
        </p:spPr>
        <p:txBody>
          <a:bodyPr wrap="square" lIns="0" tIns="0" rIns="0" bIns="0" rtlCol="0" anchor="ctr"/>
          <a:lstStyle/>
          <a:p>
            <a:pPr indent="0" marL="0">
              <a:buNone/>
            </a:pPr>
            <a:r>
              <a:rPr lang="en-US" sz="1500" b="1" dirty="0">
                <a:solidFill>
                  <a:srgbClr val="1B2E1B"/>
                </a:solidFill>
                <a:latin typeface="Calibri" pitchFamily="34" charset="0"/>
                <a:ea typeface="Calibri" pitchFamily="34" charset="-122"/>
                <a:cs typeface="Calibri" pitchFamily="34" charset="-120"/>
              </a:rPr>
              <a:t>Amazon CloudWatch</a:t>
            </a:r>
            <a:endParaRPr lang="en-US" sz="1500" dirty="0"/>
          </a:p>
        </p:txBody>
      </p:sp>
      <p:sp>
        <p:nvSpPr>
          <p:cNvPr id="37" name="Text 29"/>
          <p:cNvSpPr txBox="1"/>
          <p:nvPr/>
        </p:nvSpPr>
        <p:spPr>
          <a:xfrm>
            <a:off x="8915400" y="3383280"/>
            <a:ext cx="2560320" cy="237744"/>
          </a:xfrm>
          <a:prstGeom prst="rect">
            <a:avLst/>
          </a:prstGeom>
          <a:noFill/>
          <a:ln/>
        </p:spPr>
        <p:txBody>
          <a:bodyPr wrap="square" lIns="0" tIns="0" rIns="0" bIns="0" rtlCol="0" anchor="ctr"/>
          <a:lstStyle/>
          <a:p>
            <a:pPr indent="0" marL="0">
              <a:buNone/>
            </a:pPr>
            <a:r>
              <a:rPr lang="en-US" sz="1100" b="1" dirty="0">
                <a:solidFill>
                  <a:srgbClr val="2A7A4A"/>
                </a:solidFill>
                <a:latin typeface="Calibri" pitchFamily="34" charset="0"/>
                <a:ea typeface="Calibri" pitchFamily="34" charset="-122"/>
                <a:cs typeface="Calibri" pitchFamily="34" charset="-120"/>
              </a:rPr>
              <a:t>Satisfies: Monitoring</a:t>
            </a:r>
            <a:endParaRPr lang="en-US" sz="1100" dirty="0"/>
          </a:p>
        </p:txBody>
      </p:sp>
      <p:sp>
        <p:nvSpPr>
          <p:cNvPr id="38" name="Text 30"/>
          <p:cNvSpPr txBox="1"/>
          <p:nvPr/>
        </p:nvSpPr>
        <p:spPr>
          <a:xfrm>
            <a:off x="8229600" y="3767328"/>
            <a:ext cx="3200400" cy="566928"/>
          </a:xfrm>
          <a:prstGeom prst="rect">
            <a:avLst/>
          </a:prstGeom>
          <a:noFill/>
          <a:ln/>
        </p:spPr>
        <p:txBody>
          <a:bodyPr wrap="square" lIns="0" tIns="0" rIns="0" bIns="0" rtlCol="0" anchor="t"/>
          <a:lstStyle/>
          <a:p>
            <a:pPr indent="0" marL="0">
              <a:buNone/>
            </a:pPr>
            <a:r>
              <a:rPr lang="en-US" sz="1200" dirty="0">
                <a:solidFill>
                  <a:srgbClr val="3E4E3E"/>
                </a:solidFill>
                <a:latin typeface="Calibri" pitchFamily="34" charset="0"/>
                <a:ea typeface="Calibri" pitchFamily="34" charset="-122"/>
                <a:cs typeface="Calibri" pitchFamily="34" charset="-120"/>
              </a:rPr>
              <a:t>Lambda logs, API error metrics and basic alarms.</a:t>
            </a:r>
            <a:endParaRPr lang="en-US" sz="1200" dirty="0"/>
          </a:p>
        </p:txBody>
      </p:sp>
      <p:sp>
        <p:nvSpPr>
          <p:cNvPr id="39" name="Shape 31"/>
          <p:cNvSpPr/>
          <p:nvPr/>
        </p:nvSpPr>
        <p:spPr>
          <a:xfrm>
            <a:off x="548640" y="4617720"/>
            <a:ext cx="3566160" cy="1508760"/>
          </a:xfrm>
          <a:prstGeom prst="roundRect">
            <a:avLst>
              <a:gd name="adj" fmla="val 4848"/>
            </a:avLst>
          </a:prstGeom>
          <a:solidFill>
            <a:srgbClr val="FFFFFF"/>
          </a:solidFill>
          <a:ln w="12700">
            <a:solidFill>
              <a:srgbClr val="C8D5C8"/>
            </a:solidFill>
            <a:prstDash val="solid"/>
          </a:ln>
        </p:spPr>
      </p:sp>
      <p:sp>
        <p:nvSpPr>
          <p:cNvPr id="40" name="Shape 32"/>
          <p:cNvSpPr/>
          <p:nvPr/>
        </p:nvSpPr>
        <p:spPr>
          <a:xfrm>
            <a:off x="731520" y="4818888"/>
            <a:ext cx="548640" cy="548640"/>
          </a:xfrm>
          <a:prstGeom prst="roundRect">
            <a:avLst>
              <a:gd name="adj" fmla="val 13333"/>
            </a:avLst>
          </a:prstGeom>
          <a:solidFill>
            <a:srgbClr val="DD344C"/>
          </a:solidFill>
          <a:ln w="12700">
            <a:solidFill>
              <a:srgbClr val="DD344C"/>
            </a:solidFill>
            <a:prstDash val="solid"/>
          </a:ln>
        </p:spPr>
      </p:sp>
      <p:pic>
        <p:nvPicPr>
          <p:cNvPr id="41" name="Image 6" descr="preencoded.png">    </p:cNvPr>
          <p:cNvPicPr>
            <a:picLocks noChangeAspect="1"/>
          </p:cNvPicPr>
          <p:nvPr/>
        </p:nvPicPr>
        <p:blipFill>
          <a:blip r:embed="rId7"/>
          <a:stretch>
            <a:fillRect/>
          </a:stretch>
        </p:blipFill>
        <p:spPr>
          <a:xfrm>
            <a:off x="822960" y="4910328"/>
            <a:ext cx="365760" cy="365760"/>
          </a:xfrm>
          <a:prstGeom prst="rect">
            <a:avLst/>
          </a:prstGeom>
        </p:spPr>
      </p:pic>
      <p:sp>
        <p:nvSpPr>
          <p:cNvPr id="42" name="Text 33"/>
          <p:cNvSpPr txBox="1"/>
          <p:nvPr/>
        </p:nvSpPr>
        <p:spPr>
          <a:xfrm>
            <a:off x="1417320" y="4782312"/>
            <a:ext cx="2560320" cy="292608"/>
          </a:xfrm>
          <a:prstGeom prst="rect">
            <a:avLst/>
          </a:prstGeom>
          <a:noFill/>
          <a:ln/>
        </p:spPr>
        <p:txBody>
          <a:bodyPr wrap="square" lIns="0" tIns="0" rIns="0" bIns="0" rtlCol="0" anchor="ctr"/>
          <a:lstStyle/>
          <a:p>
            <a:pPr indent="0" marL="0">
              <a:buNone/>
            </a:pPr>
            <a:r>
              <a:rPr lang="en-US" sz="1500" b="1" dirty="0">
                <a:solidFill>
                  <a:srgbClr val="1B2E1B"/>
                </a:solidFill>
                <a:latin typeface="Calibri" pitchFamily="34" charset="0"/>
                <a:ea typeface="Calibri" pitchFamily="34" charset="-122"/>
                <a:cs typeface="Calibri" pitchFamily="34" charset="-120"/>
              </a:rPr>
              <a:t>AWS IAM</a:t>
            </a:r>
            <a:endParaRPr lang="en-US" sz="1500" dirty="0"/>
          </a:p>
        </p:txBody>
      </p:sp>
      <p:sp>
        <p:nvSpPr>
          <p:cNvPr id="43" name="Text 34"/>
          <p:cNvSpPr txBox="1"/>
          <p:nvPr/>
        </p:nvSpPr>
        <p:spPr>
          <a:xfrm>
            <a:off x="1417320" y="5074920"/>
            <a:ext cx="2560320" cy="237744"/>
          </a:xfrm>
          <a:prstGeom prst="rect">
            <a:avLst/>
          </a:prstGeom>
          <a:noFill/>
          <a:ln/>
        </p:spPr>
        <p:txBody>
          <a:bodyPr wrap="square" lIns="0" tIns="0" rIns="0" bIns="0" rtlCol="0" anchor="ctr"/>
          <a:lstStyle/>
          <a:p>
            <a:pPr indent="0" marL="0">
              <a:buNone/>
            </a:pPr>
            <a:r>
              <a:rPr lang="en-US" sz="1100" b="1" dirty="0">
                <a:solidFill>
                  <a:srgbClr val="2A7A4A"/>
                </a:solidFill>
                <a:latin typeface="Calibri" pitchFamily="34" charset="0"/>
                <a:ea typeface="Calibri" pitchFamily="34" charset="-122"/>
                <a:cs typeface="Calibri" pitchFamily="34" charset="-120"/>
              </a:rPr>
              <a:t>Satisfies: Security</a:t>
            </a:r>
            <a:endParaRPr lang="en-US" sz="1100" dirty="0"/>
          </a:p>
        </p:txBody>
      </p:sp>
      <p:sp>
        <p:nvSpPr>
          <p:cNvPr id="44" name="Text 35"/>
          <p:cNvSpPr txBox="1"/>
          <p:nvPr/>
        </p:nvSpPr>
        <p:spPr>
          <a:xfrm>
            <a:off x="731520" y="5458968"/>
            <a:ext cx="3200400" cy="566928"/>
          </a:xfrm>
          <a:prstGeom prst="rect">
            <a:avLst/>
          </a:prstGeom>
          <a:noFill/>
          <a:ln/>
        </p:spPr>
        <p:txBody>
          <a:bodyPr wrap="square" lIns="0" tIns="0" rIns="0" bIns="0" rtlCol="0" anchor="t"/>
          <a:lstStyle/>
          <a:p>
            <a:pPr indent="0" marL="0">
              <a:buNone/>
            </a:pPr>
            <a:r>
              <a:rPr lang="en-US" sz="1200" dirty="0">
                <a:solidFill>
                  <a:srgbClr val="3E4E3E"/>
                </a:solidFill>
                <a:latin typeface="Calibri" pitchFamily="34" charset="0"/>
                <a:ea typeface="Calibri" pitchFamily="34" charset="-122"/>
                <a:cs typeface="Calibri" pitchFamily="34" charset="-120"/>
              </a:rPr>
              <a:t>One least-privilege execution role per Lambda function.</a:t>
            </a:r>
            <a:endParaRPr lang="en-US" sz="1200" dirty="0"/>
          </a:p>
        </p:txBody>
      </p:sp>
      <p:sp>
        <p:nvSpPr>
          <p:cNvPr id="45" name="Shape 36"/>
          <p:cNvSpPr/>
          <p:nvPr/>
        </p:nvSpPr>
        <p:spPr>
          <a:xfrm>
            <a:off x="4297680" y="4617720"/>
            <a:ext cx="3566160" cy="1508760"/>
          </a:xfrm>
          <a:prstGeom prst="roundRect">
            <a:avLst>
              <a:gd name="adj" fmla="val 4848"/>
            </a:avLst>
          </a:prstGeom>
          <a:solidFill>
            <a:srgbClr val="FFFFFF"/>
          </a:solidFill>
          <a:ln w="12700">
            <a:solidFill>
              <a:srgbClr val="C8D5C8"/>
            </a:solidFill>
            <a:prstDash val="solid"/>
          </a:ln>
        </p:spPr>
      </p:sp>
      <p:sp>
        <p:nvSpPr>
          <p:cNvPr id="46" name="Shape 37"/>
          <p:cNvSpPr/>
          <p:nvPr/>
        </p:nvSpPr>
        <p:spPr>
          <a:xfrm>
            <a:off x="4480560" y="4818888"/>
            <a:ext cx="548640" cy="548640"/>
          </a:xfrm>
          <a:prstGeom prst="roundRect">
            <a:avLst>
              <a:gd name="adj" fmla="val 13333"/>
            </a:avLst>
          </a:prstGeom>
          <a:solidFill>
            <a:srgbClr val="7AA116"/>
          </a:solidFill>
          <a:ln w="12700">
            <a:solidFill>
              <a:srgbClr val="7AA116"/>
            </a:solidFill>
            <a:prstDash val="solid"/>
          </a:ln>
        </p:spPr>
      </p:sp>
      <p:pic>
        <p:nvPicPr>
          <p:cNvPr id="47" name="Image 7" descr="preencoded.png">    </p:cNvPr>
          <p:cNvPicPr>
            <a:picLocks noChangeAspect="1"/>
          </p:cNvPicPr>
          <p:nvPr/>
        </p:nvPicPr>
        <p:blipFill>
          <a:blip r:embed="rId8"/>
          <a:stretch>
            <a:fillRect/>
          </a:stretch>
        </p:blipFill>
        <p:spPr>
          <a:xfrm>
            <a:off x="4572000" y="4910328"/>
            <a:ext cx="365760" cy="365760"/>
          </a:xfrm>
          <a:prstGeom prst="rect">
            <a:avLst/>
          </a:prstGeom>
        </p:spPr>
      </p:pic>
      <p:sp>
        <p:nvSpPr>
          <p:cNvPr id="48" name="Text 38"/>
          <p:cNvSpPr txBox="1"/>
          <p:nvPr/>
        </p:nvSpPr>
        <p:spPr>
          <a:xfrm>
            <a:off x="5166360" y="4782312"/>
            <a:ext cx="2560320" cy="292608"/>
          </a:xfrm>
          <a:prstGeom prst="rect">
            <a:avLst/>
          </a:prstGeom>
          <a:noFill/>
          <a:ln/>
        </p:spPr>
        <p:txBody>
          <a:bodyPr wrap="square" lIns="0" tIns="0" rIns="0" bIns="0" rtlCol="0" anchor="ctr"/>
          <a:lstStyle/>
          <a:p>
            <a:pPr indent="0" marL="0">
              <a:buNone/>
            </a:pPr>
            <a:r>
              <a:rPr lang="en-US" sz="1500" b="1" dirty="0">
                <a:solidFill>
                  <a:srgbClr val="1B2E1B"/>
                </a:solidFill>
                <a:latin typeface="Calibri" pitchFamily="34" charset="0"/>
                <a:ea typeface="Calibri" pitchFamily="34" charset="-122"/>
                <a:cs typeface="Calibri" pitchFamily="34" charset="-120"/>
              </a:rPr>
              <a:t>AWS Budgets</a:t>
            </a:r>
            <a:endParaRPr lang="en-US" sz="1500" dirty="0"/>
          </a:p>
        </p:txBody>
      </p:sp>
      <p:sp>
        <p:nvSpPr>
          <p:cNvPr id="49" name="Text 39"/>
          <p:cNvSpPr txBox="1"/>
          <p:nvPr/>
        </p:nvSpPr>
        <p:spPr>
          <a:xfrm>
            <a:off x="5166360" y="5074920"/>
            <a:ext cx="2560320" cy="237744"/>
          </a:xfrm>
          <a:prstGeom prst="rect">
            <a:avLst/>
          </a:prstGeom>
          <a:noFill/>
          <a:ln/>
        </p:spPr>
        <p:txBody>
          <a:bodyPr wrap="square" lIns="0" tIns="0" rIns="0" bIns="0" rtlCol="0" anchor="ctr"/>
          <a:lstStyle/>
          <a:p>
            <a:pPr indent="0" marL="0">
              <a:buNone/>
            </a:pPr>
            <a:r>
              <a:rPr lang="en-US" sz="1100" b="1" dirty="0">
                <a:solidFill>
                  <a:srgbClr val="2A7A4A"/>
                </a:solidFill>
                <a:latin typeface="Calibri" pitchFamily="34" charset="0"/>
                <a:ea typeface="Calibri" pitchFamily="34" charset="-122"/>
                <a:cs typeface="Calibri" pitchFamily="34" charset="-120"/>
              </a:rPr>
              <a:t>Satisfies: Cost control</a:t>
            </a:r>
            <a:endParaRPr lang="en-US" sz="1100" dirty="0"/>
          </a:p>
        </p:txBody>
      </p:sp>
      <p:sp>
        <p:nvSpPr>
          <p:cNvPr id="50" name="Text 40"/>
          <p:cNvSpPr txBox="1"/>
          <p:nvPr/>
        </p:nvSpPr>
        <p:spPr>
          <a:xfrm>
            <a:off x="4480560" y="5458968"/>
            <a:ext cx="3200400" cy="566928"/>
          </a:xfrm>
          <a:prstGeom prst="rect">
            <a:avLst/>
          </a:prstGeom>
          <a:noFill/>
          <a:ln/>
        </p:spPr>
        <p:txBody>
          <a:bodyPr wrap="square" lIns="0" tIns="0" rIns="0" bIns="0" rtlCol="0" anchor="t"/>
          <a:lstStyle/>
          <a:p>
            <a:pPr indent="0" marL="0">
              <a:buNone/>
            </a:pPr>
            <a:r>
              <a:rPr lang="en-US" sz="1200" dirty="0">
                <a:solidFill>
                  <a:srgbClr val="3E4E3E"/>
                </a:solidFill>
                <a:latin typeface="Calibri" pitchFamily="34" charset="0"/>
                <a:ea typeface="Calibri" pitchFamily="34" charset="-122"/>
                <a:cs typeface="Calibri" pitchFamily="34" charset="-120"/>
              </a:rPr>
              <a:t>Email alert if monthly spend passes a set threshold.</a:t>
            </a:r>
            <a:endParaRPr lang="en-US" sz="1200" dirty="0"/>
          </a:p>
        </p:txBody>
      </p:sp>
      <p:sp>
        <p:nvSpPr>
          <p:cNvPr id="51" name="Shape 41"/>
          <p:cNvSpPr/>
          <p:nvPr/>
        </p:nvSpPr>
        <p:spPr>
          <a:xfrm>
            <a:off x="8046720" y="4617720"/>
            <a:ext cx="3566160" cy="1508760"/>
          </a:xfrm>
          <a:prstGeom prst="roundRect">
            <a:avLst>
              <a:gd name="adj" fmla="val 4848"/>
            </a:avLst>
          </a:prstGeom>
          <a:solidFill>
            <a:srgbClr val="FFFFFF"/>
          </a:solidFill>
          <a:ln w="12700">
            <a:solidFill>
              <a:srgbClr val="C8D5C8"/>
            </a:solidFill>
            <a:prstDash val="solid"/>
          </a:ln>
        </p:spPr>
      </p:sp>
      <p:sp>
        <p:nvSpPr>
          <p:cNvPr id="52" name="Shape 42"/>
          <p:cNvSpPr/>
          <p:nvPr/>
        </p:nvSpPr>
        <p:spPr>
          <a:xfrm>
            <a:off x="8229600" y="4818888"/>
            <a:ext cx="548640" cy="548640"/>
          </a:xfrm>
          <a:prstGeom prst="roundRect">
            <a:avLst>
              <a:gd name="adj" fmla="val 13333"/>
            </a:avLst>
          </a:prstGeom>
          <a:solidFill>
            <a:srgbClr val="7B42BC"/>
          </a:solidFill>
          <a:ln w="12700">
            <a:solidFill>
              <a:srgbClr val="7B42BC"/>
            </a:solidFill>
            <a:prstDash val="solid"/>
          </a:ln>
        </p:spPr>
      </p:sp>
      <p:pic>
        <p:nvPicPr>
          <p:cNvPr id="53" name="Image 8" descr="preencoded.png">    </p:cNvPr>
          <p:cNvPicPr>
            <a:picLocks noChangeAspect="1"/>
          </p:cNvPicPr>
          <p:nvPr/>
        </p:nvPicPr>
        <p:blipFill>
          <a:blip r:embed="rId9"/>
          <a:stretch>
            <a:fillRect/>
          </a:stretch>
        </p:blipFill>
        <p:spPr>
          <a:xfrm>
            <a:off x="8321040" y="4910328"/>
            <a:ext cx="365760" cy="365760"/>
          </a:xfrm>
          <a:prstGeom prst="rect">
            <a:avLst/>
          </a:prstGeom>
        </p:spPr>
      </p:pic>
      <p:sp>
        <p:nvSpPr>
          <p:cNvPr id="54" name="Text 43"/>
          <p:cNvSpPr txBox="1"/>
          <p:nvPr/>
        </p:nvSpPr>
        <p:spPr>
          <a:xfrm>
            <a:off x="8915400" y="4782312"/>
            <a:ext cx="2560320" cy="292608"/>
          </a:xfrm>
          <a:prstGeom prst="rect">
            <a:avLst/>
          </a:prstGeom>
          <a:noFill/>
          <a:ln/>
        </p:spPr>
        <p:txBody>
          <a:bodyPr wrap="square" lIns="0" tIns="0" rIns="0" bIns="0" rtlCol="0" anchor="ctr"/>
          <a:lstStyle/>
          <a:p>
            <a:pPr indent="0" marL="0">
              <a:buNone/>
            </a:pPr>
            <a:r>
              <a:rPr lang="en-US" sz="1500" b="1" dirty="0">
                <a:solidFill>
                  <a:srgbClr val="1B2E1B"/>
                </a:solidFill>
                <a:latin typeface="Calibri" pitchFamily="34" charset="0"/>
                <a:ea typeface="Calibri" pitchFamily="34" charset="-122"/>
                <a:cs typeface="Calibri" pitchFamily="34" charset="-120"/>
              </a:rPr>
              <a:t>Terraform</a:t>
            </a:r>
            <a:endParaRPr lang="en-US" sz="1500" dirty="0"/>
          </a:p>
        </p:txBody>
      </p:sp>
      <p:sp>
        <p:nvSpPr>
          <p:cNvPr id="55" name="Text 44"/>
          <p:cNvSpPr txBox="1"/>
          <p:nvPr/>
        </p:nvSpPr>
        <p:spPr>
          <a:xfrm>
            <a:off x="8915400" y="5074920"/>
            <a:ext cx="2560320" cy="237744"/>
          </a:xfrm>
          <a:prstGeom prst="rect">
            <a:avLst/>
          </a:prstGeom>
          <a:noFill/>
          <a:ln/>
        </p:spPr>
        <p:txBody>
          <a:bodyPr wrap="square" lIns="0" tIns="0" rIns="0" bIns="0" rtlCol="0" anchor="ctr"/>
          <a:lstStyle/>
          <a:p>
            <a:pPr indent="0" marL="0">
              <a:buNone/>
            </a:pPr>
            <a:r>
              <a:rPr lang="en-US" sz="1100" b="1" dirty="0">
                <a:solidFill>
                  <a:srgbClr val="2A7A4A"/>
                </a:solidFill>
                <a:latin typeface="Calibri" pitchFamily="34" charset="0"/>
                <a:ea typeface="Calibri" pitchFamily="34" charset="-122"/>
                <a:cs typeface="Calibri" pitchFamily="34" charset="-120"/>
              </a:rPr>
              <a:t>Satisfies: IaC (optional)</a:t>
            </a:r>
            <a:endParaRPr lang="en-US" sz="1100" dirty="0"/>
          </a:p>
        </p:txBody>
      </p:sp>
      <p:sp>
        <p:nvSpPr>
          <p:cNvPr id="56" name="Text 45"/>
          <p:cNvSpPr txBox="1"/>
          <p:nvPr/>
        </p:nvSpPr>
        <p:spPr>
          <a:xfrm>
            <a:off x="8229600" y="5458968"/>
            <a:ext cx="3200400" cy="566928"/>
          </a:xfrm>
          <a:prstGeom prst="rect">
            <a:avLst/>
          </a:prstGeom>
          <a:noFill/>
          <a:ln/>
        </p:spPr>
        <p:txBody>
          <a:bodyPr wrap="square" lIns="0" tIns="0" rIns="0" bIns="0" rtlCol="0" anchor="t"/>
          <a:lstStyle/>
          <a:p>
            <a:pPr indent="0" marL="0">
              <a:buNone/>
            </a:pPr>
            <a:r>
              <a:rPr lang="en-US" sz="1200" dirty="0">
                <a:solidFill>
                  <a:srgbClr val="3E4E3E"/>
                </a:solidFill>
                <a:latin typeface="Calibri" pitchFamily="34" charset="0"/>
                <a:ea typeface="Calibri" pitchFamily="34" charset="-122"/>
                <a:cs typeface="Calibri" pitchFamily="34" charset="-120"/>
              </a:rPr>
              <a:t>Declares every resource as code; one command to deploy or destroy.</a:t>
            </a:r>
            <a:endParaRPr lang="en-US" sz="12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5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3400" b="1" dirty="0">
                <a:solidFill>
                  <a:srgbClr val="2A7A4A"/>
                </a:solidFill>
                <a:latin typeface="Cambria" pitchFamily="34" charset="0"/>
                <a:ea typeface="Cambria" pitchFamily="34" charset="-122"/>
                <a:cs typeface="Cambria" pitchFamily="34" charset="-120"/>
              </a:rPr>
              <a:t>Event lifecycle: from sensor to dashboard</a:t>
            </a:r>
            <a:endParaRPr lang="en-US" sz="3400" dirty="0"/>
          </a:p>
        </p:txBody>
      </p:sp>
      <p:sp>
        <p:nvSpPr>
          <p:cNvPr id="3" name="Shape 1"/>
          <p:cNvSpPr/>
          <p:nvPr/>
        </p:nvSpPr>
        <p:spPr>
          <a:xfrm>
            <a:off x="548640" y="1325880"/>
            <a:ext cx="1920240" cy="2240280"/>
          </a:xfrm>
          <a:prstGeom prst="roundRect">
            <a:avLst>
              <a:gd name="adj" fmla="val 3810"/>
            </a:avLst>
          </a:prstGeom>
          <a:solidFill>
            <a:srgbClr val="FFFFFF"/>
          </a:solidFill>
          <a:ln w="12700">
            <a:solidFill>
              <a:srgbClr val="C8D5C8"/>
            </a:solidFill>
            <a:prstDash val="solid"/>
          </a:ln>
        </p:spPr>
      </p:sp>
      <p:sp>
        <p:nvSpPr>
          <p:cNvPr id="4" name="Shape 2"/>
          <p:cNvSpPr/>
          <p:nvPr/>
        </p:nvSpPr>
        <p:spPr>
          <a:xfrm>
            <a:off x="1188720" y="1554480"/>
            <a:ext cx="640080" cy="640080"/>
          </a:xfrm>
          <a:prstGeom prst="ellipse">
            <a:avLst/>
          </a:prstGeom>
          <a:solidFill>
            <a:srgbClr val="2A4A6A"/>
          </a:solidFill>
          <a:ln w="12700">
            <a:solidFill>
              <a:srgbClr val="2A4A6A"/>
            </a:solidFill>
            <a:prstDash val="solid"/>
          </a:ln>
        </p:spPr>
      </p:sp>
      <p:pic>
        <p:nvPicPr>
          <p:cNvPr id="5" name="Image 0" descr="preencoded.png">    </p:cNvPr>
          <p:cNvPicPr>
            <a:picLocks noChangeAspect="1"/>
          </p:cNvPicPr>
          <p:nvPr/>
        </p:nvPicPr>
        <p:blipFill>
          <a:blip r:embed="rId1"/>
          <a:stretch>
            <a:fillRect/>
          </a:stretch>
        </p:blipFill>
        <p:spPr>
          <a:xfrm>
            <a:off x="1325880" y="1691640"/>
            <a:ext cx="365760" cy="365760"/>
          </a:xfrm>
          <a:prstGeom prst="rect">
            <a:avLst/>
          </a:prstGeom>
        </p:spPr>
      </p:pic>
      <p:sp>
        <p:nvSpPr>
          <p:cNvPr id="6" name="Shape 3"/>
          <p:cNvSpPr/>
          <p:nvPr/>
        </p:nvSpPr>
        <p:spPr>
          <a:xfrm>
            <a:off x="1792224" y="1481328"/>
            <a:ext cx="256032" cy="237744"/>
          </a:xfrm>
          <a:prstGeom prst="roundRect">
            <a:avLst>
              <a:gd name="adj" fmla="val 19231"/>
            </a:avLst>
          </a:prstGeom>
          <a:solidFill>
            <a:srgbClr val="1168B8"/>
          </a:solidFill>
          <a:ln w="12700">
            <a:solidFill>
              <a:srgbClr val="FFFFFF"/>
            </a:solidFill>
            <a:prstDash val="solid"/>
          </a:ln>
        </p:spPr>
      </p:sp>
      <p:sp>
        <p:nvSpPr>
          <p:cNvPr id="7" name="Text 4"/>
          <p:cNvSpPr txBox="1"/>
          <p:nvPr/>
        </p:nvSpPr>
        <p:spPr>
          <a:xfrm>
            <a:off x="1792224" y="1481328"/>
            <a:ext cx="256032"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8" name="Text 5"/>
          <p:cNvSpPr txBox="1"/>
          <p:nvPr/>
        </p:nvSpPr>
        <p:spPr>
          <a:xfrm>
            <a:off x="640080" y="2331720"/>
            <a:ext cx="1737360" cy="320040"/>
          </a:xfrm>
          <a:prstGeom prst="rect">
            <a:avLst/>
          </a:prstGeom>
          <a:noFill/>
          <a:ln/>
        </p:spPr>
        <p:txBody>
          <a:bodyPr wrap="square" lIns="0" tIns="0" rIns="0" bIns="0" rtlCol="0" anchor="ctr"/>
          <a:lstStyle/>
          <a:p>
            <a:pPr algn="ctr" indent="0" marL="0">
              <a:buNone/>
            </a:pPr>
            <a:r>
              <a:rPr lang="en-US" sz="1500" b="1" dirty="0">
                <a:solidFill>
                  <a:srgbClr val="1B2E1B"/>
                </a:solidFill>
                <a:latin typeface="Calibri" pitchFamily="34" charset="0"/>
                <a:ea typeface="Calibri" pitchFamily="34" charset="-122"/>
                <a:cs typeface="Calibri" pitchFamily="34" charset="-120"/>
              </a:rPr>
              <a:t>Simulator</a:t>
            </a:r>
            <a:endParaRPr lang="en-US" sz="1500" dirty="0"/>
          </a:p>
        </p:txBody>
      </p:sp>
      <p:sp>
        <p:nvSpPr>
          <p:cNvPr id="9" name="Text 6"/>
          <p:cNvSpPr txBox="1"/>
          <p:nvPr/>
        </p:nvSpPr>
        <p:spPr>
          <a:xfrm>
            <a:off x="685800" y="2697480"/>
            <a:ext cx="1645920" cy="1097280"/>
          </a:xfrm>
          <a:prstGeom prst="rect">
            <a:avLst/>
          </a:prstGeom>
          <a:noFill/>
          <a:ln/>
        </p:spPr>
        <p:txBody>
          <a:bodyPr wrap="square" lIns="0" tIns="0" rIns="0" bIns="0" rtlCol="0" anchor="t"/>
          <a:lstStyle/>
          <a:p>
            <a:pPr algn="ctr" indent="0" marL="0">
              <a:buNone/>
            </a:pPr>
            <a:r>
              <a:rPr lang="en-US" sz="1200" dirty="0">
                <a:solidFill>
                  <a:srgbClr val="3E4E3E"/>
                </a:solidFill>
                <a:latin typeface="Calibri" pitchFamily="34" charset="0"/>
                <a:ea typeface="Calibri" pitchFamily="34" charset="-122"/>
                <a:cs typeface="Calibri" pitchFamily="34" charset="-120"/>
              </a:rPr>
              <a:t>Generates a JSON campus event every N seconds</a:t>
            </a:r>
            <a:endParaRPr lang="en-US" sz="1200" dirty="0"/>
          </a:p>
        </p:txBody>
      </p:sp>
      <p:sp>
        <p:nvSpPr>
          <p:cNvPr id="10" name="Shape 7"/>
          <p:cNvSpPr/>
          <p:nvPr/>
        </p:nvSpPr>
        <p:spPr>
          <a:xfrm>
            <a:off x="2487168" y="2468880"/>
            <a:ext cx="329184" cy="0"/>
          </a:xfrm>
          <a:prstGeom prst="line">
            <a:avLst/>
          </a:prstGeom>
          <a:noFill/>
          <a:ln w="19050">
            <a:solidFill>
              <a:srgbClr val="5E6E5E"/>
            </a:solidFill>
            <a:prstDash val="solid"/>
            <a:tailEnd type="triangle"/>
          </a:ln>
        </p:spPr>
      </p:sp>
      <p:sp>
        <p:nvSpPr>
          <p:cNvPr id="11" name="Shape 8"/>
          <p:cNvSpPr/>
          <p:nvPr/>
        </p:nvSpPr>
        <p:spPr>
          <a:xfrm>
            <a:off x="2834640" y="1325880"/>
            <a:ext cx="1920240" cy="2240280"/>
          </a:xfrm>
          <a:prstGeom prst="roundRect">
            <a:avLst>
              <a:gd name="adj" fmla="val 3810"/>
            </a:avLst>
          </a:prstGeom>
          <a:solidFill>
            <a:srgbClr val="FFFFFF"/>
          </a:solidFill>
          <a:ln w="12700">
            <a:solidFill>
              <a:srgbClr val="C8D5C8"/>
            </a:solidFill>
            <a:prstDash val="solid"/>
          </a:ln>
        </p:spPr>
      </p:sp>
      <p:sp>
        <p:nvSpPr>
          <p:cNvPr id="12" name="Shape 9"/>
          <p:cNvSpPr/>
          <p:nvPr/>
        </p:nvSpPr>
        <p:spPr>
          <a:xfrm>
            <a:off x="3474720" y="1554480"/>
            <a:ext cx="640080" cy="640080"/>
          </a:xfrm>
          <a:prstGeom prst="ellipse">
            <a:avLst/>
          </a:prstGeom>
          <a:solidFill>
            <a:srgbClr val="E7157B"/>
          </a:solidFill>
          <a:ln w="12700">
            <a:solidFill>
              <a:srgbClr val="E7157B"/>
            </a:solidFill>
            <a:prstDash val="solid"/>
          </a:ln>
        </p:spPr>
      </p:sp>
      <p:pic>
        <p:nvPicPr>
          <p:cNvPr id="13" name="Image 1" descr="preencoded.png">    </p:cNvPr>
          <p:cNvPicPr>
            <a:picLocks noChangeAspect="1"/>
          </p:cNvPicPr>
          <p:nvPr/>
        </p:nvPicPr>
        <p:blipFill>
          <a:blip r:embed="rId2"/>
          <a:stretch>
            <a:fillRect/>
          </a:stretch>
        </p:blipFill>
        <p:spPr>
          <a:xfrm>
            <a:off x="3611880" y="1691640"/>
            <a:ext cx="365760" cy="365760"/>
          </a:xfrm>
          <a:prstGeom prst="rect">
            <a:avLst/>
          </a:prstGeom>
        </p:spPr>
      </p:pic>
      <p:sp>
        <p:nvSpPr>
          <p:cNvPr id="14" name="Shape 10"/>
          <p:cNvSpPr/>
          <p:nvPr/>
        </p:nvSpPr>
        <p:spPr>
          <a:xfrm>
            <a:off x="4078224" y="1481328"/>
            <a:ext cx="256032" cy="237744"/>
          </a:xfrm>
          <a:prstGeom prst="roundRect">
            <a:avLst>
              <a:gd name="adj" fmla="val 19231"/>
            </a:avLst>
          </a:prstGeom>
          <a:solidFill>
            <a:srgbClr val="1168B8"/>
          </a:solidFill>
          <a:ln w="12700">
            <a:solidFill>
              <a:srgbClr val="FFFFFF"/>
            </a:solidFill>
            <a:prstDash val="solid"/>
          </a:ln>
        </p:spPr>
      </p:sp>
      <p:sp>
        <p:nvSpPr>
          <p:cNvPr id="15" name="Text 11"/>
          <p:cNvSpPr txBox="1"/>
          <p:nvPr/>
        </p:nvSpPr>
        <p:spPr>
          <a:xfrm>
            <a:off x="4078224" y="1481328"/>
            <a:ext cx="256032"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6" name="Text 12"/>
          <p:cNvSpPr txBox="1"/>
          <p:nvPr/>
        </p:nvSpPr>
        <p:spPr>
          <a:xfrm>
            <a:off x="2926080" y="2331720"/>
            <a:ext cx="1737360" cy="320040"/>
          </a:xfrm>
          <a:prstGeom prst="rect">
            <a:avLst/>
          </a:prstGeom>
          <a:noFill/>
          <a:ln/>
        </p:spPr>
        <p:txBody>
          <a:bodyPr wrap="square" lIns="0" tIns="0" rIns="0" bIns="0" rtlCol="0" anchor="ctr"/>
          <a:lstStyle/>
          <a:p>
            <a:pPr algn="ctr" indent="0" marL="0">
              <a:buNone/>
            </a:pPr>
            <a:r>
              <a:rPr lang="en-US" sz="1500" b="1" dirty="0">
                <a:solidFill>
                  <a:srgbClr val="1B2E1B"/>
                </a:solidFill>
                <a:latin typeface="Calibri" pitchFamily="34" charset="0"/>
                <a:ea typeface="Calibri" pitchFamily="34" charset="-122"/>
                <a:cs typeface="Calibri" pitchFamily="34" charset="-120"/>
              </a:rPr>
              <a:t>API Gateway</a:t>
            </a:r>
            <a:endParaRPr lang="en-US" sz="1500" dirty="0"/>
          </a:p>
        </p:txBody>
      </p:sp>
      <p:sp>
        <p:nvSpPr>
          <p:cNvPr id="17" name="Text 13"/>
          <p:cNvSpPr txBox="1"/>
          <p:nvPr/>
        </p:nvSpPr>
        <p:spPr>
          <a:xfrm>
            <a:off x="2971800" y="2697480"/>
            <a:ext cx="1645920" cy="1097280"/>
          </a:xfrm>
          <a:prstGeom prst="rect">
            <a:avLst/>
          </a:prstGeom>
          <a:noFill/>
          <a:ln/>
        </p:spPr>
        <p:txBody>
          <a:bodyPr wrap="square" lIns="0" tIns="0" rIns="0" bIns="0" rtlCol="0" anchor="t"/>
          <a:lstStyle/>
          <a:p>
            <a:pPr algn="ctr" indent="0" marL="0">
              <a:buNone/>
            </a:pPr>
            <a:r>
              <a:rPr lang="en-US" sz="1200" dirty="0">
                <a:solidFill>
                  <a:srgbClr val="3E4E3E"/>
                </a:solidFill>
                <a:latin typeface="Calibri" pitchFamily="34" charset="0"/>
                <a:ea typeface="Calibri" pitchFamily="34" charset="-122"/>
                <a:cs typeface="Calibri" pitchFamily="34" charset="-120"/>
              </a:rPr>
              <a:t>Checks the JWT and routes the request</a:t>
            </a:r>
            <a:endParaRPr lang="en-US" sz="1200" dirty="0"/>
          </a:p>
        </p:txBody>
      </p:sp>
      <p:sp>
        <p:nvSpPr>
          <p:cNvPr id="18" name="Shape 14"/>
          <p:cNvSpPr/>
          <p:nvPr/>
        </p:nvSpPr>
        <p:spPr>
          <a:xfrm>
            <a:off x="4773168" y="2468880"/>
            <a:ext cx="329184" cy="0"/>
          </a:xfrm>
          <a:prstGeom prst="line">
            <a:avLst/>
          </a:prstGeom>
          <a:noFill/>
          <a:ln w="19050">
            <a:solidFill>
              <a:srgbClr val="5E6E5E"/>
            </a:solidFill>
            <a:prstDash val="solid"/>
            <a:tailEnd type="triangle"/>
          </a:ln>
        </p:spPr>
      </p:sp>
      <p:sp>
        <p:nvSpPr>
          <p:cNvPr id="19" name="Shape 15"/>
          <p:cNvSpPr/>
          <p:nvPr/>
        </p:nvSpPr>
        <p:spPr>
          <a:xfrm>
            <a:off x="5120640" y="1325880"/>
            <a:ext cx="1920240" cy="2240280"/>
          </a:xfrm>
          <a:prstGeom prst="roundRect">
            <a:avLst>
              <a:gd name="adj" fmla="val 3810"/>
            </a:avLst>
          </a:prstGeom>
          <a:solidFill>
            <a:srgbClr val="FFFFFF"/>
          </a:solidFill>
          <a:ln w="12700">
            <a:solidFill>
              <a:srgbClr val="C8D5C8"/>
            </a:solidFill>
            <a:prstDash val="solid"/>
          </a:ln>
        </p:spPr>
      </p:sp>
      <p:sp>
        <p:nvSpPr>
          <p:cNvPr id="20" name="Shape 16"/>
          <p:cNvSpPr/>
          <p:nvPr/>
        </p:nvSpPr>
        <p:spPr>
          <a:xfrm>
            <a:off x="5760720" y="1554480"/>
            <a:ext cx="640080" cy="640080"/>
          </a:xfrm>
          <a:prstGeom prst="ellipse">
            <a:avLst/>
          </a:prstGeom>
          <a:solidFill>
            <a:srgbClr val="ED7100"/>
          </a:solidFill>
          <a:ln w="12700">
            <a:solidFill>
              <a:srgbClr val="ED7100"/>
            </a:solidFill>
            <a:prstDash val="solid"/>
          </a:ln>
        </p:spPr>
      </p:sp>
      <p:pic>
        <p:nvPicPr>
          <p:cNvPr id="21" name="Image 2" descr="preencoded.png">    </p:cNvPr>
          <p:cNvPicPr>
            <a:picLocks noChangeAspect="1"/>
          </p:cNvPicPr>
          <p:nvPr/>
        </p:nvPicPr>
        <p:blipFill>
          <a:blip r:embed="rId3"/>
          <a:stretch>
            <a:fillRect/>
          </a:stretch>
        </p:blipFill>
        <p:spPr>
          <a:xfrm>
            <a:off x="5897880" y="1691640"/>
            <a:ext cx="365760" cy="365760"/>
          </a:xfrm>
          <a:prstGeom prst="rect">
            <a:avLst/>
          </a:prstGeom>
        </p:spPr>
      </p:pic>
      <p:sp>
        <p:nvSpPr>
          <p:cNvPr id="22" name="Shape 17"/>
          <p:cNvSpPr/>
          <p:nvPr/>
        </p:nvSpPr>
        <p:spPr>
          <a:xfrm>
            <a:off x="6364224" y="1481328"/>
            <a:ext cx="256032" cy="237744"/>
          </a:xfrm>
          <a:prstGeom prst="roundRect">
            <a:avLst>
              <a:gd name="adj" fmla="val 19231"/>
            </a:avLst>
          </a:prstGeom>
          <a:solidFill>
            <a:srgbClr val="1168B8"/>
          </a:solidFill>
          <a:ln w="12700">
            <a:solidFill>
              <a:srgbClr val="FFFFFF"/>
            </a:solidFill>
            <a:prstDash val="solid"/>
          </a:ln>
        </p:spPr>
      </p:sp>
      <p:sp>
        <p:nvSpPr>
          <p:cNvPr id="23" name="Text 18"/>
          <p:cNvSpPr txBox="1"/>
          <p:nvPr/>
        </p:nvSpPr>
        <p:spPr>
          <a:xfrm>
            <a:off x="6364224" y="1481328"/>
            <a:ext cx="256032"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4" name="Text 19"/>
          <p:cNvSpPr txBox="1"/>
          <p:nvPr/>
        </p:nvSpPr>
        <p:spPr>
          <a:xfrm>
            <a:off x="5212080" y="2331720"/>
            <a:ext cx="1737360" cy="320040"/>
          </a:xfrm>
          <a:prstGeom prst="rect">
            <a:avLst/>
          </a:prstGeom>
          <a:noFill/>
          <a:ln/>
        </p:spPr>
        <p:txBody>
          <a:bodyPr wrap="square" lIns="0" tIns="0" rIns="0" bIns="0" rtlCol="0" anchor="ctr"/>
          <a:lstStyle/>
          <a:p>
            <a:pPr algn="ctr" indent="0" marL="0">
              <a:buNone/>
            </a:pPr>
            <a:r>
              <a:rPr lang="en-US" sz="1500" b="1" dirty="0">
                <a:solidFill>
                  <a:srgbClr val="1B2E1B"/>
                </a:solidFill>
                <a:latin typeface="Calibri" pitchFamily="34" charset="0"/>
                <a:ea typeface="Calibri" pitchFamily="34" charset="-122"/>
                <a:cs typeface="Calibri" pitchFamily="34" charset="-120"/>
              </a:rPr>
              <a:t>Lambda Ingest</a:t>
            </a:r>
            <a:endParaRPr lang="en-US" sz="1500" dirty="0"/>
          </a:p>
        </p:txBody>
      </p:sp>
      <p:sp>
        <p:nvSpPr>
          <p:cNvPr id="25" name="Text 20"/>
          <p:cNvSpPr txBox="1"/>
          <p:nvPr/>
        </p:nvSpPr>
        <p:spPr>
          <a:xfrm>
            <a:off x="5257800" y="2697480"/>
            <a:ext cx="1645920" cy="1097280"/>
          </a:xfrm>
          <a:prstGeom prst="rect">
            <a:avLst/>
          </a:prstGeom>
          <a:noFill/>
          <a:ln/>
        </p:spPr>
        <p:txBody>
          <a:bodyPr wrap="square" lIns="0" tIns="0" rIns="0" bIns="0" rtlCol="0" anchor="t"/>
          <a:lstStyle/>
          <a:p>
            <a:pPr algn="ctr" indent="0" marL="0">
              <a:buNone/>
            </a:pPr>
            <a:r>
              <a:rPr lang="en-US" sz="1200" dirty="0">
                <a:solidFill>
                  <a:srgbClr val="3E4E3E"/>
                </a:solidFill>
                <a:latin typeface="Calibri" pitchFamily="34" charset="0"/>
                <a:ea typeface="Calibri" pitchFamily="34" charset="-122"/>
                <a:cs typeface="Calibri" pitchFamily="34" charset="-120"/>
              </a:rPr>
              <a:t>Validates fields, applies alert rules, sets severity</a:t>
            </a:r>
            <a:endParaRPr lang="en-US" sz="1200" dirty="0"/>
          </a:p>
        </p:txBody>
      </p:sp>
      <p:sp>
        <p:nvSpPr>
          <p:cNvPr id="26" name="Shape 21"/>
          <p:cNvSpPr/>
          <p:nvPr/>
        </p:nvSpPr>
        <p:spPr>
          <a:xfrm>
            <a:off x="7059168" y="2468880"/>
            <a:ext cx="329184" cy="0"/>
          </a:xfrm>
          <a:prstGeom prst="line">
            <a:avLst/>
          </a:prstGeom>
          <a:noFill/>
          <a:ln w="19050">
            <a:solidFill>
              <a:srgbClr val="5E6E5E"/>
            </a:solidFill>
            <a:prstDash val="solid"/>
            <a:tailEnd type="triangle"/>
          </a:ln>
        </p:spPr>
      </p:sp>
      <p:sp>
        <p:nvSpPr>
          <p:cNvPr id="27" name="Shape 22"/>
          <p:cNvSpPr/>
          <p:nvPr/>
        </p:nvSpPr>
        <p:spPr>
          <a:xfrm>
            <a:off x="7406640" y="1325880"/>
            <a:ext cx="1920240" cy="2240280"/>
          </a:xfrm>
          <a:prstGeom prst="roundRect">
            <a:avLst>
              <a:gd name="adj" fmla="val 3810"/>
            </a:avLst>
          </a:prstGeom>
          <a:solidFill>
            <a:srgbClr val="FFFFFF"/>
          </a:solidFill>
          <a:ln w="12700">
            <a:solidFill>
              <a:srgbClr val="C8D5C8"/>
            </a:solidFill>
            <a:prstDash val="solid"/>
          </a:ln>
        </p:spPr>
      </p:sp>
      <p:sp>
        <p:nvSpPr>
          <p:cNvPr id="28" name="Shape 23"/>
          <p:cNvSpPr/>
          <p:nvPr/>
        </p:nvSpPr>
        <p:spPr>
          <a:xfrm>
            <a:off x="8046720" y="1554480"/>
            <a:ext cx="640080" cy="640080"/>
          </a:xfrm>
          <a:prstGeom prst="ellipse">
            <a:avLst/>
          </a:prstGeom>
          <a:solidFill>
            <a:srgbClr val="3B48CC"/>
          </a:solidFill>
          <a:ln w="12700">
            <a:solidFill>
              <a:srgbClr val="3B48CC"/>
            </a:solidFill>
            <a:prstDash val="solid"/>
          </a:ln>
        </p:spPr>
      </p:sp>
      <p:pic>
        <p:nvPicPr>
          <p:cNvPr id="29" name="Image 3" descr="preencoded.png">    </p:cNvPr>
          <p:cNvPicPr>
            <a:picLocks noChangeAspect="1"/>
          </p:cNvPicPr>
          <p:nvPr/>
        </p:nvPicPr>
        <p:blipFill>
          <a:blip r:embed="rId4"/>
          <a:stretch>
            <a:fillRect/>
          </a:stretch>
        </p:blipFill>
        <p:spPr>
          <a:xfrm>
            <a:off x="8183880" y="1691640"/>
            <a:ext cx="365760" cy="365760"/>
          </a:xfrm>
          <a:prstGeom prst="rect">
            <a:avLst/>
          </a:prstGeom>
        </p:spPr>
      </p:pic>
      <p:sp>
        <p:nvSpPr>
          <p:cNvPr id="30" name="Shape 24"/>
          <p:cNvSpPr/>
          <p:nvPr/>
        </p:nvSpPr>
        <p:spPr>
          <a:xfrm>
            <a:off x="8650224" y="1481328"/>
            <a:ext cx="256032" cy="237744"/>
          </a:xfrm>
          <a:prstGeom prst="roundRect">
            <a:avLst>
              <a:gd name="adj" fmla="val 19231"/>
            </a:avLst>
          </a:prstGeom>
          <a:solidFill>
            <a:srgbClr val="1168B8"/>
          </a:solidFill>
          <a:ln w="12700">
            <a:solidFill>
              <a:srgbClr val="FFFFFF"/>
            </a:solidFill>
            <a:prstDash val="solid"/>
          </a:ln>
        </p:spPr>
      </p:sp>
      <p:sp>
        <p:nvSpPr>
          <p:cNvPr id="31" name="Text 25"/>
          <p:cNvSpPr txBox="1"/>
          <p:nvPr/>
        </p:nvSpPr>
        <p:spPr>
          <a:xfrm>
            <a:off x="8650224" y="1481328"/>
            <a:ext cx="256032"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2" name="Text 26"/>
          <p:cNvSpPr txBox="1"/>
          <p:nvPr/>
        </p:nvSpPr>
        <p:spPr>
          <a:xfrm>
            <a:off x="7498080" y="2331720"/>
            <a:ext cx="1737360" cy="320040"/>
          </a:xfrm>
          <a:prstGeom prst="rect">
            <a:avLst/>
          </a:prstGeom>
          <a:noFill/>
          <a:ln/>
        </p:spPr>
        <p:txBody>
          <a:bodyPr wrap="square" lIns="0" tIns="0" rIns="0" bIns="0" rtlCol="0" anchor="ctr"/>
          <a:lstStyle/>
          <a:p>
            <a:pPr algn="ctr" indent="0" marL="0">
              <a:buNone/>
            </a:pPr>
            <a:r>
              <a:rPr lang="en-US" sz="1500" b="1" dirty="0">
                <a:solidFill>
                  <a:srgbClr val="1B2E1B"/>
                </a:solidFill>
                <a:latin typeface="Calibri" pitchFamily="34" charset="0"/>
                <a:ea typeface="Calibri" pitchFamily="34" charset="-122"/>
                <a:cs typeface="Calibri" pitchFamily="34" charset="-120"/>
              </a:rPr>
              <a:t>DynamoDB</a:t>
            </a:r>
            <a:endParaRPr lang="en-US" sz="1500" dirty="0"/>
          </a:p>
        </p:txBody>
      </p:sp>
      <p:sp>
        <p:nvSpPr>
          <p:cNvPr id="33" name="Text 27"/>
          <p:cNvSpPr txBox="1"/>
          <p:nvPr/>
        </p:nvSpPr>
        <p:spPr>
          <a:xfrm>
            <a:off x="7543800" y="2697480"/>
            <a:ext cx="1645920" cy="1097280"/>
          </a:xfrm>
          <a:prstGeom prst="rect">
            <a:avLst/>
          </a:prstGeom>
          <a:noFill/>
          <a:ln/>
        </p:spPr>
        <p:txBody>
          <a:bodyPr wrap="square" lIns="0" tIns="0" rIns="0" bIns="0" rtlCol="0" anchor="t"/>
          <a:lstStyle/>
          <a:p>
            <a:pPr algn="ctr" indent="0" marL="0">
              <a:buNone/>
            </a:pPr>
            <a:r>
              <a:rPr lang="en-US" sz="1200" dirty="0">
                <a:solidFill>
                  <a:srgbClr val="3E4E3E"/>
                </a:solidFill>
                <a:latin typeface="Calibri" pitchFamily="34" charset="0"/>
                <a:ea typeface="Calibri" pitchFamily="34" charset="-122"/>
                <a:cs typeface="Calibri" pitchFamily="34" charset="-120"/>
              </a:rPr>
              <a:t>Stores the event (event_id + timestamp)</a:t>
            </a:r>
            <a:endParaRPr lang="en-US" sz="1200" dirty="0"/>
          </a:p>
        </p:txBody>
      </p:sp>
      <p:sp>
        <p:nvSpPr>
          <p:cNvPr id="34" name="Shape 28"/>
          <p:cNvSpPr/>
          <p:nvPr/>
        </p:nvSpPr>
        <p:spPr>
          <a:xfrm>
            <a:off x="9345168" y="2468880"/>
            <a:ext cx="329184" cy="0"/>
          </a:xfrm>
          <a:prstGeom prst="line">
            <a:avLst/>
          </a:prstGeom>
          <a:noFill/>
          <a:ln w="19050">
            <a:solidFill>
              <a:srgbClr val="5E6E5E"/>
            </a:solidFill>
            <a:prstDash val="solid"/>
            <a:tailEnd type="triangle"/>
          </a:ln>
        </p:spPr>
      </p:sp>
      <p:sp>
        <p:nvSpPr>
          <p:cNvPr id="35" name="Shape 29"/>
          <p:cNvSpPr/>
          <p:nvPr/>
        </p:nvSpPr>
        <p:spPr>
          <a:xfrm>
            <a:off x="9692640" y="1325880"/>
            <a:ext cx="1920240" cy="2240280"/>
          </a:xfrm>
          <a:prstGeom prst="roundRect">
            <a:avLst>
              <a:gd name="adj" fmla="val 3810"/>
            </a:avLst>
          </a:prstGeom>
          <a:solidFill>
            <a:srgbClr val="FFFFFF"/>
          </a:solidFill>
          <a:ln w="12700">
            <a:solidFill>
              <a:srgbClr val="C8D5C8"/>
            </a:solidFill>
            <a:prstDash val="solid"/>
          </a:ln>
        </p:spPr>
      </p:sp>
      <p:sp>
        <p:nvSpPr>
          <p:cNvPr id="36" name="Shape 30"/>
          <p:cNvSpPr/>
          <p:nvPr/>
        </p:nvSpPr>
        <p:spPr>
          <a:xfrm>
            <a:off x="10332720" y="1554480"/>
            <a:ext cx="640080" cy="640080"/>
          </a:xfrm>
          <a:prstGeom prst="ellipse">
            <a:avLst/>
          </a:prstGeom>
          <a:solidFill>
            <a:srgbClr val="7AA116"/>
          </a:solidFill>
          <a:ln w="12700">
            <a:solidFill>
              <a:srgbClr val="7AA116"/>
            </a:solidFill>
            <a:prstDash val="solid"/>
          </a:ln>
        </p:spPr>
      </p:sp>
      <p:pic>
        <p:nvPicPr>
          <p:cNvPr id="37" name="Image 4" descr="preencoded.png">    </p:cNvPr>
          <p:cNvPicPr>
            <a:picLocks noChangeAspect="1"/>
          </p:cNvPicPr>
          <p:nvPr/>
        </p:nvPicPr>
        <p:blipFill>
          <a:blip r:embed="rId5"/>
          <a:stretch>
            <a:fillRect/>
          </a:stretch>
        </p:blipFill>
        <p:spPr>
          <a:xfrm>
            <a:off x="10469880" y="1691640"/>
            <a:ext cx="365760" cy="365760"/>
          </a:xfrm>
          <a:prstGeom prst="rect">
            <a:avLst/>
          </a:prstGeom>
        </p:spPr>
      </p:pic>
      <p:sp>
        <p:nvSpPr>
          <p:cNvPr id="38" name="Shape 31"/>
          <p:cNvSpPr/>
          <p:nvPr/>
        </p:nvSpPr>
        <p:spPr>
          <a:xfrm>
            <a:off x="10936224" y="1481328"/>
            <a:ext cx="256032" cy="237744"/>
          </a:xfrm>
          <a:prstGeom prst="roundRect">
            <a:avLst>
              <a:gd name="adj" fmla="val 19231"/>
            </a:avLst>
          </a:prstGeom>
          <a:solidFill>
            <a:srgbClr val="1168B8"/>
          </a:solidFill>
          <a:ln w="12700">
            <a:solidFill>
              <a:srgbClr val="FFFFFF"/>
            </a:solidFill>
            <a:prstDash val="solid"/>
          </a:ln>
        </p:spPr>
      </p:sp>
      <p:sp>
        <p:nvSpPr>
          <p:cNvPr id="39" name="Text 32"/>
          <p:cNvSpPr txBox="1"/>
          <p:nvPr/>
        </p:nvSpPr>
        <p:spPr>
          <a:xfrm>
            <a:off x="10936224" y="1481328"/>
            <a:ext cx="256032"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40" name="Text 33"/>
          <p:cNvSpPr txBox="1"/>
          <p:nvPr/>
        </p:nvSpPr>
        <p:spPr>
          <a:xfrm>
            <a:off x="9784080" y="2331720"/>
            <a:ext cx="1737360" cy="320040"/>
          </a:xfrm>
          <a:prstGeom prst="rect">
            <a:avLst/>
          </a:prstGeom>
          <a:noFill/>
          <a:ln/>
        </p:spPr>
        <p:txBody>
          <a:bodyPr wrap="square" lIns="0" tIns="0" rIns="0" bIns="0" rtlCol="0" anchor="ctr"/>
          <a:lstStyle/>
          <a:p>
            <a:pPr algn="ctr" indent="0" marL="0">
              <a:buNone/>
            </a:pPr>
            <a:r>
              <a:rPr lang="en-US" sz="1500" b="1" dirty="0">
                <a:solidFill>
                  <a:srgbClr val="1B2E1B"/>
                </a:solidFill>
                <a:latin typeface="Calibri" pitchFamily="34" charset="0"/>
                <a:ea typeface="Calibri" pitchFamily="34" charset="-122"/>
                <a:cs typeface="Calibri" pitchFamily="34" charset="-120"/>
              </a:rPr>
              <a:t>Dashboard</a:t>
            </a:r>
            <a:endParaRPr lang="en-US" sz="1500" dirty="0"/>
          </a:p>
        </p:txBody>
      </p:sp>
      <p:sp>
        <p:nvSpPr>
          <p:cNvPr id="41" name="Text 34"/>
          <p:cNvSpPr txBox="1"/>
          <p:nvPr/>
        </p:nvSpPr>
        <p:spPr>
          <a:xfrm>
            <a:off x="9829800" y="2697480"/>
            <a:ext cx="1645920" cy="1097280"/>
          </a:xfrm>
          <a:prstGeom prst="rect">
            <a:avLst/>
          </a:prstGeom>
          <a:noFill/>
          <a:ln/>
        </p:spPr>
        <p:txBody>
          <a:bodyPr wrap="square" lIns="0" tIns="0" rIns="0" bIns="0" rtlCol="0" anchor="t"/>
          <a:lstStyle/>
          <a:p>
            <a:pPr algn="ctr" indent="0" marL="0">
              <a:buNone/>
            </a:pPr>
            <a:r>
              <a:rPr lang="en-US" sz="1200" dirty="0">
                <a:solidFill>
                  <a:srgbClr val="3E4E3E"/>
                </a:solidFill>
                <a:latin typeface="Calibri" pitchFamily="34" charset="0"/>
                <a:ea typeface="Calibri" pitchFamily="34" charset="-122"/>
                <a:cs typeface="Calibri" pitchFamily="34" charset="-120"/>
              </a:rPr>
              <a:t>Fetches events, stats and alerts and renders them</a:t>
            </a:r>
            <a:endParaRPr lang="en-US" sz="1200" dirty="0"/>
          </a:p>
        </p:txBody>
      </p:sp>
      <p:sp>
        <p:nvSpPr>
          <p:cNvPr id="42" name="Shape 35"/>
          <p:cNvSpPr/>
          <p:nvPr/>
        </p:nvSpPr>
        <p:spPr>
          <a:xfrm>
            <a:off x="548640" y="4023360"/>
            <a:ext cx="3566160" cy="1737360"/>
          </a:xfrm>
          <a:prstGeom prst="roundRect">
            <a:avLst>
              <a:gd name="adj" fmla="val 4211"/>
            </a:avLst>
          </a:prstGeom>
          <a:solidFill>
            <a:srgbClr val="FFFFFF"/>
          </a:solidFill>
          <a:ln w="12700">
            <a:solidFill>
              <a:srgbClr val="C8D5C8"/>
            </a:solidFill>
            <a:prstDash val="solid"/>
          </a:ln>
        </p:spPr>
      </p:sp>
      <p:pic>
        <p:nvPicPr>
          <p:cNvPr id="43" name="Image 5" descr="preencoded.png">    </p:cNvPr>
          <p:cNvPicPr>
            <a:picLocks noChangeAspect="1"/>
          </p:cNvPicPr>
          <p:nvPr/>
        </p:nvPicPr>
        <p:blipFill>
          <a:blip r:embed="rId6"/>
          <a:stretch>
            <a:fillRect/>
          </a:stretch>
        </p:blipFill>
        <p:spPr>
          <a:xfrm>
            <a:off x="777240" y="4233672"/>
            <a:ext cx="384048" cy="384048"/>
          </a:xfrm>
          <a:prstGeom prst="rect">
            <a:avLst/>
          </a:prstGeom>
        </p:spPr>
      </p:pic>
      <p:sp>
        <p:nvSpPr>
          <p:cNvPr id="44" name="Text 36"/>
          <p:cNvSpPr txBox="1"/>
          <p:nvPr/>
        </p:nvSpPr>
        <p:spPr>
          <a:xfrm>
            <a:off x="1280160" y="4251960"/>
            <a:ext cx="2651760" cy="347472"/>
          </a:xfrm>
          <a:prstGeom prst="rect">
            <a:avLst/>
          </a:prstGeom>
          <a:noFill/>
          <a:ln/>
        </p:spPr>
        <p:txBody>
          <a:bodyPr wrap="square" lIns="0" tIns="0" rIns="0" bIns="0" rtlCol="0" anchor="ctr"/>
          <a:lstStyle/>
          <a:p>
            <a:pPr indent="0" marL="0">
              <a:buNone/>
            </a:pPr>
            <a:r>
              <a:rPr lang="en-US" sz="1500" b="1" dirty="0">
                <a:solidFill>
                  <a:srgbClr val="2A7A4A"/>
                </a:solidFill>
                <a:latin typeface="Calibri" pitchFamily="34" charset="0"/>
                <a:ea typeface="Calibri" pitchFamily="34" charset="-122"/>
                <a:cs typeface="Calibri" pitchFamily="34" charset="-120"/>
              </a:rPr>
              <a:t>Normal event</a:t>
            </a:r>
            <a:endParaRPr lang="en-US" sz="1500" dirty="0"/>
          </a:p>
        </p:txBody>
      </p:sp>
      <p:sp>
        <p:nvSpPr>
          <p:cNvPr id="45" name="Text 37"/>
          <p:cNvSpPr txBox="1"/>
          <p:nvPr/>
        </p:nvSpPr>
        <p:spPr>
          <a:xfrm>
            <a:off x="777240" y="4754880"/>
            <a:ext cx="3154680" cy="868680"/>
          </a:xfrm>
          <a:prstGeom prst="rect">
            <a:avLst/>
          </a:prstGeom>
          <a:noFill/>
          <a:ln/>
        </p:spPr>
        <p:txBody>
          <a:bodyPr wrap="square" lIns="0" tIns="0" rIns="0" bIns="0" rtlCol="0" anchor="t"/>
          <a:lstStyle/>
          <a:p>
            <a:pPr indent="0" marL="0">
              <a:buNone/>
            </a:pPr>
            <a:r>
              <a:rPr lang="en-US" sz="1300" dirty="0">
                <a:solidFill>
                  <a:srgbClr val="3E4E3E"/>
                </a:solidFill>
                <a:latin typeface="Calibri" pitchFamily="34" charset="0"/>
                <a:ea typeface="Calibri" pitchFamily="34" charset="-122"/>
                <a:cs typeface="Calibri" pitchFamily="34" charset="-120"/>
              </a:rPr>
              <a:t>Stored with severity "normal"; appears in GET /events and is counted in GET /stats.</a:t>
            </a:r>
            <a:endParaRPr lang="en-US" sz="1300" dirty="0"/>
          </a:p>
        </p:txBody>
      </p:sp>
      <p:sp>
        <p:nvSpPr>
          <p:cNvPr id="46" name="Shape 38"/>
          <p:cNvSpPr/>
          <p:nvPr/>
        </p:nvSpPr>
        <p:spPr>
          <a:xfrm>
            <a:off x="4297680" y="4023360"/>
            <a:ext cx="3566160" cy="1737360"/>
          </a:xfrm>
          <a:prstGeom prst="roundRect">
            <a:avLst>
              <a:gd name="adj" fmla="val 4211"/>
            </a:avLst>
          </a:prstGeom>
          <a:solidFill>
            <a:srgbClr val="FFFFFF"/>
          </a:solidFill>
          <a:ln w="12700">
            <a:solidFill>
              <a:srgbClr val="C8D5C8"/>
            </a:solidFill>
            <a:prstDash val="solid"/>
          </a:ln>
        </p:spPr>
      </p:sp>
      <p:pic>
        <p:nvPicPr>
          <p:cNvPr id="47" name="Image 6" descr="preencoded.png">    </p:cNvPr>
          <p:cNvPicPr>
            <a:picLocks noChangeAspect="1"/>
          </p:cNvPicPr>
          <p:nvPr/>
        </p:nvPicPr>
        <p:blipFill>
          <a:blip r:embed="rId7"/>
          <a:stretch>
            <a:fillRect/>
          </a:stretch>
        </p:blipFill>
        <p:spPr>
          <a:xfrm>
            <a:off x="4526280" y="4233672"/>
            <a:ext cx="384048" cy="384048"/>
          </a:xfrm>
          <a:prstGeom prst="rect">
            <a:avLst/>
          </a:prstGeom>
        </p:spPr>
      </p:pic>
      <p:sp>
        <p:nvSpPr>
          <p:cNvPr id="48" name="Text 39"/>
          <p:cNvSpPr txBox="1"/>
          <p:nvPr/>
        </p:nvSpPr>
        <p:spPr>
          <a:xfrm>
            <a:off x="5029200" y="4251960"/>
            <a:ext cx="2651760" cy="347472"/>
          </a:xfrm>
          <a:prstGeom prst="rect">
            <a:avLst/>
          </a:prstGeom>
          <a:noFill/>
          <a:ln/>
        </p:spPr>
        <p:txBody>
          <a:bodyPr wrap="square" lIns="0" tIns="0" rIns="0" bIns="0" rtlCol="0" anchor="ctr"/>
          <a:lstStyle/>
          <a:p>
            <a:pPr indent="0" marL="0">
              <a:buNone/>
            </a:pPr>
            <a:r>
              <a:rPr lang="en-US" sz="1500" b="1" dirty="0">
                <a:solidFill>
                  <a:srgbClr val="8A2A2A"/>
                </a:solidFill>
                <a:latin typeface="Calibri" pitchFamily="34" charset="0"/>
                <a:ea typeface="Calibri" pitchFamily="34" charset="-122"/>
                <a:cs typeface="Calibri" pitchFamily="34" charset="-120"/>
              </a:rPr>
              <a:t>Abnormal event</a:t>
            </a:r>
            <a:endParaRPr lang="en-US" sz="1500" dirty="0"/>
          </a:p>
        </p:txBody>
      </p:sp>
      <p:sp>
        <p:nvSpPr>
          <p:cNvPr id="49" name="Text 40"/>
          <p:cNvSpPr txBox="1"/>
          <p:nvPr/>
        </p:nvSpPr>
        <p:spPr>
          <a:xfrm>
            <a:off x="4526280" y="4754880"/>
            <a:ext cx="3154680" cy="868680"/>
          </a:xfrm>
          <a:prstGeom prst="rect">
            <a:avLst/>
          </a:prstGeom>
          <a:noFill/>
          <a:ln/>
        </p:spPr>
        <p:txBody>
          <a:bodyPr wrap="square" lIns="0" tIns="0" rIns="0" bIns="0" rtlCol="0" anchor="t"/>
          <a:lstStyle/>
          <a:p>
            <a:pPr indent="0" marL="0">
              <a:buNone/>
            </a:pPr>
            <a:r>
              <a:rPr lang="en-US" sz="1300" dirty="0">
                <a:solidFill>
                  <a:srgbClr val="3E4E3E"/>
                </a:solidFill>
                <a:latin typeface="Calibri" pitchFamily="34" charset="0"/>
                <a:ea typeface="Calibri" pitchFamily="34" charset="-122"/>
                <a:cs typeface="Calibri" pitchFamily="34" charset="-120"/>
              </a:rPr>
              <a:t>Lambda sets severity "high"; the event is stored and also returned by GET /alerts.</a:t>
            </a:r>
            <a:endParaRPr lang="en-US" sz="1300" dirty="0"/>
          </a:p>
        </p:txBody>
      </p:sp>
      <p:sp>
        <p:nvSpPr>
          <p:cNvPr id="50" name="Shape 41"/>
          <p:cNvSpPr/>
          <p:nvPr/>
        </p:nvSpPr>
        <p:spPr>
          <a:xfrm>
            <a:off x="8046720" y="4023360"/>
            <a:ext cx="3566160" cy="1737360"/>
          </a:xfrm>
          <a:prstGeom prst="roundRect">
            <a:avLst>
              <a:gd name="adj" fmla="val 4211"/>
            </a:avLst>
          </a:prstGeom>
          <a:solidFill>
            <a:srgbClr val="FFFFFF"/>
          </a:solidFill>
          <a:ln w="12700">
            <a:solidFill>
              <a:srgbClr val="C8D5C8"/>
            </a:solidFill>
            <a:prstDash val="solid"/>
          </a:ln>
        </p:spPr>
      </p:sp>
      <p:pic>
        <p:nvPicPr>
          <p:cNvPr id="51" name="Image 7" descr="preencoded.png">    </p:cNvPr>
          <p:cNvPicPr>
            <a:picLocks noChangeAspect="1"/>
          </p:cNvPicPr>
          <p:nvPr/>
        </p:nvPicPr>
        <p:blipFill>
          <a:blip r:embed="rId8"/>
          <a:stretch>
            <a:fillRect/>
          </a:stretch>
        </p:blipFill>
        <p:spPr>
          <a:xfrm>
            <a:off x="8275320" y="4233672"/>
            <a:ext cx="384048" cy="384048"/>
          </a:xfrm>
          <a:prstGeom prst="rect">
            <a:avLst/>
          </a:prstGeom>
        </p:spPr>
      </p:pic>
      <p:sp>
        <p:nvSpPr>
          <p:cNvPr id="52" name="Text 42"/>
          <p:cNvSpPr txBox="1"/>
          <p:nvPr/>
        </p:nvSpPr>
        <p:spPr>
          <a:xfrm>
            <a:off x="8778240" y="4251960"/>
            <a:ext cx="2651760" cy="347472"/>
          </a:xfrm>
          <a:prstGeom prst="rect">
            <a:avLst/>
          </a:prstGeom>
          <a:noFill/>
          <a:ln/>
        </p:spPr>
        <p:txBody>
          <a:bodyPr wrap="square" lIns="0" tIns="0" rIns="0" bIns="0" rtlCol="0" anchor="ctr"/>
          <a:lstStyle/>
          <a:p>
            <a:pPr indent="0" marL="0">
              <a:buNone/>
            </a:pPr>
            <a:r>
              <a:rPr lang="en-US" sz="1500" b="1" dirty="0">
                <a:solidFill>
                  <a:srgbClr val="B05E10"/>
                </a:solidFill>
                <a:latin typeface="Calibri" pitchFamily="34" charset="0"/>
                <a:ea typeface="Calibri" pitchFamily="34" charset="-122"/>
                <a:cs typeface="Calibri" pitchFamily="34" charset="-120"/>
              </a:rPr>
              <a:t>Every invocation logged</a:t>
            </a:r>
            <a:endParaRPr lang="en-US" sz="1500" dirty="0"/>
          </a:p>
        </p:txBody>
      </p:sp>
      <p:sp>
        <p:nvSpPr>
          <p:cNvPr id="53" name="Text 43"/>
          <p:cNvSpPr txBox="1"/>
          <p:nvPr/>
        </p:nvSpPr>
        <p:spPr>
          <a:xfrm>
            <a:off x="8275320" y="4754880"/>
            <a:ext cx="3154680" cy="868680"/>
          </a:xfrm>
          <a:prstGeom prst="rect">
            <a:avLst/>
          </a:prstGeom>
          <a:noFill/>
          <a:ln/>
        </p:spPr>
        <p:txBody>
          <a:bodyPr wrap="square" lIns="0" tIns="0" rIns="0" bIns="0" rtlCol="0" anchor="t"/>
          <a:lstStyle/>
          <a:p>
            <a:pPr indent="0" marL="0">
              <a:buNone/>
            </a:pPr>
            <a:r>
              <a:rPr lang="en-US" sz="1300" dirty="0">
                <a:solidFill>
                  <a:srgbClr val="3E4E3E"/>
                </a:solidFill>
                <a:latin typeface="Calibri" pitchFamily="34" charset="0"/>
                <a:ea typeface="Calibri" pitchFamily="34" charset="-122"/>
                <a:cs typeface="Calibri" pitchFamily="34" charset="-120"/>
              </a:rPr>
              <a:t>CloudWatch records duration, errors and validation failures for each call.</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5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3400" b="1" dirty="0">
                <a:solidFill>
                  <a:srgbClr val="2A7A4A"/>
                </a:solidFill>
                <a:latin typeface="Cambria" pitchFamily="34" charset="0"/>
                <a:ea typeface="Cambria" pitchFamily="34" charset="-122"/>
                <a:cs typeface="Cambria" pitchFamily="34" charset="-120"/>
              </a:rPr>
              <a:t>Data model: one DynamoDB table</a:t>
            </a:r>
            <a:endParaRPr lang="en-US" sz="3400" dirty="0"/>
          </a:p>
        </p:txBody>
      </p:sp>
      <p:sp>
        <p:nvSpPr>
          <p:cNvPr id="3" name="Text 1"/>
          <p:cNvSpPr txBox="1"/>
          <p:nvPr/>
        </p:nvSpPr>
        <p:spPr>
          <a:xfrm>
            <a:off x="548640" y="1188720"/>
            <a:ext cx="5303520" cy="320040"/>
          </a:xfrm>
          <a:prstGeom prst="rect">
            <a:avLst/>
          </a:prstGeom>
          <a:noFill/>
          <a:ln/>
        </p:spPr>
        <p:txBody>
          <a:bodyPr wrap="square" lIns="0" tIns="0" rIns="0" bIns="0" rtlCol="0" anchor="ctr"/>
          <a:lstStyle/>
          <a:p>
            <a:pPr indent="0" marL="0">
              <a:buNone/>
            </a:pPr>
            <a:r>
              <a:rPr lang="en-US" sz="1500" b="1" dirty="0">
                <a:solidFill>
                  <a:srgbClr val="3B48CC"/>
                </a:solidFill>
                <a:latin typeface="Calibri" pitchFamily="34" charset="0"/>
                <a:ea typeface="Calibri" pitchFamily="34" charset="-122"/>
                <a:cs typeface="Calibri" pitchFamily="34" charset="-120"/>
              </a:rPr>
              <a:t>Table: CampusEvents</a:t>
            </a:r>
            <a:endParaRPr lang="en-US" sz="15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572768"/>
          <a:ext cx="5303520" cy="914400"/>
        </p:xfrm>
        <a:graphic>
          <a:graphicData uri="http://schemas.openxmlformats.org/drawingml/2006/table">
            <a:tbl>
              <a:tblPr/>
              <a:tblGrid>
                <a:gridCol w="1737360"/>
                <a:gridCol w="1920240"/>
                <a:gridCol w="164592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Attribute</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2A7A4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Type</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2A7A4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Role</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2A7A4A"/>
                    </a:solidFill>
                  </a:tcPr>
                </a:tc>
              </a:tr>
              <a:tr h="384048">
                <a:tc>
                  <a:txBody>
                    <a:bodyPr/>
                    <a:lstStyle/>
                    <a:p>
                      <a:pPr indent="0" marL="0">
                        <a:buNone/>
                      </a:pPr>
                      <a:r>
                        <a:rPr lang="en-US" sz="1300" b="1" dirty="0">
                          <a:solidFill>
                            <a:srgbClr val="1B2E1B"/>
                          </a:solidFill>
                          <a:latin typeface="Courier New" pitchFamily="34" charset="0"/>
                          <a:ea typeface="Courier New" pitchFamily="34" charset="-122"/>
                          <a:cs typeface="Courier New" pitchFamily="34" charset="-120"/>
                        </a:rPr>
                        <a:t>event_id</a:t>
                      </a:r>
                      <a:endParaRPr lang="en-US" sz="1300" dirty="0">
                        <a:latin typeface="Courier New" charset="0"/>
                        <a:ea typeface="Courier New" charset="0"/>
                        <a:cs typeface="Courier New"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c>
                  <a:txBody>
                    <a:bodyPr/>
                    <a:lstStyle/>
                    <a:p>
                      <a:pPr indent="0" marL="0">
                        <a:buNone/>
                      </a:pPr>
                      <a:r>
                        <a:rPr lang="en-US" sz="1300" dirty="0">
                          <a:solidFill>
                            <a:srgbClr val="3A6888"/>
                          </a:solidFill>
                          <a:latin typeface="Calibri" pitchFamily="34" charset="0"/>
                          <a:ea typeface="Calibri" pitchFamily="34" charset="-122"/>
                          <a:cs typeface="Calibri" pitchFamily="34" charset="-120"/>
                        </a:rPr>
                        <a:t>String</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c>
                  <a:txBody>
                    <a:bodyPr/>
                    <a:lstStyle/>
                    <a:p>
                      <a:pPr indent="0" marL="0">
                        <a:buNone/>
                      </a:pPr>
                      <a:r>
                        <a:rPr lang="en-US" sz="1300" b="1" dirty="0">
                          <a:solidFill>
                            <a:srgbClr val="2A7A4A"/>
                          </a:solidFill>
                          <a:latin typeface="Calibri" pitchFamily="34" charset="0"/>
                          <a:ea typeface="Calibri" pitchFamily="34" charset="-122"/>
                          <a:cs typeface="Calibri" pitchFamily="34" charset="-120"/>
                        </a:rPr>
                        <a:t>Partition key</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r>
              <a:tr h="384048">
                <a:tc>
                  <a:txBody>
                    <a:bodyPr/>
                    <a:lstStyle/>
                    <a:p>
                      <a:pPr indent="0" marL="0">
                        <a:buNone/>
                      </a:pPr>
                      <a:r>
                        <a:rPr lang="en-US" sz="1300" b="1" dirty="0">
                          <a:solidFill>
                            <a:srgbClr val="1B2E1B"/>
                          </a:solidFill>
                          <a:latin typeface="Courier New" pitchFamily="34" charset="0"/>
                          <a:ea typeface="Courier New" pitchFamily="34" charset="-122"/>
                          <a:cs typeface="Courier New" pitchFamily="34" charset="-120"/>
                        </a:rPr>
                        <a:t>timestamp</a:t>
                      </a:r>
                      <a:endParaRPr lang="en-US" sz="1300" dirty="0">
                        <a:latin typeface="Courier New" charset="0"/>
                        <a:ea typeface="Courier New" charset="0"/>
                        <a:cs typeface="Courier New"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tc>
                  <a:txBody>
                    <a:bodyPr/>
                    <a:lstStyle/>
                    <a:p>
                      <a:pPr indent="0" marL="0">
                        <a:buNone/>
                      </a:pPr>
                      <a:r>
                        <a:rPr lang="en-US" sz="1300" dirty="0">
                          <a:solidFill>
                            <a:srgbClr val="3A6888"/>
                          </a:solidFill>
                          <a:latin typeface="Calibri" pitchFamily="34" charset="0"/>
                          <a:ea typeface="Calibri" pitchFamily="34" charset="-122"/>
                          <a:cs typeface="Calibri" pitchFamily="34" charset="-120"/>
                        </a:rPr>
                        <a:t>String (ISO 8601)</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tc>
                  <a:txBody>
                    <a:bodyPr/>
                    <a:lstStyle/>
                    <a:p>
                      <a:pPr indent="0" marL="0">
                        <a:buNone/>
                      </a:pPr>
                      <a:r>
                        <a:rPr lang="en-US" sz="1300" b="1" dirty="0">
                          <a:solidFill>
                            <a:srgbClr val="2A7A4A"/>
                          </a:solidFill>
                          <a:latin typeface="Calibri" pitchFamily="34" charset="0"/>
                          <a:ea typeface="Calibri" pitchFamily="34" charset="-122"/>
                          <a:cs typeface="Calibri" pitchFamily="34" charset="-120"/>
                        </a:rPr>
                        <a:t>Sort key</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tr>
              <a:tr h="384048">
                <a:tc>
                  <a:txBody>
                    <a:bodyPr/>
                    <a:lstStyle/>
                    <a:p>
                      <a:pPr indent="0" marL="0">
                        <a:buNone/>
                      </a:pPr>
                      <a:r>
                        <a:rPr lang="en-US" sz="1300" b="1" dirty="0">
                          <a:solidFill>
                            <a:srgbClr val="1B2E1B"/>
                          </a:solidFill>
                          <a:latin typeface="Courier New" pitchFamily="34" charset="0"/>
                          <a:ea typeface="Courier New" pitchFamily="34" charset="-122"/>
                          <a:cs typeface="Courier New" pitchFamily="34" charset="-120"/>
                        </a:rPr>
                        <a:t>building</a:t>
                      </a:r>
                      <a:endParaRPr lang="en-US" sz="1300" dirty="0">
                        <a:latin typeface="Courier New" charset="0"/>
                        <a:ea typeface="Courier New" charset="0"/>
                        <a:cs typeface="Courier New"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c>
                  <a:txBody>
                    <a:bodyPr/>
                    <a:lstStyle/>
                    <a:p>
                      <a:pPr indent="0" marL="0">
                        <a:buNone/>
                      </a:pPr>
                      <a:r>
                        <a:rPr lang="en-US" sz="1300" dirty="0">
                          <a:solidFill>
                            <a:srgbClr val="3A6888"/>
                          </a:solidFill>
                          <a:latin typeface="Calibri" pitchFamily="34" charset="0"/>
                          <a:ea typeface="Calibri" pitchFamily="34" charset="-122"/>
                          <a:cs typeface="Calibri" pitchFamily="34" charset="-120"/>
                        </a:rPr>
                        <a:t>String</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c>
                  <a:txBody>
                    <a:bodyPr/>
                    <a:lstStyle/>
                    <a:p>
                      <a:pPr indent="0" marL="0">
                        <a:buNone/>
                      </a:pPr>
                      <a:r>
                        <a:rPr lang="en-US" sz="1300" dirty="0">
                          <a:solidFill>
                            <a:srgbClr val="1B2E1B"/>
                          </a:solidFill>
                          <a:latin typeface="Calibri" pitchFamily="34" charset="0"/>
                          <a:ea typeface="Calibri" pitchFamily="34" charset="-122"/>
                          <a:cs typeface="Calibri" pitchFamily="34" charset="-120"/>
                        </a:rPr>
                        <a:t>Filter / display</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r>
              <a:tr h="384048">
                <a:tc>
                  <a:txBody>
                    <a:bodyPr/>
                    <a:lstStyle/>
                    <a:p>
                      <a:pPr indent="0" marL="0">
                        <a:buNone/>
                      </a:pPr>
                      <a:r>
                        <a:rPr lang="en-US" sz="1300" b="1" dirty="0">
                          <a:solidFill>
                            <a:srgbClr val="1B2E1B"/>
                          </a:solidFill>
                          <a:latin typeface="Courier New" pitchFamily="34" charset="0"/>
                          <a:ea typeface="Courier New" pitchFamily="34" charset="-122"/>
                          <a:cs typeface="Courier New" pitchFamily="34" charset="-120"/>
                        </a:rPr>
                        <a:t>room</a:t>
                      </a:r>
                      <a:endParaRPr lang="en-US" sz="1300" dirty="0">
                        <a:latin typeface="Courier New" charset="0"/>
                        <a:ea typeface="Courier New" charset="0"/>
                        <a:cs typeface="Courier New"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tc>
                  <a:txBody>
                    <a:bodyPr/>
                    <a:lstStyle/>
                    <a:p>
                      <a:pPr indent="0" marL="0">
                        <a:buNone/>
                      </a:pPr>
                      <a:r>
                        <a:rPr lang="en-US" sz="1300" dirty="0">
                          <a:solidFill>
                            <a:srgbClr val="3A6888"/>
                          </a:solidFill>
                          <a:latin typeface="Calibri" pitchFamily="34" charset="0"/>
                          <a:ea typeface="Calibri" pitchFamily="34" charset="-122"/>
                          <a:cs typeface="Calibri" pitchFamily="34" charset="-120"/>
                        </a:rPr>
                        <a:t>String</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tc>
                  <a:txBody>
                    <a:bodyPr/>
                    <a:lstStyle/>
                    <a:p>
                      <a:pPr indent="0" marL="0">
                        <a:buNone/>
                      </a:pPr>
                      <a:r>
                        <a:rPr lang="en-US" sz="1300" dirty="0">
                          <a:solidFill>
                            <a:srgbClr val="1B2E1B"/>
                          </a:solidFill>
                          <a:latin typeface="Calibri" pitchFamily="34" charset="0"/>
                          <a:ea typeface="Calibri" pitchFamily="34" charset="-122"/>
                          <a:cs typeface="Calibri" pitchFamily="34" charset="-120"/>
                        </a:rPr>
                        <a:t>Filter / display</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tr>
              <a:tr h="384048">
                <a:tc>
                  <a:txBody>
                    <a:bodyPr/>
                    <a:lstStyle/>
                    <a:p>
                      <a:pPr indent="0" marL="0">
                        <a:buNone/>
                      </a:pPr>
                      <a:r>
                        <a:rPr lang="en-US" sz="1300" b="1" dirty="0">
                          <a:solidFill>
                            <a:srgbClr val="1B2E1B"/>
                          </a:solidFill>
                          <a:latin typeface="Courier New" pitchFamily="34" charset="0"/>
                          <a:ea typeface="Courier New" pitchFamily="34" charset="-122"/>
                          <a:cs typeface="Courier New" pitchFamily="34" charset="-120"/>
                        </a:rPr>
                        <a:t>event_type</a:t>
                      </a:r>
                      <a:endParaRPr lang="en-US" sz="1300" dirty="0">
                        <a:latin typeface="Courier New" charset="0"/>
                        <a:ea typeface="Courier New" charset="0"/>
                        <a:cs typeface="Courier New"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c>
                  <a:txBody>
                    <a:bodyPr/>
                    <a:lstStyle/>
                    <a:p>
                      <a:pPr indent="0" marL="0">
                        <a:buNone/>
                      </a:pPr>
                      <a:r>
                        <a:rPr lang="en-US" sz="1300" dirty="0">
                          <a:solidFill>
                            <a:srgbClr val="3A6888"/>
                          </a:solidFill>
                          <a:latin typeface="Calibri" pitchFamily="34" charset="0"/>
                          <a:ea typeface="Calibri" pitchFamily="34" charset="-122"/>
                          <a:cs typeface="Calibri" pitchFamily="34" charset="-120"/>
                        </a:rPr>
                        <a:t>String</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c>
                  <a:txBody>
                    <a:bodyPr/>
                    <a:lstStyle/>
                    <a:p>
                      <a:pPr indent="0" marL="0">
                        <a:buNone/>
                      </a:pPr>
                      <a:r>
                        <a:rPr lang="en-US" sz="1300" dirty="0">
                          <a:solidFill>
                            <a:srgbClr val="1B2E1B"/>
                          </a:solidFill>
                          <a:latin typeface="Calibri" pitchFamily="34" charset="0"/>
                          <a:ea typeface="Calibri" pitchFamily="34" charset="-122"/>
                          <a:cs typeface="Calibri" pitchFamily="34" charset="-120"/>
                        </a:rPr>
                        <a:t>Category</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r>
              <a:tr h="384048">
                <a:tc>
                  <a:txBody>
                    <a:bodyPr/>
                    <a:lstStyle/>
                    <a:p>
                      <a:pPr indent="0" marL="0">
                        <a:buNone/>
                      </a:pPr>
                      <a:r>
                        <a:rPr lang="en-US" sz="1300" b="1" dirty="0">
                          <a:solidFill>
                            <a:srgbClr val="1B2E1B"/>
                          </a:solidFill>
                          <a:latin typeface="Courier New" pitchFamily="34" charset="0"/>
                          <a:ea typeface="Courier New" pitchFamily="34" charset="-122"/>
                          <a:cs typeface="Courier New" pitchFamily="34" charset="-120"/>
                        </a:rPr>
                        <a:t>value + unit</a:t>
                      </a:r>
                      <a:endParaRPr lang="en-US" sz="1300" dirty="0">
                        <a:latin typeface="Courier New" charset="0"/>
                        <a:ea typeface="Courier New" charset="0"/>
                        <a:cs typeface="Courier New"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tc>
                  <a:txBody>
                    <a:bodyPr/>
                    <a:lstStyle/>
                    <a:p>
                      <a:pPr indent="0" marL="0">
                        <a:buNone/>
                      </a:pPr>
                      <a:r>
                        <a:rPr lang="en-US" sz="1300" dirty="0">
                          <a:solidFill>
                            <a:srgbClr val="3A6888"/>
                          </a:solidFill>
                          <a:latin typeface="Calibri" pitchFamily="34" charset="0"/>
                          <a:ea typeface="Calibri" pitchFamily="34" charset="-122"/>
                          <a:cs typeface="Calibri" pitchFamily="34" charset="-120"/>
                        </a:rPr>
                        <a:t>Number + String</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tc>
                  <a:txBody>
                    <a:bodyPr/>
                    <a:lstStyle/>
                    <a:p>
                      <a:pPr indent="0" marL="0">
                        <a:buNone/>
                      </a:pPr>
                      <a:r>
                        <a:rPr lang="en-US" sz="1300" dirty="0">
                          <a:solidFill>
                            <a:srgbClr val="1B2E1B"/>
                          </a:solidFill>
                          <a:latin typeface="Calibri" pitchFamily="34" charset="0"/>
                          <a:ea typeface="Calibri" pitchFamily="34" charset="-122"/>
                          <a:cs typeface="Calibri" pitchFamily="34" charset="-120"/>
                        </a:rPr>
                        <a:t>Sensor reading</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tr>
              <a:tr h="384048">
                <a:tc>
                  <a:txBody>
                    <a:bodyPr/>
                    <a:lstStyle/>
                    <a:p>
                      <a:pPr indent="0" marL="0">
                        <a:buNone/>
                      </a:pPr>
                      <a:r>
                        <a:rPr lang="en-US" sz="1300" b="1" dirty="0">
                          <a:solidFill>
                            <a:srgbClr val="1B2E1B"/>
                          </a:solidFill>
                          <a:latin typeface="Courier New" pitchFamily="34" charset="0"/>
                          <a:ea typeface="Courier New" pitchFamily="34" charset="-122"/>
                          <a:cs typeface="Courier New" pitchFamily="34" charset="-120"/>
                        </a:rPr>
                        <a:t>severity</a:t>
                      </a:r>
                      <a:endParaRPr lang="en-US" sz="1300" dirty="0">
                        <a:latin typeface="Courier New" charset="0"/>
                        <a:ea typeface="Courier New" charset="0"/>
                        <a:cs typeface="Courier New"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c>
                  <a:txBody>
                    <a:bodyPr/>
                    <a:lstStyle/>
                    <a:p>
                      <a:pPr indent="0" marL="0">
                        <a:buNone/>
                      </a:pPr>
                      <a:r>
                        <a:rPr lang="en-US" sz="1300" dirty="0">
                          <a:solidFill>
                            <a:srgbClr val="3A6888"/>
                          </a:solidFill>
                          <a:latin typeface="Calibri" pitchFamily="34" charset="0"/>
                          <a:ea typeface="Calibri" pitchFamily="34" charset="-122"/>
                          <a:cs typeface="Calibri" pitchFamily="34" charset="-120"/>
                        </a:rPr>
                        <a:t>String</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c>
                  <a:txBody>
                    <a:bodyPr/>
                    <a:lstStyle/>
                    <a:p>
                      <a:pPr indent="0" marL="0">
                        <a:buNone/>
                      </a:pPr>
                      <a:r>
                        <a:rPr lang="en-US" sz="1300" b="1" dirty="0">
                          <a:solidFill>
                            <a:srgbClr val="B05E10"/>
                          </a:solidFill>
                          <a:latin typeface="Calibri" pitchFamily="34" charset="0"/>
                          <a:ea typeface="Calibri" pitchFamily="34" charset="-122"/>
                          <a:cs typeface="Calibri" pitchFamily="34" charset="-120"/>
                        </a:rPr>
                        <a:t>Drives alerts</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4846320"/>
            <a:ext cx="5303520" cy="274320"/>
          </a:xfrm>
          <a:prstGeom prst="rect">
            <a:avLst/>
          </a:prstGeom>
          <a:noFill/>
          <a:ln/>
        </p:spPr>
        <p:txBody>
          <a:bodyPr wrap="square" lIns="0" tIns="0" rIns="0" bIns="0" rtlCol="0" anchor="ctr"/>
          <a:lstStyle/>
          <a:p>
            <a:pPr indent="0" marL="0">
              <a:buNone/>
            </a:pPr>
            <a:r>
              <a:rPr lang="en-US" sz="1300" b="1" dirty="0">
                <a:solidFill>
                  <a:srgbClr val="2A7A4A"/>
                </a:solidFill>
                <a:latin typeface="Calibri" pitchFamily="34" charset="0"/>
                <a:ea typeface="Calibri" pitchFamily="34" charset="-122"/>
                <a:cs typeface="Calibri" pitchFamily="34" charset="-120"/>
              </a:rPr>
              <a:t>Supported event_type values</a:t>
            </a:r>
            <a:endParaRPr lang="en-US" sz="1300" dirty="0"/>
          </a:p>
        </p:txBody>
      </p:sp>
      <p:sp>
        <p:nvSpPr>
          <p:cNvPr id="6" name="Shape 3"/>
          <p:cNvSpPr/>
          <p:nvPr/>
        </p:nvSpPr>
        <p:spPr>
          <a:xfrm>
            <a:off x="548640" y="5212080"/>
            <a:ext cx="1092708" cy="329184"/>
          </a:xfrm>
          <a:prstGeom prst="roundRect">
            <a:avLst>
              <a:gd name="adj" fmla="val 50000"/>
            </a:avLst>
          </a:prstGeom>
          <a:solidFill>
            <a:srgbClr val="E8F3EC"/>
          </a:solidFill>
          <a:ln w="12700">
            <a:solidFill>
              <a:srgbClr val="B8D5C8"/>
            </a:solidFill>
            <a:prstDash val="solid"/>
          </a:ln>
        </p:spPr>
      </p:sp>
      <p:sp>
        <p:nvSpPr>
          <p:cNvPr id="7" name="Text 4"/>
          <p:cNvSpPr txBox="1"/>
          <p:nvPr/>
        </p:nvSpPr>
        <p:spPr>
          <a:xfrm>
            <a:off x="548640" y="5212080"/>
            <a:ext cx="1092708" cy="329184"/>
          </a:xfrm>
          <a:prstGeom prst="rect">
            <a:avLst/>
          </a:prstGeom>
          <a:noFill/>
          <a:ln/>
        </p:spPr>
        <p:txBody>
          <a:bodyPr wrap="square" lIns="0" tIns="0" rIns="0" bIns="0" rtlCol="0" anchor="ctr"/>
          <a:lstStyle/>
          <a:p>
            <a:pPr algn="ctr" indent="0" marL="0">
              <a:buNone/>
            </a:pPr>
            <a:r>
              <a:rPr lang="en-US" sz="1200" dirty="0">
                <a:solidFill>
                  <a:srgbClr val="2A7A4A"/>
                </a:solidFill>
                <a:latin typeface="Calibri" pitchFamily="34" charset="0"/>
                <a:ea typeface="Calibri" pitchFamily="34" charset="-122"/>
                <a:cs typeface="Calibri" pitchFamily="34" charset="-120"/>
              </a:rPr>
              <a:t>occupancy</a:t>
            </a:r>
            <a:endParaRPr lang="en-US" sz="1200" dirty="0"/>
          </a:p>
        </p:txBody>
      </p:sp>
      <p:sp>
        <p:nvSpPr>
          <p:cNvPr id="8" name="Shape 5"/>
          <p:cNvSpPr/>
          <p:nvPr/>
        </p:nvSpPr>
        <p:spPr>
          <a:xfrm>
            <a:off x="1751076" y="5212080"/>
            <a:ext cx="1284732" cy="329184"/>
          </a:xfrm>
          <a:prstGeom prst="roundRect">
            <a:avLst>
              <a:gd name="adj" fmla="val 50000"/>
            </a:avLst>
          </a:prstGeom>
          <a:solidFill>
            <a:srgbClr val="E8F3EC"/>
          </a:solidFill>
          <a:ln w="12700">
            <a:solidFill>
              <a:srgbClr val="B8D5C8"/>
            </a:solidFill>
            <a:prstDash val="solid"/>
          </a:ln>
        </p:spPr>
      </p:sp>
      <p:sp>
        <p:nvSpPr>
          <p:cNvPr id="9" name="Text 6"/>
          <p:cNvSpPr txBox="1"/>
          <p:nvPr/>
        </p:nvSpPr>
        <p:spPr>
          <a:xfrm>
            <a:off x="1751076" y="5212080"/>
            <a:ext cx="1284732" cy="329184"/>
          </a:xfrm>
          <a:prstGeom prst="rect">
            <a:avLst/>
          </a:prstGeom>
          <a:noFill/>
          <a:ln/>
        </p:spPr>
        <p:txBody>
          <a:bodyPr wrap="square" lIns="0" tIns="0" rIns="0" bIns="0" rtlCol="0" anchor="ctr"/>
          <a:lstStyle/>
          <a:p>
            <a:pPr algn="ctr" indent="0" marL="0">
              <a:buNone/>
            </a:pPr>
            <a:r>
              <a:rPr lang="en-US" sz="1200" dirty="0">
                <a:solidFill>
                  <a:srgbClr val="2A7A4A"/>
                </a:solidFill>
                <a:latin typeface="Calibri" pitchFamily="34" charset="0"/>
                <a:ea typeface="Calibri" pitchFamily="34" charset="-122"/>
                <a:cs typeface="Calibri" pitchFamily="34" charset="-120"/>
              </a:rPr>
              <a:t>temperature</a:t>
            </a:r>
            <a:endParaRPr lang="en-US" sz="1200" dirty="0"/>
          </a:p>
        </p:txBody>
      </p:sp>
      <p:sp>
        <p:nvSpPr>
          <p:cNvPr id="10" name="Shape 7"/>
          <p:cNvSpPr/>
          <p:nvPr/>
        </p:nvSpPr>
        <p:spPr>
          <a:xfrm>
            <a:off x="3145536" y="5212080"/>
            <a:ext cx="996696" cy="329184"/>
          </a:xfrm>
          <a:prstGeom prst="roundRect">
            <a:avLst>
              <a:gd name="adj" fmla="val 50000"/>
            </a:avLst>
          </a:prstGeom>
          <a:solidFill>
            <a:srgbClr val="E8F3EC"/>
          </a:solidFill>
          <a:ln w="12700">
            <a:solidFill>
              <a:srgbClr val="B8D5C8"/>
            </a:solidFill>
            <a:prstDash val="solid"/>
          </a:ln>
        </p:spPr>
      </p:sp>
      <p:sp>
        <p:nvSpPr>
          <p:cNvPr id="11" name="Text 8"/>
          <p:cNvSpPr txBox="1"/>
          <p:nvPr/>
        </p:nvSpPr>
        <p:spPr>
          <a:xfrm>
            <a:off x="3145536" y="5212080"/>
            <a:ext cx="996696" cy="329184"/>
          </a:xfrm>
          <a:prstGeom prst="rect">
            <a:avLst/>
          </a:prstGeom>
          <a:noFill/>
          <a:ln/>
        </p:spPr>
        <p:txBody>
          <a:bodyPr wrap="square" lIns="0" tIns="0" rIns="0" bIns="0" rtlCol="0" anchor="ctr"/>
          <a:lstStyle/>
          <a:p>
            <a:pPr algn="ctr" indent="0" marL="0">
              <a:buNone/>
            </a:pPr>
            <a:r>
              <a:rPr lang="en-US" sz="1200" dirty="0">
                <a:solidFill>
                  <a:srgbClr val="2A7A4A"/>
                </a:solidFill>
                <a:latin typeface="Calibri" pitchFamily="34" charset="0"/>
                <a:ea typeface="Calibri" pitchFamily="34" charset="-122"/>
                <a:cs typeface="Calibri" pitchFamily="34" charset="-120"/>
              </a:rPr>
              <a:t>humidity</a:t>
            </a:r>
            <a:endParaRPr lang="en-US" sz="1200" dirty="0"/>
          </a:p>
        </p:txBody>
      </p:sp>
      <p:sp>
        <p:nvSpPr>
          <p:cNvPr id="12" name="Shape 9"/>
          <p:cNvSpPr/>
          <p:nvPr/>
        </p:nvSpPr>
        <p:spPr>
          <a:xfrm>
            <a:off x="4251960" y="5212080"/>
            <a:ext cx="804672" cy="329184"/>
          </a:xfrm>
          <a:prstGeom prst="roundRect">
            <a:avLst>
              <a:gd name="adj" fmla="val 50000"/>
            </a:avLst>
          </a:prstGeom>
          <a:solidFill>
            <a:srgbClr val="E8F3EC"/>
          </a:solidFill>
          <a:ln w="12700">
            <a:solidFill>
              <a:srgbClr val="B8D5C8"/>
            </a:solidFill>
            <a:prstDash val="solid"/>
          </a:ln>
        </p:spPr>
      </p:sp>
      <p:sp>
        <p:nvSpPr>
          <p:cNvPr id="13" name="Text 10"/>
          <p:cNvSpPr txBox="1"/>
          <p:nvPr/>
        </p:nvSpPr>
        <p:spPr>
          <a:xfrm>
            <a:off x="4251960" y="5212080"/>
            <a:ext cx="804672" cy="329184"/>
          </a:xfrm>
          <a:prstGeom prst="rect">
            <a:avLst/>
          </a:prstGeom>
          <a:noFill/>
          <a:ln/>
        </p:spPr>
        <p:txBody>
          <a:bodyPr wrap="square" lIns="0" tIns="0" rIns="0" bIns="0" rtlCol="0" anchor="ctr"/>
          <a:lstStyle/>
          <a:p>
            <a:pPr algn="ctr" indent="0" marL="0">
              <a:buNone/>
            </a:pPr>
            <a:r>
              <a:rPr lang="en-US" sz="1200" dirty="0">
                <a:solidFill>
                  <a:srgbClr val="2A7A4A"/>
                </a:solidFill>
                <a:latin typeface="Calibri" pitchFamily="34" charset="0"/>
                <a:ea typeface="Calibri" pitchFamily="34" charset="-122"/>
                <a:cs typeface="Calibri" pitchFamily="34" charset="-120"/>
              </a:rPr>
              <a:t>energy</a:t>
            </a:r>
            <a:endParaRPr lang="en-US" sz="1200" dirty="0"/>
          </a:p>
        </p:txBody>
      </p:sp>
      <p:sp>
        <p:nvSpPr>
          <p:cNvPr id="14" name="Shape 11"/>
          <p:cNvSpPr/>
          <p:nvPr/>
        </p:nvSpPr>
        <p:spPr>
          <a:xfrm>
            <a:off x="548640" y="5650992"/>
            <a:ext cx="1092708" cy="329184"/>
          </a:xfrm>
          <a:prstGeom prst="roundRect">
            <a:avLst>
              <a:gd name="adj" fmla="val 50000"/>
            </a:avLst>
          </a:prstGeom>
          <a:solidFill>
            <a:srgbClr val="E8F3EC"/>
          </a:solidFill>
          <a:ln w="12700">
            <a:solidFill>
              <a:srgbClr val="B8D5C8"/>
            </a:solidFill>
            <a:prstDash val="solid"/>
          </a:ln>
        </p:spPr>
      </p:sp>
      <p:sp>
        <p:nvSpPr>
          <p:cNvPr id="15" name="Text 12"/>
          <p:cNvSpPr txBox="1"/>
          <p:nvPr/>
        </p:nvSpPr>
        <p:spPr>
          <a:xfrm>
            <a:off x="548640" y="5650992"/>
            <a:ext cx="1092708" cy="329184"/>
          </a:xfrm>
          <a:prstGeom prst="rect">
            <a:avLst/>
          </a:prstGeom>
          <a:noFill/>
          <a:ln/>
        </p:spPr>
        <p:txBody>
          <a:bodyPr wrap="square" lIns="0" tIns="0" rIns="0" bIns="0" rtlCol="0" anchor="ctr"/>
          <a:lstStyle/>
          <a:p>
            <a:pPr algn="ctr" indent="0" marL="0">
              <a:buNone/>
            </a:pPr>
            <a:r>
              <a:rPr lang="en-US" sz="1200" dirty="0">
                <a:solidFill>
                  <a:srgbClr val="2A7A4A"/>
                </a:solidFill>
                <a:latin typeface="Calibri" pitchFamily="34" charset="0"/>
                <a:ea typeface="Calibri" pitchFamily="34" charset="-122"/>
                <a:cs typeface="Calibri" pitchFamily="34" charset="-120"/>
              </a:rPr>
              <a:t>equipment</a:t>
            </a:r>
            <a:endParaRPr lang="en-US" sz="1200" dirty="0"/>
          </a:p>
        </p:txBody>
      </p:sp>
      <p:sp>
        <p:nvSpPr>
          <p:cNvPr id="16" name="Shape 13"/>
          <p:cNvSpPr/>
          <p:nvPr/>
        </p:nvSpPr>
        <p:spPr>
          <a:xfrm>
            <a:off x="1751076" y="5650992"/>
            <a:ext cx="1668780" cy="329184"/>
          </a:xfrm>
          <a:prstGeom prst="roundRect">
            <a:avLst>
              <a:gd name="adj" fmla="val 50000"/>
            </a:avLst>
          </a:prstGeom>
          <a:solidFill>
            <a:srgbClr val="E8F3EC"/>
          </a:solidFill>
          <a:ln w="12700">
            <a:solidFill>
              <a:srgbClr val="B8D5C8"/>
            </a:solidFill>
            <a:prstDash val="solid"/>
          </a:ln>
        </p:spPr>
      </p:sp>
      <p:sp>
        <p:nvSpPr>
          <p:cNvPr id="17" name="Text 14"/>
          <p:cNvSpPr txBox="1"/>
          <p:nvPr/>
        </p:nvSpPr>
        <p:spPr>
          <a:xfrm>
            <a:off x="1751076" y="5650992"/>
            <a:ext cx="1668780" cy="329184"/>
          </a:xfrm>
          <a:prstGeom prst="rect">
            <a:avLst/>
          </a:prstGeom>
          <a:noFill/>
          <a:ln/>
        </p:spPr>
        <p:txBody>
          <a:bodyPr wrap="square" lIns="0" tIns="0" rIns="0" bIns="0" rtlCol="0" anchor="ctr"/>
          <a:lstStyle/>
          <a:p>
            <a:pPr algn="ctr" indent="0" marL="0">
              <a:buNone/>
            </a:pPr>
            <a:r>
              <a:rPr lang="en-US" sz="1200" dirty="0">
                <a:solidFill>
                  <a:srgbClr val="2A7A4A"/>
                </a:solidFill>
                <a:latin typeface="Calibri" pitchFamily="34" charset="0"/>
                <a:ea typeface="Calibri" pitchFamily="34" charset="-122"/>
                <a:cs typeface="Calibri" pitchFamily="34" charset="-120"/>
              </a:rPr>
              <a:t>service_request</a:t>
            </a:r>
            <a:endParaRPr lang="en-US" sz="1200" dirty="0"/>
          </a:p>
        </p:txBody>
      </p:sp>
      <p:sp>
        <p:nvSpPr>
          <p:cNvPr id="18" name="Shape 15"/>
          <p:cNvSpPr/>
          <p:nvPr/>
        </p:nvSpPr>
        <p:spPr>
          <a:xfrm>
            <a:off x="6263640" y="1188720"/>
            <a:ext cx="5349240" cy="2377440"/>
          </a:xfrm>
          <a:prstGeom prst="roundRect">
            <a:avLst>
              <a:gd name="adj" fmla="val 3077"/>
            </a:avLst>
          </a:prstGeom>
          <a:solidFill>
            <a:srgbClr val="1B2E1B"/>
          </a:solidFill>
          <a:ln w="12700">
            <a:solidFill>
              <a:srgbClr val="1B2E1B"/>
            </a:solidFill>
            <a:prstDash val="solid"/>
          </a:ln>
        </p:spPr>
      </p:sp>
      <p:sp>
        <p:nvSpPr>
          <p:cNvPr id="19" name="Text 16"/>
          <p:cNvSpPr txBox="1"/>
          <p:nvPr/>
        </p:nvSpPr>
        <p:spPr>
          <a:xfrm>
            <a:off x="6492240" y="1298448"/>
            <a:ext cx="3657600" cy="256032"/>
          </a:xfrm>
          <a:prstGeom prst="rect">
            <a:avLst/>
          </a:prstGeom>
          <a:noFill/>
          <a:ln/>
        </p:spPr>
        <p:txBody>
          <a:bodyPr wrap="square" lIns="0" tIns="0" rIns="0" bIns="0" rtlCol="0" anchor="ctr"/>
          <a:lstStyle/>
          <a:p>
            <a:pPr indent="0" marL="0">
              <a:buNone/>
            </a:pPr>
            <a:r>
              <a:rPr lang="en-US" sz="1100" b="1" dirty="0">
                <a:solidFill>
                  <a:srgbClr val="8FA88F"/>
                </a:solidFill>
                <a:latin typeface="Calibri" pitchFamily="34" charset="0"/>
                <a:ea typeface="Calibri" pitchFamily="34" charset="-122"/>
                <a:cs typeface="Calibri" pitchFamily="34" charset="-120"/>
              </a:rPr>
              <a:t>Example item</a:t>
            </a:r>
            <a:endParaRPr lang="en-US" sz="1100" dirty="0"/>
          </a:p>
        </p:txBody>
      </p:sp>
      <p:sp>
        <p:nvSpPr>
          <p:cNvPr id="20" name="Text 17"/>
          <p:cNvSpPr txBox="1"/>
          <p:nvPr/>
        </p:nvSpPr>
        <p:spPr>
          <a:xfrm>
            <a:off x="6492240" y="1572768"/>
            <a:ext cx="4937760" cy="2240280"/>
          </a:xfrm>
          <a:prstGeom prst="rect">
            <a:avLst/>
          </a:prstGeom>
          <a:noFill/>
          <a:ln/>
        </p:spPr>
        <p:txBody>
          <a:bodyPr wrap="square" lIns="0" tIns="0" rIns="0" bIns="0" rtlCol="0" anchor="t"/>
          <a:lstStyle/>
          <a:p>
            <a:pPr indent="0" marL="0">
              <a:lnSpc>
                <a:spcPct val="100000"/>
              </a:lnSpc>
              <a:buNone/>
            </a:pPr>
            <a:r>
              <a:rPr lang="en-US" sz="1200" dirty="0">
                <a:solidFill>
                  <a:srgbClr val="C9DCC9"/>
                </a:solidFill>
                <a:latin typeface="Courier New" pitchFamily="34" charset="0"/>
                <a:ea typeface="Courier New" pitchFamily="34" charset="-122"/>
                <a:cs typeface="Courier New" pitchFamily="34" charset="-120"/>
              </a:rPr>
              <a:t>{</a:t>
            </a:r>
            <a:endParaRPr lang="en-US" sz="1200" dirty="0"/>
          </a:p>
          <a:p>
            <a:pPr indent="0" marL="0">
              <a:lnSpc>
                <a:spcPct val="100000"/>
              </a:lnSpc>
              <a:buNone/>
            </a:pPr>
            <a:r>
              <a:rPr lang="en-US" sz="1200" dirty="0">
                <a:solidFill>
                  <a:srgbClr val="E8C08A"/>
                </a:solidFill>
                <a:latin typeface="Courier New" pitchFamily="34" charset="0"/>
                <a:ea typeface="Courier New" pitchFamily="34" charset="-122"/>
                <a:cs typeface="Courier New" pitchFamily="34" charset="-120"/>
              </a:rPr>
              <a:t>  "event_id": </a:t>
            </a:r>
            <a:pPr indent="0" marL="0">
              <a:lnSpc>
                <a:spcPct val="100000"/>
              </a:lnSpc>
              <a:buNone/>
            </a:pPr>
            <a:r>
              <a:rPr lang="en-US" sz="1200" dirty="0">
                <a:solidFill>
                  <a:srgbClr val="A8D5B8"/>
                </a:solidFill>
                <a:latin typeface="Courier New" pitchFamily="34" charset="0"/>
                <a:ea typeface="Courier New" pitchFamily="34" charset="-122"/>
                <a:cs typeface="Courier New" pitchFamily="34" charset="-120"/>
              </a:rPr>
              <a:t>"evt-2026-001",</a:t>
            </a:r>
            <a:endParaRPr lang="en-US" sz="1200" dirty="0"/>
          </a:p>
          <a:p>
            <a:pPr indent="0" marL="0">
              <a:lnSpc>
                <a:spcPct val="100000"/>
              </a:lnSpc>
              <a:buNone/>
            </a:pPr>
            <a:r>
              <a:rPr lang="en-US" sz="1200" dirty="0">
                <a:solidFill>
                  <a:srgbClr val="E8C08A"/>
                </a:solidFill>
                <a:latin typeface="Courier New" pitchFamily="34" charset="0"/>
                <a:ea typeface="Courier New" pitchFamily="34" charset="-122"/>
                <a:cs typeface="Courier New" pitchFamily="34" charset="-120"/>
              </a:rPr>
              <a:t>  "timestamp": </a:t>
            </a:r>
            <a:pPr indent="0" marL="0">
              <a:lnSpc>
                <a:spcPct val="100000"/>
              </a:lnSpc>
              <a:buNone/>
            </a:pPr>
            <a:r>
              <a:rPr lang="en-US" sz="1200" dirty="0">
                <a:solidFill>
                  <a:srgbClr val="A8D5B8"/>
                </a:solidFill>
                <a:latin typeface="Courier New" pitchFamily="34" charset="0"/>
                <a:ea typeface="Courier New" pitchFamily="34" charset="-122"/>
                <a:cs typeface="Courier New" pitchFamily="34" charset="-120"/>
              </a:rPr>
              <a:t>"2026-05-10T09:30:00Z",</a:t>
            </a:r>
            <a:endParaRPr lang="en-US" sz="1200" dirty="0"/>
          </a:p>
          <a:p>
            <a:pPr indent="0" marL="0">
              <a:lnSpc>
                <a:spcPct val="100000"/>
              </a:lnSpc>
              <a:buNone/>
            </a:pPr>
            <a:r>
              <a:rPr lang="en-US" sz="1200" dirty="0">
                <a:solidFill>
                  <a:srgbClr val="E8C08A"/>
                </a:solidFill>
                <a:latin typeface="Courier New" pitchFamily="34" charset="0"/>
                <a:ea typeface="Courier New" pitchFamily="34" charset="-122"/>
                <a:cs typeface="Courier New" pitchFamily="34" charset="-120"/>
              </a:rPr>
              <a:t>  "building": </a:t>
            </a:r>
            <a:pPr indent="0" marL="0">
              <a:lnSpc>
                <a:spcPct val="100000"/>
              </a:lnSpc>
              <a:buNone/>
            </a:pPr>
            <a:r>
              <a:rPr lang="en-US" sz="1200" dirty="0">
                <a:solidFill>
                  <a:srgbClr val="A8D5B8"/>
                </a:solidFill>
                <a:latin typeface="Courier New" pitchFamily="34" charset="0"/>
                <a:ea typeface="Courier New" pitchFamily="34" charset="-122"/>
                <a:cs typeface="Courier New" pitchFamily="34" charset="-120"/>
              </a:rPr>
              <a:t>"Library",</a:t>
            </a:r>
            <a:endParaRPr lang="en-US" sz="1200" dirty="0"/>
          </a:p>
          <a:p>
            <a:pPr indent="0" marL="0">
              <a:lnSpc>
                <a:spcPct val="100000"/>
              </a:lnSpc>
              <a:buNone/>
            </a:pPr>
            <a:r>
              <a:rPr lang="en-US" sz="1200" dirty="0">
                <a:solidFill>
                  <a:srgbClr val="E8C08A"/>
                </a:solidFill>
                <a:latin typeface="Courier New" pitchFamily="34" charset="0"/>
                <a:ea typeface="Courier New" pitchFamily="34" charset="-122"/>
                <a:cs typeface="Courier New" pitchFamily="34" charset="-120"/>
              </a:rPr>
              <a:t>  "room": </a:t>
            </a:r>
            <a:pPr indent="0" marL="0">
              <a:lnSpc>
                <a:spcPct val="100000"/>
              </a:lnSpc>
              <a:buNone/>
            </a:pPr>
            <a:r>
              <a:rPr lang="en-US" sz="1200" dirty="0">
                <a:solidFill>
                  <a:srgbClr val="A8D5B8"/>
                </a:solidFill>
                <a:latin typeface="Courier New" pitchFamily="34" charset="0"/>
                <a:ea typeface="Courier New" pitchFamily="34" charset="-122"/>
                <a:cs typeface="Courier New" pitchFamily="34" charset="-120"/>
              </a:rPr>
              <a:t>"A203",</a:t>
            </a:r>
            <a:endParaRPr lang="en-US" sz="1200" dirty="0"/>
          </a:p>
          <a:p>
            <a:pPr indent="0" marL="0">
              <a:lnSpc>
                <a:spcPct val="100000"/>
              </a:lnSpc>
              <a:buNone/>
            </a:pPr>
            <a:r>
              <a:rPr lang="en-US" sz="1200" dirty="0">
                <a:solidFill>
                  <a:srgbClr val="E8C08A"/>
                </a:solidFill>
                <a:latin typeface="Courier New" pitchFamily="34" charset="0"/>
                <a:ea typeface="Courier New" pitchFamily="34" charset="-122"/>
                <a:cs typeface="Courier New" pitchFamily="34" charset="-120"/>
              </a:rPr>
              <a:t>  "event_type": </a:t>
            </a:r>
            <a:pPr indent="0" marL="0">
              <a:lnSpc>
                <a:spcPct val="100000"/>
              </a:lnSpc>
              <a:buNone/>
            </a:pPr>
            <a:r>
              <a:rPr lang="en-US" sz="1200" dirty="0">
                <a:solidFill>
                  <a:srgbClr val="A8D5B8"/>
                </a:solidFill>
                <a:latin typeface="Courier New" pitchFamily="34" charset="0"/>
                <a:ea typeface="Courier New" pitchFamily="34" charset="-122"/>
                <a:cs typeface="Courier New" pitchFamily="34" charset="-120"/>
              </a:rPr>
              <a:t>"occupancy",</a:t>
            </a:r>
            <a:endParaRPr lang="en-US" sz="1200" dirty="0"/>
          </a:p>
          <a:p>
            <a:pPr indent="0" marL="0">
              <a:lnSpc>
                <a:spcPct val="100000"/>
              </a:lnSpc>
              <a:buNone/>
            </a:pPr>
            <a:r>
              <a:rPr lang="en-US" sz="1200" dirty="0">
                <a:solidFill>
                  <a:srgbClr val="E8C08A"/>
                </a:solidFill>
                <a:latin typeface="Courier New" pitchFamily="34" charset="0"/>
                <a:ea typeface="Courier New" pitchFamily="34" charset="-122"/>
                <a:cs typeface="Courier New" pitchFamily="34" charset="-120"/>
              </a:rPr>
              <a:t>  "value": </a:t>
            </a:r>
            <a:pPr indent="0" marL="0">
              <a:lnSpc>
                <a:spcPct val="100000"/>
              </a:lnSpc>
              <a:buNone/>
            </a:pPr>
            <a:r>
              <a:rPr lang="en-US" sz="1200" dirty="0">
                <a:solidFill>
                  <a:srgbClr val="A8C8F8"/>
                </a:solidFill>
                <a:latin typeface="Courier New" pitchFamily="34" charset="0"/>
                <a:ea typeface="Courier New" pitchFamily="34" charset="-122"/>
                <a:cs typeface="Courier New" pitchFamily="34" charset="-120"/>
              </a:rPr>
              <a:t>42,</a:t>
            </a:r>
            <a:endParaRPr lang="en-US" sz="1200" dirty="0"/>
          </a:p>
          <a:p>
            <a:pPr indent="0" marL="0">
              <a:lnSpc>
                <a:spcPct val="100000"/>
              </a:lnSpc>
              <a:buNone/>
            </a:pPr>
            <a:r>
              <a:rPr lang="en-US" sz="1200" dirty="0">
                <a:solidFill>
                  <a:srgbClr val="E8C08A"/>
                </a:solidFill>
                <a:latin typeface="Courier New" pitchFamily="34" charset="0"/>
                <a:ea typeface="Courier New" pitchFamily="34" charset="-122"/>
                <a:cs typeface="Courier New" pitchFamily="34" charset="-120"/>
              </a:rPr>
              <a:t>  "unit": </a:t>
            </a:r>
            <a:pPr indent="0" marL="0">
              <a:lnSpc>
                <a:spcPct val="100000"/>
              </a:lnSpc>
              <a:buNone/>
            </a:pPr>
            <a:r>
              <a:rPr lang="en-US" sz="1200" dirty="0">
                <a:solidFill>
                  <a:srgbClr val="A8D5B8"/>
                </a:solidFill>
                <a:latin typeface="Courier New" pitchFamily="34" charset="0"/>
                <a:ea typeface="Courier New" pitchFamily="34" charset="-122"/>
                <a:cs typeface="Courier New" pitchFamily="34" charset="-120"/>
              </a:rPr>
              <a:t>"people",</a:t>
            </a:r>
            <a:endParaRPr lang="en-US" sz="1200" dirty="0"/>
          </a:p>
          <a:p>
            <a:pPr indent="0" marL="0">
              <a:lnSpc>
                <a:spcPct val="100000"/>
              </a:lnSpc>
              <a:buNone/>
            </a:pPr>
            <a:r>
              <a:rPr lang="en-US" sz="1200" dirty="0">
                <a:solidFill>
                  <a:srgbClr val="E8C08A"/>
                </a:solidFill>
                <a:latin typeface="Courier New" pitchFamily="34" charset="0"/>
                <a:ea typeface="Courier New" pitchFamily="34" charset="-122"/>
                <a:cs typeface="Courier New" pitchFamily="34" charset="-120"/>
              </a:rPr>
              <a:t>  "severity": </a:t>
            </a:r>
            <a:pPr indent="0" marL="0">
              <a:lnSpc>
                <a:spcPct val="100000"/>
              </a:lnSpc>
              <a:buNone/>
            </a:pPr>
            <a:r>
              <a:rPr lang="en-US" sz="1200" dirty="0">
                <a:solidFill>
                  <a:srgbClr val="A8D5B8"/>
                </a:solidFill>
                <a:latin typeface="Courier New" pitchFamily="34" charset="0"/>
                <a:ea typeface="Courier New" pitchFamily="34" charset="-122"/>
                <a:cs typeface="Courier New" pitchFamily="34" charset="-120"/>
              </a:rPr>
              <a:t>"normal"</a:t>
            </a:r>
            <a:endParaRPr lang="en-US" sz="1200" dirty="0"/>
          </a:p>
          <a:p>
            <a:pPr indent="0" marL="0">
              <a:lnSpc>
                <a:spcPct val="100000"/>
              </a:lnSpc>
              <a:buNone/>
            </a:pPr>
            <a:r>
              <a:rPr lang="en-US" sz="1200" dirty="0">
                <a:solidFill>
                  <a:srgbClr val="C9DCC9"/>
                </a:solidFill>
                <a:latin typeface="Courier New" pitchFamily="34" charset="0"/>
                <a:ea typeface="Courier New" pitchFamily="34" charset="-122"/>
                <a:cs typeface="Courier New" pitchFamily="34" charset="-120"/>
              </a:rPr>
              <a:t>}</a:t>
            </a:r>
            <a:endParaRPr lang="en-US" sz="1200" dirty="0"/>
          </a:p>
        </p:txBody>
      </p:sp>
      <p:sp>
        <p:nvSpPr>
          <p:cNvPr id="21" name="Text 18"/>
          <p:cNvSpPr txBox="1"/>
          <p:nvPr/>
        </p:nvSpPr>
        <p:spPr>
          <a:xfrm>
            <a:off x="6263640" y="3794760"/>
            <a:ext cx="5303520" cy="274320"/>
          </a:xfrm>
          <a:prstGeom prst="rect">
            <a:avLst/>
          </a:prstGeom>
          <a:noFill/>
          <a:ln/>
        </p:spPr>
        <p:txBody>
          <a:bodyPr wrap="square" lIns="0" tIns="0" rIns="0" bIns="0" rtlCol="0" anchor="ctr"/>
          <a:lstStyle/>
          <a:p>
            <a:pPr indent="0" marL="0">
              <a:buNone/>
            </a:pPr>
            <a:r>
              <a:rPr lang="en-US" sz="1300" b="1" dirty="0">
                <a:solidFill>
                  <a:srgbClr val="B05E10"/>
                </a:solidFill>
                <a:latin typeface="Calibri" pitchFamily="34" charset="0"/>
                <a:ea typeface="Calibri" pitchFamily="34" charset="-122"/>
                <a:cs typeface="Calibri" pitchFamily="34" charset="-120"/>
              </a:rPr>
              <a:t>Alert rules applied by Lambda Ingest</a:t>
            </a:r>
            <a:endParaRPr lang="en-US" sz="1300" dirty="0"/>
          </a:p>
        </p:txBody>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6263640" y="4133088"/>
          <a:ext cx="5349240" cy="914400"/>
        </p:xfrm>
        <a:graphic>
          <a:graphicData uri="http://schemas.openxmlformats.org/drawingml/2006/table">
            <a:tbl>
              <a:tblPr/>
              <a:tblGrid>
                <a:gridCol w="1600200"/>
                <a:gridCol w="2743200"/>
                <a:gridCol w="1005840"/>
              </a:tblGrid>
              <a:tr h="338328">
                <a:tc>
                  <a:txBody>
                    <a:bodyPr/>
                    <a:lstStyle/>
                    <a:p>
                      <a:pPr indent="0" marL="0">
                        <a:buNone/>
                      </a:pPr>
                      <a:r>
                        <a:rPr lang="en-US" sz="1200" b="1" dirty="0">
                          <a:solidFill>
                            <a:srgbClr val="1B2E1B"/>
                          </a:solidFill>
                          <a:latin typeface="Calibri" pitchFamily="34" charset="0"/>
                          <a:ea typeface="Calibri" pitchFamily="34" charset="-122"/>
                          <a:cs typeface="Calibri" pitchFamily="34" charset="-120"/>
                        </a:rPr>
                        <a:t>Occupancy</a:t>
                      </a:r>
                      <a:endParaRPr lang="en-US" sz="12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c>
                  <a:txBody>
                    <a:bodyPr/>
                    <a:lstStyle/>
                    <a:p>
                      <a:pPr indent="0" marL="0">
                        <a:buNone/>
                      </a:pPr>
                      <a:r>
                        <a:rPr lang="en-US" sz="1200" dirty="0">
                          <a:solidFill>
                            <a:srgbClr val="1B2E1B"/>
                          </a:solidFill>
                          <a:latin typeface="Calibri" pitchFamily="34" charset="0"/>
                          <a:ea typeface="Calibri" pitchFamily="34" charset="-122"/>
                          <a:cs typeface="Calibri" pitchFamily="34" charset="-120"/>
                        </a:rPr>
                        <a:t>value &gt; room capacity</a:t>
                      </a:r>
                      <a:endParaRPr lang="en-US" sz="12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c>
                  <a:txBody>
                    <a:bodyPr/>
                    <a:lstStyle/>
                    <a:p>
                      <a:pPr indent="0" marL="0">
                        <a:buNone/>
                      </a:pPr>
                      <a:r>
                        <a:rPr lang="en-US" sz="1200" b="1" dirty="0">
                          <a:solidFill>
                            <a:srgbClr val="8A2A2A"/>
                          </a:solidFill>
                          <a:latin typeface="Calibri" pitchFamily="34" charset="0"/>
                          <a:ea typeface="Calibri" pitchFamily="34" charset="-122"/>
                          <a:cs typeface="Calibri" pitchFamily="34" charset="-120"/>
                        </a:rPr>
                        <a:t>HIGH</a:t>
                      </a:r>
                      <a:endParaRPr lang="en-US" sz="12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r>
              <a:tr h="338328">
                <a:tc>
                  <a:txBody>
                    <a:bodyPr/>
                    <a:lstStyle/>
                    <a:p>
                      <a:pPr indent="0" marL="0">
                        <a:buNone/>
                      </a:pPr>
                      <a:r>
                        <a:rPr lang="en-US" sz="1200" b="1" dirty="0">
                          <a:solidFill>
                            <a:srgbClr val="1B2E1B"/>
                          </a:solidFill>
                          <a:latin typeface="Calibri" pitchFamily="34" charset="0"/>
                          <a:ea typeface="Calibri" pitchFamily="34" charset="-122"/>
                          <a:cs typeface="Calibri" pitchFamily="34" charset="-120"/>
                        </a:rPr>
                        <a:t>Temperature</a:t>
                      </a:r>
                      <a:endParaRPr lang="en-US" sz="12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tc>
                  <a:txBody>
                    <a:bodyPr/>
                    <a:lstStyle/>
                    <a:p>
                      <a:pPr indent="0" marL="0">
                        <a:buNone/>
                      </a:pPr>
                      <a:r>
                        <a:rPr lang="en-US" sz="1200" dirty="0">
                          <a:solidFill>
                            <a:srgbClr val="1B2E1B"/>
                          </a:solidFill>
                          <a:latin typeface="Calibri" pitchFamily="34" charset="0"/>
                          <a:ea typeface="Calibri" pitchFamily="34" charset="-122"/>
                          <a:cs typeface="Calibri" pitchFamily="34" charset="-120"/>
                        </a:rPr>
                        <a:t>value &gt; 30 °C or &lt; 15 °C</a:t>
                      </a:r>
                      <a:endParaRPr lang="en-US" sz="12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tc>
                  <a:txBody>
                    <a:bodyPr/>
                    <a:lstStyle/>
                    <a:p>
                      <a:pPr indent="0" marL="0">
                        <a:buNone/>
                      </a:pPr>
                      <a:r>
                        <a:rPr lang="en-US" sz="1200" b="1" dirty="0">
                          <a:solidFill>
                            <a:srgbClr val="B05E10"/>
                          </a:solidFill>
                          <a:latin typeface="Calibri" pitchFamily="34" charset="0"/>
                          <a:ea typeface="Calibri" pitchFamily="34" charset="-122"/>
                          <a:cs typeface="Calibri" pitchFamily="34" charset="-120"/>
                        </a:rPr>
                        <a:t>MEDIUM</a:t>
                      </a:r>
                      <a:endParaRPr lang="en-US" sz="12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tr>
              <a:tr h="338328">
                <a:tc>
                  <a:txBody>
                    <a:bodyPr/>
                    <a:lstStyle/>
                    <a:p>
                      <a:pPr indent="0" marL="0">
                        <a:buNone/>
                      </a:pPr>
                      <a:r>
                        <a:rPr lang="en-US" sz="1200" b="1" dirty="0">
                          <a:solidFill>
                            <a:srgbClr val="1B2E1B"/>
                          </a:solidFill>
                          <a:latin typeface="Calibri" pitchFamily="34" charset="0"/>
                          <a:ea typeface="Calibri" pitchFamily="34" charset="-122"/>
                          <a:cs typeface="Calibri" pitchFamily="34" charset="-120"/>
                        </a:rPr>
                        <a:t>Energy</a:t>
                      </a:r>
                      <a:endParaRPr lang="en-US" sz="12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c>
                  <a:txBody>
                    <a:bodyPr/>
                    <a:lstStyle/>
                    <a:p>
                      <a:pPr indent="0" marL="0">
                        <a:buNone/>
                      </a:pPr>
                      <a:r>
                        <a:rPr lang="en-US" sz="1200" dirty="0">
                          <a:solidFill>
                            <a:srgbClr val="1B2E1B"/>
                          </a:solidFill>
                          <a:latin typeface="Calibri" pitchFamily="34" charset="0"/>
                          <a:ea typeface="Calibri" pitchFamily="34" charset="-122"/>
                          <a:cs typeface="Calibri" pitchFamily="34" charset="-120"/>
                        </a:rPr>
                        <a:t>value &gt; 500 kWh</a:t>
                      </a:r>
                      <a:endParaRPr lang="en-US" sz="12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c>
                  <a:txBody>
                    <a:bodyPr/>
                    <a:lstStyle/>
                    <a:p>
                      <a:pPr indent="0" marL="0">
                        <a:buNone/>
                      </a:pPr>
                      <a:r>
                        <a:rPr lang="en-US" sz="1200" b="1" dirty="0">
                          <a:solidFill>
                            <a:srgbClr val="B05E10"/>
                          </a:solidFill>
                          <a:latin typeface="Calibri" pitchFamily="34" charset="0"/>
                          <a:ea typeface="Calibri" pitchFamily="34" charset="-122"/>
                          <a:cs typeface="Calibri" pitchFamily="34" charset="-120"/>
                        </a:rPr>
                        <a:t>MEDIUM</a:t>
                      </a:r>
                      <a:endParaRPr lang="en-US" sz="12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r>
              <a:tr h="338328">
                <a:tc>
                  <a:txBody>
                    <a:bodyPr/>
                    <a:lstStyle/>
                    <a:p>
                      <a:pPr indent="0" marL="0">
                        <a:buNone/>
                      </a:pPr>
                      <a:r>
                        <a:rPr lang="en-US" sz="1200" b="1" dirty="0">
                          <a:solidFill>
                            <a:srgbClr val="1B2E1B"/>
                          </a:solidFill>
                          <a:latin typeface="Calibri" pitchFamily="34" charset="0"/>
                          <a:ea typeface="Calibri" pitchFamily="34" charset="-122"/>
                          <a:cs typeface="Calibri" pitchFamily="34" charset="-120"/>
                        </a:rPr>
                        <a:t>Equipment</a:t>
                      </a:r>
                      <a:endParaRPr lang="en-US" sz="12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tc>
                  <a:txBody>
                    <a:bodyPr/>
                    <a:lstStyle/>
                    <a:p>
                      <a:pPr indent="0" marL="0">
                        <a:buNone/>
                      </a:pPr>
                      <a:r>
                        <a:rPr lang="en-US" sz="1200" dirty="0">
                          <a:solidFill>
                            <a:srgbClr val="1B2E1B"/>
                          </a:solidFill>
                          <a:latin typeface="Calibri" pitchFamily="34" charset="0"/>
                          <a:ea typeface="Calibri" pitchFamily="34" charset="-122"/>
                          <a:cs typeface="Calibri" pitchFamily="34" charset="-120"/>
                        </a:rPr>
                        <a:t>status = failure</a:t>
                      </a:r>
                      <a:endParaRPr lang="en-US" sz="12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tc>
                  <a:txBody>
                    <a:bodyPr/>
                    <a:lstStyle/>
                    <a:p>
                      <a:pPr indent="0" marL="0">
                        <a:buNone/>
                      </a:pPr>
                      <a:r>
                        <a:rPr lang="en-US" sz="1200" b="1" dirty="0">
                          <a:solidFill>
                            <a:srgbClr val="8A2A2A"/>
                          </a:solidFill>
                          <a:latin typeface="Calibri" pitchFamily="34" charset="0"/>
                          <a:ea typeface="Calibri" pitchFamily="34" charset="-122"/>
                          <a:cs typeface="Calibri" pitchFamily="34" charset="-120"/>
                        </a:rPr>
                        <a:t>HIGH</a:t>
                      </a:r>
                      <a:endParaRPr lang="en-US" sz="12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tr>
              <a:tr h="338328">
                <a:tc>
                  <a:txBody>
                    <a:bodyPr/>
                    <a:lstStyle/>
                    <a:p>
                      <a:pPr indent="0" marL="0">
                        <a:buNone/>
                      </a:pPr>
                      <a:r>
                        <a:rPr lang="en-US" sz="1200" b="1" dirty="0">
                          <a:solidFill>
                            <a:srgbClr val="1B2E1B"/>
                          </a:solidFill>
                          <a:latin typeface="Calibri" pitchFamily="34" charset="0"/>
                          <a:ea typeface="Calibri" pitchFamily="34" charset="-122"/>
                          <a:cs typeface="Calibri" pitchFamily="34" charset="-120"/>
                        </a:rPr>
                        <a:t>Service request</a:t>
                      </a:r>
                      <a:endParaRPr lang="en-US" sz="12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c>
                  <a:txBody>
                    <a:bodyPr/>
                    <a:lstStyle/>
                    <a:p>
                      <a:pPr indent="0" marL="0">
                        <a:buNone/>
                      </a:pPr>
                      <a:r>
                        <a:rPr lang="en-US" sz="1200" dirty="0">
                          <a:solidFill>
                            <a:srgbClr val="1B2E1B"/>
                          </a:solidFill>
                          <a:latin typeface="Calibri" pitchFamily="34" charset="0"/>
                          <a:ea typeface="Calibri" pitchFamily="34" charset="-122"/>
                          <a:cs typeface="Calibri" pitchFamily="34" charset="-120"/>
                        </a:rPr>
                        <a:t>priority = urgent</a:t>
                      </a:r>
                      <a:endParaRPr lang="en-US" sz="12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c>
                  <a:txBody>
                    <a:bodyPr/>
                    <a:lstStyle/>
                    <a:p>
                      <a:pPr indent="0" marL="0">
                        <a:buNone/>
                      </a:pPr>
                      <a:r>
                        <a:rPr lang="en-US" sz="1200" b="1" dirty="0">
                          <a:solidFill>
                            <a:srgbClr val="8A2A2A"/>
                          </a:solidFill>
                          <a:latin typeface="Calibri" pitchFamily="34" charset="0"/>
                          <a:ea typeface="Calibri" pitchFamily="34" charset="-122"/>
                          <a:cs typeface="Calibri" pitchFamily="34" charset="-120"/>
                        </a:rPr>
                        <a:t>HIGH</a:t>
                      </a:r>
                      <a:endParaRPr lang="en-US" sz="12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5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3400" b="1" dirty="0">
                <a:solidFill>
                  <a:srgbClr val="2A7A4A"/>
                </a:solidFill>
                <a:latin typeface="Cambria" pitchFamily="34" charset="0"/>
                <a:ea typeface="Cambria" pitchFamily="34" charset="-122"/>
                <a:cs typeface="Cambria" pitchFamily="34" charset="-120"/>
              </a:rPr>
              <a:t>REST API: five endpoints</a:t>
            </a:r>
            <a:endParaRPr lang="en-US" sz="3400" dirty="0"/>
          </a:p>
        </p:txBody>
      </p:sp>
      <p:sp>
        <p:nvSpPr>
          <p:cNvPr id="3" name="Shape 1"/>
          <p:cNvSpPr/>
          <p:nvPr/>
        </p:nvSpPr>
        <p:spPr>
          <a:xfrm>
            <a:off x="548640" y="1234440"/>
            <a:ext cx="11064240" cy="777240"/>
          </a:xfrm>
          <a:prstGeom prst="roundRect">
            <a:avLst>
              <a:gd name="adj" fmla="val 9412"/>
            </a:avLst>
          </a:prstGeom>
          <a:solidFill>
            <a:srgbClr val="FFFFFF"/>
          </a:solidFill>
          <a:ln w="12700">
            <a:solidFill>
              <a:srgbClr val="C8D5C8"/>
            </a:solidFill>
            <a:prstDash val="solid"/>
          </a:ln>
        </p:spPr>
      </p:sp>
      <p:sp>
        <p:nvSpPr>
          <p:cNvPr id="4" name="Shape 2"/>
          <p:cNvSpPr/>
          <p:nvPr/>
        </p:nvSpPr>
        <p:spPr>
          <a:xfrm>
            <a:off x="548640" y="1234440"/>
            <a:ext cx="1600200" cy="777240"/>
          </a:xfrm>
          <a:prstGeom prst="roundRect">
            <a:avLst>
              <a:gd name="adj" fmla="val 9412"/>
            </a:avLst>
          </a:prstGeom>
          <a:solidFill>
            <a:srgbClr val="2A7A4A"/>
          </a:solidFill>
          <a:ln w="12700">
            <a:solidFill>
              <a:srgbClr val="2A7A4A"/>
            </a:solidFill>
            <a:prstDash val="solid"/>
          </a:ln>
        </p:spPr>
      </p:sp>
      <p:sp>
        <p:nvSpPr>
          <p:cNvPr id="5" name="Text 3"/>
          <p:cNvSpPr txBox="1"/>
          <p:nvPr/>
        </p:nvSpPr>
        <p:spPr>
          <a:xfrm>
            <a:off x="548640" y="1234440"/>
            <a:ext cx="1600200" cy="7772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POST</a:t>
            </a:r>
            <a:endParaRPr lang="en-US" sz="1500" dirty="0"/>
          </a:p>
          <a:p>
            <a:pPr algn="ctr" indent="0" marL="0">
              <a:buNone/>
            </a:pPr>
            <a:r>
              <a:rPr lang="en-US" sz="1300" dirty="0">
                <a:solidFill>
                  <a:srgbClr val="FFFFFF"/>
                </a:solidFill>
                <a:latin typeface="Courier New" pitchFamily="34" charset="0"/>
                <a:ea typeface="Courier New" pitchFamily="34" charset="-122"/>
                <a:cs typeface="Courier New" pitchFamily="34" charset="-120"/>
              </a:rPr>
              <a:t>/events</a:t>
            </a:r>
            <a:endParaRPr lang="en-US" sz="1500" dirty="0"/>
          </a:p>
        </p:txBody>
      </p:sp>
      <p:sp>
        <p:nvSpPr>
          <p:cNvPr id="6" name="Text 4"/>
          <p:cNvSpPr txBox="1"/>
          <p:nvPr/>
        </p:nvSpPr>
        <p:spPr>
          <a:xfrm>
            <a:off x="2377440" y="1325880"/>
            <a:ext cx="5120640" cy="292608"/>
          </a:xfrm>
          <a:prstGeom prst="rect">
            <a:avLst/>
          </a:prstGeom>
          <a:noFill/>
          <a:ln/>
        </p:spPr>
        <p:txBody>
          <a:bodyPr wrap="square" lIns="0" tIns="0" rIns="0" bIns="0" rtlCol="0" anchor="ctr"/>
          <a:lstStyle/>
          <a:p>
            <a:pPr indent="0" marL="0">
              <a:buNone/>
            </a:pPr>
            <a:r>
              <a:rPr lang="en-US" sz="1500" b="1" dirty="0">
                <a:solidFill>
                  <a:srgbClr val="1B2E1B"/>
                </a:solidFill>
                <a:latin typeface="Calibri" pitchFamily="34" charset="0"/>
                <a:ea typeface="Calibri" pitchFamily="34" charset="-122"/>
                <a:cs typeface="Calibri" pitchFamily="34" charset="-120"/>
              </a:rPr>
              <a:t>Ingest a campus event</a:t>
            </a:r>
            <a:endParaRPr lang="en-US" sz="1500" dirty="0"/>
          </a:p>
        </p:txBody>
      </p:sp>
      <p:sp>
        <p:nvSpPr>
          <p:cNvPr id="7" name="Text 5"/>
          <p:cNvSpPr txBox="1"/>
          <p:nvPr/>
        </p:nvSpPr>
        <p:spPr>
          <a:xfrm>
            <a:off x="2377440" y="1627632"/>
            <a:ext cx="5760720" cy="292608"/>
          </a:xfrm>
          <a:prstGeom prst="rect">
            <a:avLst/>
          </a:prstGeom>
          <a:noFill/>
          <a:ln/>
        </p:spPr>
        <p:txBody>
          <a:bodyPr wrap="square" lIns="0" tIns="0" rIns="0" bIns="0" rtlCol="0" anchor="ctr"/>
          <a:lstStyle/>
          <a:p>
            <a:pPr indent="0" marL="0">
              <a:buNone/>
            </a:pPr>
            <a:r>
              <a:rPr lang="en-US" sz="1200" dirty="0">
                <a:solidFill>
                  <a:srgbClr val="3E4E3E"/>
                </a:solidFill>
                <a:latin typeface="Calibri" pitchFamily="34" charset="0"/>
                <a:ea typeface="Calibri" pitchFamily="34" charset="-122"/>
                <a:cs typeface="Calibri" pitchFamily="34" charset="-120"/>
              </a:rPr>
              <a:t>Body: building, room, event_type, value, unit. Validated, then stored.</a:t>
            </a:r>
            <a:endParaRPr lang="en-US" sz="1200" dirty="0"/>
          </a:p>
        </p:txBody>
      </p:sp>
      <p:sp>
        <p:nvSpPr>
          <p:cNvPr id="8" name="Text 6"/>
          <p:cNvSpPr txBox="1"/>
          <p:nvPr/>
        </p:nvSpPr>
        <p:spPr>
          <a:xfrm>
            <a:off x="8321040" y="1344168"/>
            <a:ext cx="2011680" cy="274320"/>
          </a:xfrm>
          <a:prstGeom prst="rect">
            <a:avLst/>
          </a:prstGeom>
          <a:noFill/>
          <a:ln/>
        </p:spPr>
        <p:txBody>
          <a:bodyPr wrap="square" lIns="0" tIns="0" rIns="0" bIns="0" rtlCol="0" anchor="ctr"/>
          <a:lstStyle/>
          <a:p>
            <a:pPr indent="0" marL="0">
              <a:buNone/>
            </a:pPr>
            <a:r>
              <a:rPr lang="en-US" sz="1200" b="1" dirty="0">
                <a:solidFill>
                  <a:srgbClr val="1B2E1B"/>
                </a:solidFill>
                <a:latin typeface="Courier New" pitchFamily="34" charset="0"/>
                <a:ea typeface="Courier New" pitchFamily="34" charset="-122"/>
                <a:cs typeface="Courier New" pitchFamily="34" charset="-120"/>
              </a:rPr>
              <a:t>201 · 400 · 401</a:t>
            </a:r>
            <a:endParaRPr lang="en-US" sz="1200" dirty="0"/>
          </a:p>
        </p:txBody>
      </p:sp>
      <p:sp>
        <p:nvSpPr>
          <p:cNvPr id="9" name="Text 7"/>
          <p:cNvSpPr txBox="1"/>
          <p:nvPr/>
        </p:nvSpPr>
        <p:spPr>
          <a:xfrm>
            <a:off x="8321040" y="1645920"/>
            <a:ext cx="2011680" cy="256032"/>
          </a:xfrm>
          <a:prstGeom prst="rect">
            <a:avLst/>
          </a:prstGeom>
          <a:noFill/>
          <a:ln/>
        </p:spPr>
        <p:txBody>
          <a:bodyPr wrap="square" lIns="0" tIns="0" rIns="0" bIns="0" rtlCol="0" anchor="ctr"/>
          <a:lstStyle/>
          <a:p>
            <a:pPr indent="0" marL="0">
              <a:buNone/>
            </a:pPr>
            <a:r>
              <a:rPr lang="en-US" sz="1200" dirty="0">
                <a:solidFill>
                  <a:srgbClr val="B05E10"/>
                </a:solidFill>
                <a:latin typeface="Calibri" pitchFamily="34" charset="0"/>
                <a:ea typeface="Calibri" pitchFamily="34" charset="-122"/>
                <a:cs typeface="Calibri" pitchFamily="34" charset="-120"/>
              </a:rPr>
              <a:t>JWT required</a:t>
            </a:r>
            <a:endParaRPr lang="en-US" sz="1200" dirty="0"/>
          </a:p>
        </p:txBody>
      </p:sp>
      <p:pic>
        <p:nvPicPr>
          <p:cNvPr id="10" name="Image 0" descr="preencoded.png">    </p:cNvPr>
          <p:cNvPicPr>
            <a:picLocks noChangeAspect="1"/>
          </p:cNvPicPr>
          <p:nvPr/>
        </p:nvPicPr>
        <p:blipFill>
          <a:blip r:embed="rId1"/>
          <a:stretch>
            <a:fillRect/>
          </a:stretch>
        </p:blipFill>
        <p:spPr>
          <a:xfrm>
            <a:off x="10927080" y="1435608"/>
            <a:ext cx="365760" cy="365760"/>
          </a:xfrm>
          <a:prstGeom prst="rect">
            <a:avLst/>
          </a:prstGeom>
        </p:spPr>
      </p:pic>
      <p:sp>
        <p:nvSpPr>
          <p:cNvPr id="11" name="Shape 8"/>
          <p:cNvSpPr/>
          <p:nvPr/>
        </p:nvSpPr>
        <p:spPr>
          <a:xfrm>
            <a:off x="548640" y="2148840"/>
            <a:ext cx="11064240" cy="777240"/>
          </a:xfrm>
          <a:prstGeom prst="roundRect">
            <a:avLst>
              <a:gd name="adj" fmla="val 9412"/>
            </a:avLst>
          </a:prstGeom>
          <a:solidFill>
            <a:srgbClr val="FFFFFF"/>
          </a:solidFill>
          <a:ln w="12700">
            <a:solidFill>
              <a:srgbClr val="C8D5C8"/>
            </a:solidFill>
            <a:prstDash val="solid"/>
          </a:ln>
        </p:spPr>
      </p:sp>
      <p:sp>
        <p:nvSpPr>
          <p:cNvPr id="12" name="Shape 9"/>
          <p:cNvSpPr/>
          <p:nvPr/>
        </p:nvSpPr>
        <p:spPr>
          <a:xfrm>
            <a:off x="548640" y="2148840"/>
            <a:ext cx="1600200" cy="777240"/>
          </a:xfrm>
          <a:prstGeom prst="roundRect">
            <a:avLst>
              <a:gd name="adj" fmla="val 9412"/>
            </a:avLst>
          </a:prstGeom>
          <a:solidFill>
            <a:srgbClr val="3A6888"/>
          </a:solidFill>
          <a:ln w="12700">
            <a:solidFill>
              <a:srgbClr val="3A6888"/>
            </a:solidFill>
            <a:prstDash val="solid"/>
          </a:ln>
        </p:spPr>
      </p:sp>
      <p:sp>
        <p:nvSpPr>
          <p:cNvPr id="13" name="Text 10"/>
          <p:cNvSpPr txBox="1"/>
          <p:nvPr/>
        </p:nvSpPr>
        <p:spPr>
          <a:xfrm>
            <a:off x="548640" y="2148840"/>
            <a:ext cx="1600200" cy="7772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GET</a:t>
            </a:r>
            <a:endParaRPr lang="en-US" sz="1500" dirty="0"/>
          </a:p>
          <a:p>
            <a:pPr algn="ctr" indent="0" marL="0">
              <a:buNone/>
            </a:pPr>
            <a:r>
              <a:rPr lang="en-US" sz="1300" dirty="0">
                <a:solidFill>
                  <a:srgbClr val="FFFFFF"/>
                </a:solidFill>
                <a:latin typeface="Courier New" pitchFamily="34" charset="0"/>
                <a:ea typeface="Courier New" pitchFamily="34" charset="-122"/>
                <a:cs typeface="Courier New" pitchFamily="34" charset="-120"/>
              </a:rPr>
              <a:t>/events</a:t>
            </a:r>
            <a:endParaRPr lang="en-US" sz="1500" dirty="0"/>
          </a:p>
        </p:txBody>
      </p:sp>
      <p:sp>
        <p:nvSpPr>
          <p:cNvPr id="14" name="Text 11"/>
          <p:cNvSpPr txBox="1"/>
          <p:nvPr/>
        </p:nvSpPr>
        <p:spPr>
          <a:xfrm>
            <a:off x="2377440" y="2240280"/>
            <a:ext cx="5120640" cy="292608"/>
          </a:xfrm>
          <a:prstGeom prst="rect">
            <a:avLst/>
          </a:prstGeom>
          <a:noFill/>
          <a:ln/>
        </p:spPr>
        <p:txBody>
          <a:bodyPr wrap="square" lIns="0" tIns="0" rIns="0" bIns="0" rtlCol="0" anchor="ctr"/>
          <a:lstStyle/>
          <a:p>
            <a:pPr indent="0" marL="0">
              <a:buNone/>
            </a:pPr>
            <a:r>
              <a:rPr lang="en-US" sz="1500" b="1" dirty="0">
                <a:solidFill>
                  <a:srgbClr val="1B2E1B"/>
                </a:solidFill>
                <a:latin typeface="Calibri" pitchFamily="34" charset="0"/>
                <a:ea typeface="Calibri" pitchFamily="34" charset="-122"/>
                <a:cs typeface="Calibri" pitchFamily="34" charset="-120"/>
              </a:rPr>
              <a:t>List recent events</a:t>
            </a:r>
            <a:endParaRPr lang="en-US" sz="1500" dirty="0"/>
          </a:p>
        </p:txBody>
      </p:sp>
      <p:sp>
        <p:nvSpPr>
          <p:cNvPr id="15" name="Text 12"/>
          <p:cNvSpPr txBox="1"/>
          <p:nvPr/>
        </p:nvSpPr>
        <p:spPr>
          <a:xfrm>
            <a:off x="2377440" y="2542032"/>
            <a:ext cx="5760720" cy="292608"/>
          </a:xfrm>
          <a:prstGeom prst="rect">
            <a:avLst/>
          </a:prstGeom>
          <a:noFill/>
          <a:ln/>
        </p:spPr>
        <p:txBody>
          <a:bodyPr wrap="square" lIns="0" tIns="0" rIns="0" bIns="0" rtlCol="0" anchor="ctr"/>
          <a:lstStyle/>
          <a:p>
            <a:pPr indent="0" marL="0">
              <a:buNone/>
            </a:pPr>
            <a:r>
              <a:rPr lang="en-US" sz="1200" dirty="0">
                <a:solidFill>
                  <a:srgbClr val="3E4E3E"/>
                </a:solidFill>
                <a:latin typeface="Calibri" pitchFamily="34" charset="0"/>
                <a:ea typeface="Calibri" pitchFamily="34" charset="-122"/>
                <a:cs typeface="Calibri" pitchFamily="34" charset="-120"/>
              </a:rPr>
              <a:t>Filters: building, event_type, limit. Returns a JSON array.</a:t>
            </a:r>
            <a:endParaRPr lang="en-US" sz="1200" dirty="0"/>
          </a:p>
        </p:txBody>
      </p:sp>
      <p:sp>
        <p:nvSpPr>
          <p:cNvPr id="16" name="Text 13"/>
          <p:cNvSpPr txBox="1"/>
          <p:nvPr/>
        </p:nvSpPr>
        <p:spPr>
          <a:xfrm>
            <a:off x="8321040" y="2258568"/>
            <a:ext cx="2011680" cy="274320"/>
          </a:xfrm>
          <a:prstGeom prst="rect">
            <a:avLst/>
          </a:prstGeom>
          <a:noFill/>
          <a:ln/>
        </p:spPr>
        <p:txBody>
          <a:bodyPr wrap="square" lIns="0" tIns="0" rIns="0" bIns="0" rtlCol="0" anchor="ctr"/>
          <a:lstStyle/>
          <a:p>
            <a:pPr indent="0" marL="0">
              <a:buNone/>
            </a:pPr>
            <a:r>
              <a:rPr lang="en-US" sz="1200" b="1" dirty="0">
                <a:solidFill>
                  <a:srgbClr val="1B2E1B"/>
                </a:solidFill>
                <a:latin typeface="Courier New" pitchFamily="34" charset="0"/>
                <a:ea typeface="Courier New" pitchFamily="34" charset="-122"/>
                <a:cs typeface="Courier New" pitchFamily="34" charset="-120"/>
              </a:rPr>
              <a:t>200 · 401 · 403</a:t>
            </a:r>
            <a:endParaRPr lang="en-US" sz="1200" dirty="0"/>
          </a:p>
        </p:txBody>
      </p:sp>
      <p:sp>
        <p:nvSpPr>
          <p:cNvPr id="17" name="Text 14"/>
          <p:cNvSpPr txBox="1"/>
          <p:nvPr/>
        </p:nvSpPr>
        <p:spPr>
          <a:xfrm>
            <a:off x="8321040" y="2560320"/>
            <a:ext cx="2011680" cy="256032"/>
          </a:xfrm>
          <a:prstGeom prst="rect">
            <a:avLst/>
          </a:prstGeom>
          <a:noFill/>
          <a:ln/>
        </p:spPr>
        <p:txBody>
          <a:bodyPr wrap="square" lIns="0" tIns="0" rIns="0" bIns="0" rtlCol="0" anchor="ctr"/>
          <a:lstStyle/>
          <a:p>
            <a:pPr indent="0" marL="0">
              <a:buNone/>
            </a:pPr>
            <a:r>
              <a:rPr lang="en-US" sz="1200" dirty="0">
                <a:solidFill>
                  <a:srgbClr val="B05E10"/>
                </a:solidFill>
                <a:latin typeface="Calibri" pitchFamily="34" charset="0"/>
                <a:ea typeface="Calibri" pitchFamily="34" charset="-122"/>
                <a:cs typeface="Calibri" pitchFamily="34" charset="-120"/>
              </a:rPr>
              <a:t>JWT required</a:t>
            </a:r>
            <a:endParaRPr lang="en-US" sz="1200" dirty="0"/>
          </a:p>
        </p:txBody>
      </p:sp>
      <p:pic>
        <p:nvPicPr>
          <p:cNvPr id="18" name="Image 1" descr="preencoded.png">    </p:cNvPr>
          <p:cNvPicPr>
            <a:picLocks noChangeAspect="1"/>
          </p:cNvPicPr>
          <p:nvPr/>
        </p:nvPicPr>
        <p:blipFill>
          <a:blip r:embed="rId2"/>
          <a:stretch>
            <a:fillRect/>
          </a:stretch>
        </p:blipFill>
        <p:spPr>
          <a:xfrm>
            <a:off x="10927080" y="2350008"/>
            <a:ext cx="365760" cy="365760"/>
          </a:xfrm>
          <a:prstGeom prst="rect">
            <a:avLst/>
          </a:prstGeom>
        </p:spPr>
      </p:pic>
      <p:sp>
        <p:nvSpPr>
          <p:cNvPr id="19" name="Shape 15"/>
          <p:cNvSpPr/>
          <p:nvPr/>
        </p:nvSpPr>
        <p:spPr>
          <a:xfrm>
            <a:off x="548640" y="3063240"/>
            <a:ext cx="11064240" cy="777240"/>
          </a:xfrm>
          <a:prstGeom prst="roundRect">
            <a:avLst>
              <a:gd name="adj" fmla="val 9412"/>
            </a:avLst>
          </a:prstGeom>
          <a:solidFill>
            <a:srgbClr val="FFFFFF"/>
          </a:solidFill>
          <a:ln w="12700">
            <a:solidFill>
              <a:srgbClr val="C8D5C8"/>
            </a:solidFill>
            <a:prstDash val="solid"/>
          </a:ln>
        </p:spPr>
      </p:sp>
      <p:sp>
        <p:nvSpPr>
          <p:cNvPr id="20" name="Shape 16"/>
          <p:cNvSpPr/>
          <p:nvPr/>
        </p:nvSpPr>
        <p:spPr>
          <a:xfrm>
            <a:off x="548640" y="3063240"/>
            <a:ext cx="1600200" cy="777240"/>
          </a:xfrm>
          <a:prstGeom prst="roundRect">
            <a:avLst>
              <a:gd name="adj" fmla="val 9412"/>
            </a:avLst>
          </a:prstGeom>
          <a:solidFill>
            <a:srgbClr val="3A6888"/>
          </a:solidFill>
          <a:ln w="12700">
            <a:solidFill>
              <a:srgbClr val="3A6888"/>
            </a:solidFill>
            <a:prstDash val="solid"/>
          </a:ln>
        </p:spPr>
      </p:sp>
      <p:sp>
        <p:nvSpPr>
          <p:cNvPr id="21" name="Text 17"/>
          <p:cNvSpPr txBox="1"/>
          <p:nvPr/>
        </p:nvSpPr>
        <p:spPr>
          <a:xfrm>
            <a:off x="548640" y="3063240"/>
            <a:ext cx="1600200" cy="7772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GET</a:t>
            </a:r>
            <a:endParaRPr lang="en-US" sz="1500" dirty="0"/>
          </a:p>
          <a:p>
            <a:pPr algn="ctr" indent="0" marL="0">
              <a:buNone/>
            </a:pPr>
            <a:r>
              <a:rPr lang="en-US" sz="1300" dirty="0">
                <a:solidFill>
                  <a:srgbClr val="FFFFFF"/>
                </a:solidFill>
                <a:latin typeface="Courier New" pitchFamily="34" charset="0"/>
                <a:ea typeface="Courier New" pitchFamily="34" charset="-122"/>
                <a:cs typeface="Courier New" pitchFamily="34" charset="-120"/>
              </a:rPr>
              <a:t>/stats</a:t>
            </a:r>
            <a:endParaRPr lang="en-US" sz="1500" dirty="0"/>
          </a:p>
        </p:txBody>
      </p:sp>
      <p:sp>
        <p:nvSpPr>
          <p:cNvPr id="22" name="Text 18"/>
          <p:cNvSpPr txBox="1"/>
          <p:nvPr/>
        </p:nvSpPr>
        <p:spPr>
          <a:xfrm>
            <a:off x="2377440" y="3154680"/>
            <a:ext cx="5120640" cy="292608"/>
          </a:xfrm>
          <a:prstGeom prst="rect">
            <a:avLst/>
          </a:prstGeom>
          <a:noFill/>
          <a:ln/>
        </p:spPr>
        <p:txBody>
          <a:bodyPr wrap="square" lIns="0" tIns="0" rIns="0" bIns="0" rtlCol="0" anchor="ctr"/>
          <a:lstStyle/>
          <a:p>
            <a:pPr indent="0" marL="0">
              <a:buNone/>
            </a:pPr>
            <a:r>
              <a:rPr lang="en-US" sz="1500" b="1" dirty="0">
                <a:solidFill>
                  <a:srgbClr val="1B2E1B"/>
                </a:solidFill>
                <a:latin typeface="Calibri" pitchFamily="34" charset="0"/>
                <a:ea typeface="Calibri" pitchFamily="34" charset="-122"/>
                <a:cs typeface="Calibri" pitchFamily="34" charset="-120"/>
              </a:rPr>
              <a:t>Campus statistics</a:t>
            </a:r>
            <a:endParaRPr lang="en-US" sz="1500" dirty="0"/>
          </a:p>
        </p:txBody>
      </p:sp>
      <p:sp>
        <p:nvSpPr>
          <p:cNvPr id="23" name="Text 19"/>
          <p:cNvSpPr txBox="1"/>
          <p:nvPr/>
        </p:nvSpPr>
        <p:spPr>
          <a:xfrm>
            <a:off x="2377440" y="3456432"/>
            <a:ext cx="5760720" cy="292608"/>
          </a:xfrm>
          <a:prstGeom prst="rect">
            <a:avLst/>
          </a:prstGeom>
          <a:noFill/>
          <a:ln/>
        </p:spPr>
        <p:txBody>
          <a:bodyPr wrap="square" lIns="0" tIns="0" rIns="0" bIns="0" rtlCol="0" anchor="ctr"/>
          <a:lstStyle/>
          <a:p>
            <a:pPr indent="0" marL="0">
              <a:buNone/>
            </a:pPr>
            <a:r>
              <a:rPr lang="en-US" sz="1200" dirty="0">
                <a:solidFill>
                  <a:srgbClr val="3E4E3E"/>
                </a:solidFill>
                <a:latin typeface="Calibri" pitchFamily="34" charset="0"/>
                <a:ea typeface="Calibri" pitchFamily="34" charset="-122"/>
                <a:cs typeface="Calibri" pitchFamily="34" charset="-120"/>
              </a:rPr>
              <a:t>Totals by type and building, average temperature, energy, alert count.</a:t>
            </a:r>
            <a:endParaRPr lang="en-US" sz="1200" dirty="0"/>
          </a:p>
        </p:txBody>
      </p:sp>
      <p:sp>
        <p:nvSpPr>
          <p:cNvPr id="24" name="Text 20"/>
          <p:cNvSpPr txBox="1"/>
          <p:nvPr/>
        </p:nvSpPr>
        <p:spPr>
          <a:xfrm>
            <a:off x="8321040" y="3172968"/>
            <a:ext cx="2011680" cy="274320"/>
          </a:xfrm>
          <a:prstGeom prst="rect">
            <a:avLst/>
          </a:prstGeom>
          <a:noFill/>
          <a:ln/>
        </p:spPr>
        <p:txBody>
          <a:bodyPr wrap="square" lIns="0" tIns="0" rIns="0" bIns="0" rtlCol="0" anchor="ctr"/>
          <a:lstStyle/>
          <a:p>
            <a:pPr indent="0" marL="0">
              <a:buNone/>
            </a:pPr>
            <a:r>
              <a:rPr lang="en-US" sz="1200" b="1" dirty="0">
                <a:solidFill>
                  <a:srgbClr val="1B2E1B"/>
                </a:solidFill>
                <a:latin typeface="Courier New" pitchFamily="34" charset="0"/>
                <a:ea typeface="Courier New" pitchFamily="34" charset="-122"/>
                <a:cs typeface="Courier New" pitchFamily="34" charset="-120"/>
              </a:rPr>
              <a:t>200 · 401</a:t>
            </a:r>
            <a:endParaRPr lang="en-US" sz="1200" dirty="0"/>
          </a:p>
        </p:txBody>
      </p:sp>
      <p:sp>
        <p:nvSpPr>
          <p:cNvPr id="25" name="Text 21"/>
          <p:cNvSpPr txBox="1"/>
          <p:nvPr/>
        </p:nvSpPr>
        <p:spPr>
          <a:xfrm>
            <a:off x="8321040" y="3474720"/>
            <a:ext cx="2011680" cy="256032"/>
          </a:xfrm>
          <a:prstGeom prst="rect">
            <a:avLst/>
          </a:prstGeom>
          <a:noFill/>
          <a:ln/>
        </p:spPr>
        <p:txBody>
          <a:bodyPr wrap="square" lIns="0" tIns="0" rIns="0" bIns="0" rtlCol="0" anchor="ctr"/>
          <a:lstStyle/>
          <a:p>
            <a:pPr indent="0" marL="0">
              <a:buNone/>
            </a:pPr>
            <a:r>
              <a:rPr lang="en-US" sz="1200" dirty="0">
                <a:solidFill>
                  <a:srgbClr val="B05E10"/>
                </a:solidFill>
                <a:latin typeface="Calibri" pitchFamily="34" charset="0"/>
                <a:ea typeface="Calibri" pitchFamily="34" charset="-122"/>
                <a:cs typeface="Calibri" pitchFamily="34" charset="-120"/>
              </a:rPr>
              <a:t>JWT required</a:t>
            </a:r>
            <a:endParaRPr lang="en-US" sz="1200" dirty="0"/>
          </a:p>
        </p:txBody>
      </p:sp>
      <p:pic>
        <p:nvPicPr>
          <p:cNvPr id="26" name="Image 2" descr="preencoded.png">    </p:cNvPr>
          <p:cNvPicPr>
            <a:picLocks noChangeAspect="1"/>
          </p:cNvPicPr>
          <p:nvPr/>
        </p:nvPicPr>
        <p:blipFill>
          <a:blip r:embed="rId3"/>
          <a:stretch>
            <a:fillRect/>
          </a:stretch>
        </p:blipFill>
        <p:spPr>
          <a:xfrm>
            <a:off x="10927080" y="3264408"/>
            <a:ext cx="365760" cy="365760"/>
          </a:xfrm>
          <a:prstGeom prst="rect">
            <a:avLst/>
          </a:prstGeom>
        </p:spPr>
      </p:pic>
      <p:sp>
        <p:nvSpPr>
          <p:cNvPr id="27" name="Shape 22"/>
          <p:cNvSpPr/>
          <p:nvPr/>
        </p:nvSpPr>
        <p:spPr>
          <a:xfrm>
            <a:off x="548640" y="3977640"/>
            <a:ext cx="11064240" cy="777240"/>
          </a:xfrm>
          <a:prstGeom prst="roundRect">
            <a:avLst>
              <a:gd name="adj" fmla="val 9412"/>
            </a:avLst>
          </a:prstGeom>
          <a:solidFill>
            <a:srgbClr val="FFFFFF"/>
          </a:solidFill>
          <a:ln w="12700">
            <a:solidFill>
              <a:srgbClr val="C8D5C8"/>
            </a:solidFill>
            <a:prstDash val="solid"/>
          </a:ln>
        </p:spPr>
      </p:sp>
      <p:sp>
        <p:nvSpPr>
          <p:cNvPr id="28" name="Shape 23"/>
          <p:cNvSpPr/>
          <p:nvPr/>
        </p:nvSpPr>
        <p:spPr>
          <a:xfrm>
            <a:off x="548640" y="3977640"/>
            <a:ext cx="1600200" cy="777240"/>
          </a:xfrm>
          <a:prstGeom prst="roundRect">
            <a:avLst>
              <a:gd name="adj" fmla="val 9412"/>
            </a:avLst>
          </a:prstGeom>
          <a:solidFill>
            <a:srgbClr val="8A2A2A"/>
          </a:solidFill>
          <a:ln w="12700">
            <a:solidFill>
              <a:srgbClr val="8A2A2A"/>
            </a:solidFill>
            <a:prstDash val="solid"/>
          </a:ln>
        </p:spPr>
      </p:sp>
      <p:sp>
        <p:nvSpPr>
          <p:cNvPr id="29" name="Text 24"/>
          <p:cNvSpPr txBox="1"/>
          <p:nvPr/>
        </p:nvSpPr>
        <p:spPr>
          <a:xfrm>
            <a:off x="548640" y="3977640"/>
            <a:ext cx="1600200" cy="7772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GET</a:t>
            </a:r>
            <a:endParaRPr lang="en-US" sz="1500" dirty="0"/>
          </a:p>
          <a:p>
            <a:pPr algn="ctr" indent="0" marL="0">
              <a:buNone/>
            </a:pPr>
            <a:r>
              <a:rPr lang="en-US" sz="1300" dirty="0">
                <a:solidFill>
                  <a:srgbClr val="FFFFFF"/>
                </a:solidFill>
                <a:latin typeface="Courier New" pitchFamily="34" charset="0"/>
                <a:ea typeface="Courier New" pitchFamily="34" charset="-122"/>
                <a:cs typeface="Courier New" pitchFamily="34" charset="-120"/>
              </a:rPr>
              <a:t>/alerts</a:t>
            </a:r>
            <a:endParaRPr lang="en-US" sz="1500" dirty="0"/>
          </a:p>
        </p:txBody>
      </p:sp>
      <p:sp>
        <p:nvSpPr>
          <p:cNvPr id="30" name="Text 25"/>
          <p:cNvSpPr txBox="1"/>
          <p:nvPr/>
        </p:nvSpPr>
        <p:spPr>
          <a:xfrm>
            <a:off x="2377440" y="4069080"/>
            <a:ext cx="5120640" cy="292608"/>
          </a:xfrm>
          <a:prstGeom prst="rect">
            <a:avLst/>
          </a:prstGeom>
          <a:noFill/>
          <a:ln/>
        </p:spPr>
        <p:txBody>
          <a:bodyPr wrap="square" lIns="0" tIns="0" rIns="0" bIns="0" rtlCol="0" anchor="ctr"/>
          <a:lstStyle/>
          <a:p>
            <a:pPr indent="0" marL="0">
              <a:buNone/>
            </a:pPr>
            <a:r>
              <a:rPr lang="en-US" sz="1500" b="1" dirty="0">
                <a:solidFill>
                  <a:srgbClr val="1B2E1B"/>
                </a:solidFill>
                <a:latin typeface="Calibri" pitchFamily="34" charset="0"/>
                <a:ea typeface="Calibri" pitchFamily="34" charset="-122"/>
                <a:cs typeface="Calibri" pitchFamily="34" charset="-120"/>
              </a:rPr>
              <a:t>Active alerts</a:t>
            </a:r>
            <a:endParaRPr lang="en-US" sz="1500" dirty="0"/>
          </a:p>
        </p:txBody>
      </p:sp>
      <p:sp>
        <p:nvSpPr>
          <p:cNvPr id="31" name="Text 26"/>
          <p:cNvSpPr txBox="1"/>
          <p:nvPr/>
        </p:nvSpPr>
        <p:spPr>
          <a:xfrm>
            <a:off x="2377440" y="4370832"/>
            <a:ext cx="5760720" cy="292608"/>
          </a:xfrm>
          <a:prstGeom prst="rect">
            <a:avLst/>
          </a:prstGeom>
          <a:noFill/>
          <a:ln/>
        </p:spPr>
        <p:txBody>
          <a:bodyPr wrap="square" lIns="0" tIns="0" rIns="0" bIns="0" rtlCol="0" anchor="ctr"/>
          <a:lstStyle/>
          <a:p>
            <a:pPr indent="0" marL="0">
              <a:buNone/>
            </a:pPr>
            <a:r>
              <a:rPr lang="en-US" sz="1200" dirty="0">
                <a:solidFill>
                  <a:srgbClr val="3E4E3E"/>
                </a:solidFill>
                <a:latin typeface="Calibri" pitchFamily="34" charset="0"/>
                <a:ea typeface="Calibri" pitchFamily="34" charset="-122"/>
                <a:cs typeface="Calibri" pitchFamily="34" charset="-120"/>
              </a:rPr>
              <a:t>Events with severity high: overcrowding, failures, urgent requests.</a:t>
            </a:r>
            <a:endParaRPr lang="en-US" sz="1200" dirty="0"/>
          </a:p>
        </p:txBody>
      </p:sp>
      <p:sp>
        <p:nvSpPr>
          <p:cNvPr id="32" name="Text 27"/>
          <p:cNvSpPr txBox="1"/>
          <p:nvPr/>
        </p:nvSpPr>
        <p:spPr>
          <a:xfrm>
            <a:off x="8321040" y="4087368"/>
            <a:ext cx="2011680" cy="274320"/>
          </a:xfrm>
          <a:prstGeom prst="rect">
            <a:avLst/>
          </a:prstGeom>
          <a:noFill/>
          <a:ln/>
        </p:spPr>
        <p:txBody>
          <a:bodyPr wrap="square" lIns="0" tIns="0" rIns="0" bIns="0" rtlCol="0" anchor="ctr"/>
          <a:lstStyle/>
          <a:p>
            <a:pPr indent="0" marL="0">
              <a:buNone/>
            </a:pPr>
            <a:r>
              <a:rPr lang="en-US" sz="1200" b="1" dirty="0">
                <a:solidFill>
                  <a:srgbClr val="1B2E1B"/>
                </a:solidFill>
                <a:latin typeface="Courier New" pitchFamily="34" charset="0"/>
                <a:ea typeface="Courier New" pitchFamily="34" charset="-122"/>
                <a:cs typeface="Courier New" pitchFamily="34" charset="-120"/>
              </a:rPr>
              <a:t>200 · 401</a:t>
            </a:r>
            <a:endParaRPr lang="en-US" sz="1200" dirty="0"/>
          </a:p>
        </p:txBody>
      </p:sp>
      <p:sp>
        <p:nvSpPr>
          <p:cNvPr id="33" name="Text 28"/>
          <p:cNvSpPr txBox="1"/>
          <p:nvPr/>
        </p:nvSpPr>
        <p:spPr>
          <a:xfrm>
            <a:off x="8321040" y="4389120"/>
            <a:ext cx="2011680" cy="256032"/>
          </a:xfrm>
          <a:prstGeom prst="rect">
            <a:avLst/>
          </a:prstGeom>
          <a:noFill/>
          <a:ln/>
        </p:spPr>
        <p:txBody>
          <a:bodyPr wrap="square" lIns="0" tIns="0" rIns="0" bIns="0" rtlCol="0" anchor="ctr"/>
          <a:lstStyle/>
          <a:p>
            <a:pPr indent="0" marL="0">
              <a:buNone/>
            </a:pPr>
            <a:r>
              <a:rPr lang="en-US" sz="1200" dirty="0">
                <a:solidFill>
                  <a:srgbClr val="B05E10"/>
                </a:solidFill>
                <a:latin typeface="Calibri" pitchFamily="34" charset="0"/>
                <a:ea typeface="Calibri" pitchFamily="34" charset="-122"/>
                <a:cs typeface="Calibri" pitchFamily="34" charset="-120"/>
              </a:rPr>
              <a:t>JWT required</a:t>
            </a:r>
            <a:endParaRPr lang="en-US" sz="1200" dirty="0"/>
          </a:p>
        </p:txBody>
      </p:sp>
      <p:pic>
        <p:nvPicPr>
          <p:cNvPr id="34" name="Image 3" descr="preencoded.png">    </p:cNvPr>
          <p:cNvPicPr>
            <a:picLocks noChangeAspect="1"/>
          </p:cNvPicPr>
          <p:nvPr/>
        </p:nvPicPr>
        <p:blipFill>
          <a:blip r:embed="rId4"/>
          <a:stretch>
            <a:fillRect/>
          </a:stretch>
        </p:blipFill>
        <p:spPr>
          <a:xfrm>
            <a:off x="10927080" y="4178808"/>
            <a:ext cx="365760" cy="365760"/>
          </a:xfrm>
          <a:prstGeom prst="rect">
            <a:avLst/>
          </a:prstGeom>
        </p:spPr>
      </p:pic>
      <p:sp>
        <p:nvSpPr>
          <p:cNvPr id="35" name="Shape 29"/>
          <p:cNvSpPr/>
          <p:nvPr/>
        </p:nvSpPr>
        <p:spPr>
          <a:xfrm>
            <a:off x="548640" y="4892040"/>
            <a:ext cx="11064240" cy="777240"/>
          </a:xfrm>
          <a:prstGeom prst="roundRect">
            <a:avLst>
              <a:gd name="adj" fmla="val 9412"/>
            </a:avLst>
          </a:prstGeom>
          <a:solidFill>
            <a:srgbClr val="FFFFFF"/>
          </a:solidFill>
          <a:ln w="12700">
            <a:solidFill>
              <a:srgbClr val="C8D5C8"/>
            </a:solidFill>
            <a:prstDash val="solid"/>
          </a:ln>
        </p:spPr>
      </p:sp>
      <p:sp>
        <p:nvSpPr>
          <p:cNvPr id="36" name="Shape 30"/>
          <p:cNvSpPr/>
          <p:nvPr/>
        </p:nvSpPr>
        <p:spPr>
          <a:xfrm>
            <a:off x="548640" y="4892040"/>
            <a:ext cx="1600200" cy="777240"/>
          </a:xfrm>
          <a:prstGeom prst="roundRect">
            <a:avLst>
              <a:gd name="adj" fmla="val 9412"/>
            </a:avLst>
          </a:prstGeom>
          <a:solidFill>
            <a:srgbClr val="6A4898"/>
          </a:solidFill>
          <a:ln w="12700">
            <a:solidFill>
              <a:srgbClr val="6A4898"/>
            </a:solidFill>
            <a:prstDash val="solid"/>
          </a:ln>
        </p:spPr>
      </p:sp>
      <p:sp>
        <p:nvSpPr>
          <p:cNvPr id="37" name="Text 31"/>
          <p:cNvSpPr txBox="1"/>
          <p:nvPr/>
        </p:nvSpPr>
        <p:spPr>
          <a:xfrm>
            <a:off x="548640" y="4892040"/>
            <a:ext cx="1600200" cy="7772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POST</a:t>
            </a:r>
            <a:endParaRPr lang="en-US" sz="1500" dirty="0"/>
          </a:p>
          <a:p>
            <a:pPr algn="ctr" indent="0" marL="0">
              <a:buNone/>
            </a:pPr>
            <a:r>
              <a:rPr lang="en-US" sz="1300" dirty="0">
                <a:solidFill>
                  <a:srgbClr val="FFFFFF"/>
                </a:solidFill>
                <a:latin typeface="Courier New" pitchFamily="34" charset="0"/>
                <a:ea typeface="Courier New" pitchFamily="34" charset="-122"/>
                <a:cs typeface="Courier New" pitchFamily="34" charset="-120"/>
              </a:rPr>
              <a:t>/login</a:t>
            </a:r>
            <a:endParaRPr lang="en-US" sz="1500" dirty="0"/>
          </a:p>
        </p:txBody>
      </p:sp>
      <p:sp>
        <p:nvSpPr>
          <p:cNvPr id="38" name="Text 32"/>
          <p:cNvSpPr txBox="1"/>
          <p:nvPr/>
        </p:nvSpPr>
        <p:spPr>
          <a:xfrm>
            <a:off x="2377440" y="4983480"/>
            <a:ext cx="5120640" cy="292608"/>
          </a:xfrm>
          <a:prstGeom prst="rect">
            <a:avLst/>
          </a:prstGeom>
          <a:noFill/>
          <a:ln/>
        </p:spPr>
        <p:txBody>
          <a:bodyPr wrap="square" lIns="0" tIns="0" rIns="0" bIns="0" rtlCol="0" anchor="ctr"/>
          <a:lstStyle/>
          <a:p>
            <a:pPr indent="0" marL="0">
              <a:buNone/>
            </a:pPr>
            <a:r>
              <a:rPr lang="en-US" sz="1500" b="1" dirty="0">
                <a:solidFill>
                  <a:srgbClr val="1B2E1B"/>
                </a:solidFill>
                <a:latin typeface="Calibri" pitchFamily="34" charset="0"/>
                <a:ea typeface="Calibri" pitchFamily="34" charset="-122"/>
                <a:cs typeface="Calibri" pitchFamily="34" charset="-120"/>
              </a:rPr>
              <a:t>Sign in</a:t>
            </a:r>
            <a:endParaRPr lang="en-US" sz="1500" dirty="0"/>
          </a:p>
        </p:txBody>
      </p:sp>
      <p:sp>
        <p:nvSpPr>
          <p:cNvPr id="39" name="Text 33"/>
          <p:cNvSpPr txBox="1"/>
          <p:nvPr/>
        </p:nvSpPr>
        <p:spPr>
          <a:xfrm>
            <a:off x="2377440" y="5285232"/>
            <a:ext cx="5760720" cy="292608"/>
          </a:xfrm>
          <a:prstGeom prst="rect">
            <a:avLst/>
          </a:prstGeom>
          <a:noFill/>
          <a:ln/>
        </p:spPr>
        <p:txBody>
          <a:bodyPr wrap="square" lIns="0" tIns="0" rIns="0" bIns="0" rtlCol="0" anchor="ctr"/>
          <a:lstStyle/>
          <a:p>
            <a:pPr indent="0" marL="0">
              <a:buNone/>
            </a:pPr>
            <a:r>
              <a:rPr lang="en-US" sz="1200" dirty="0">
                <a:solidFill>
                  <a:srgbClr val="3E4E3E"/>
                </a:solidFill>
                <a:latin typeface="Calibri" pitchFamily="34" charset="0"/>
                <a:ea typeface="Calibri" pitchFamily="34" charset="-122"/>
                <a:cs typeface="Calibri" pitchFamily="34" charset="-120"/>
              </a:rPr>
              <a:t>Username + password → Lambda Auth → Cognito → JWT tokens.</a:t>
            </a:r>
            <a:endParaRPr lang="en-US" sz="1200" dirty="0"/>
          </a:p>
        </p:txBody>
      </p:sp>
      <p:sp>
        <p:nvSpPr>
          <p:cNvPr id="40" name="Text 34"/>
          <p:cNvSpPr txBox="1"/>
          <p:nvPr/>
        </p:nvSpPr>
        <p:spPr>
          <a:xfrm>
            <a:off x="8321040" y="5001768"/>
            <a:ext cx="2011680" cy="274320"/>
          </a:xfrm>
          <a:prstGeom prst="rect">
            <a:avLst/>
          </a:prstGeom>
          <a:noFill/>
          <a:ln/>
        </p:spPr>
        <p:txBody>
          <a:bodyPr wrap="square" lIns="0" tIns="0" rIns="0" bIns="0" rtlCol="0" anchor="ctr"/>
          <a:lstStyle/>
          <a:p>
            <a:pPr indent="0" marL="0">
              <a:buNone/>
            </a:pPr>
            <a:r>
              <a:rPr lang="en-US" sz="1200" b="1" dirty="0">
                <a:solidFill>
                  <a:srgbClr val="1B2E1B"/>
                </a:solidFill>
                <a:latin typeface="Courier New" pitchFamily="34" charset="0"/>
                <a:ea typeface="Courier New" pitchFamily="34" charset="-122"/>
                <a:cs typeface="Courier New" pitchFamily="34" charset="-120"/>
              </a:rPr>
              <a:t>200 · 401</a:t>
            </a:r>
            <a:endParaRPr lang="en-US" sz="1200" dirty="0"/>
          </a:p>
        </p:txBody>
      </p:sp>
      <p:sp>
        <p:nvSpPr>
          <p:cNvPr id="41" name="Text 35"/>
          <p:cNvSpPr txBox="1"/>
          <p:nvPr/>
        </p:nvSpPr>
        <p:spPr>
          <a:xfrm>
            <a:off x="8321040" y="5303520"/>
            <a:ext cx="2011680" cy="256032"/>
          </a:xfrm>
          <a:prstGeom prst="rect">
            <a:avLst/>
          </a:prstGeom>
          <a:noFill/>
          <a:ln/>
        </p:spPr>
        <p:txBody>
          <a:bodyPr wrap="square" lIns="0" tIns="0" rIns="0" bIns="0" rtlCol="0" anchor="ctr"/>
          <a:lstStyle/>
          <a:p>
            <a:pPr indent="0" marL="0">
              <a:buNone/>
            </a:pPr>
            <a:r>
              <a:rPr lang="en-US" sz="1200" dirty="0">
                <a:solidFill>
                  <a:srgbClr val="6A4898"/>
                </a:solidFill>
                <a:latin typeface="Calibri" pitchFamily="34" charset="0"/>
                <a:ea typeface="Calibri" pitchFamily="34" charset="-122"/>
                <a:cs typeface="Calibri" pitchFamily="34" charset="-120"/>
              </a:rPr>
              <a:t>Public</a:t>
            </a:r>
            <a:endParaRPr lang="en-US" sz="1200" dirty="0"/>
          </a:p>
        </p:txBody>
      </p:sp>
      <p:pic>
        <p:nvPicPr>
          <p:cNvPr id="42" name="Image 4" descr="preencoded.png">    </p:cNvPr>
          <p:cNvPicPr>
            <a:picLocks noChangeAspect="1"/>
          </p:cNvPicPr>
          <p:nvPr/>
        </p:nvPicPr>
        <p:blipFill>
          <a:blip r:embed="rId5"/>
          <a:stretch>
            <a:fillRect/>
          </a:stretch>
        </p:blipFill>
        <p:spPr>
          <a:xfrm>
            <a:off x="10927080" y="5093208"/>
            <a:ext cx="365760" cy="365760"/>
          </a:xfrm>
          <a:prstGeom prst="rect">
            <a:avLst/>
          </a:prstGeom>
        </p:spPr>
      </p:pic>
      <p:sp>
        <p:nvSpPr>
          <p:cNvPr id="43" name="Text 36"/>
          <p:cNvSpPr txBox="1"/>
          <p:nvPr/>
        </p:nvSpPr>
        <p:spPr>
          <a:xfrm>
            <a:off x="548640" y="5897880"/>
            <a:ext cx="11064240" cy="320040"/>
          </a:xfrm>
          <a:prstGeom prst="rect">
            <a:avLst/>
          </a:prstGeom>
          <a:noFill/>
          <a:ln/>
        </p:spPr>
        <p:txBody>
          <a:bodyPr wrap="square" lIns="0" tIns="0" rIns="0" bIns="0" rtlCol="0" anchor="ctr"/>
          <a:lstStyle/>
          <a:p>
            <a:pPr indent="0" marL="0">
              <a:buNone/>
            </a:pPr>
            <a:r>
              <a:rPr lang="en-US" sz="1300" dirty="0">
                <a:solidFill>
                  <a:srgbClr val="5E6E5E"/>
                </a:solidFill>
                <a:latin typeface="Calibri" pitchFamily="34" charset="0"/>
                <a:ea typeface="Calibri" pitchFamily="34" charset="-122"/>
                <a:cs typeface="Calibri" pitchFamily="34" charset="-120"/>
              </a:rPr>
              <a:t>After POST /login, the client sends  Authorization: Bearer &lt;token&gt;  on every other call. All endpoints are HTTPS-only in eu-west-3.</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5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3400" b="1" dirty="0">
                <a:solidFill>
                  <a:srgbClr val="2A7A4A"/>
                </a:solidFill>
                <a:latin typeface="Cambria" pitchFamily="34" charset="0"/>
                <a:ea typeface="Cambria" pitchFamily="34" charset="-122"/>
                <a:cs typeface="Cambria" pitchFamily="34" charset="-120"/>
              </a:rPr>
              <a:t>Security model</a:t>
            </a:r>
            <a:endParaRPr lang="en-US" sz="3400" dirty="0"/>
          </a:p>
        </p:txBody>
      </p:sp>
      <p:sp>
        <p:nvSpPr>
          <p:cNvPr id="3" name="Shape 1"/>
          <p:cNvSpPr/>
          <p:nvPr/>
        </p:nvSpPr>
        <p:spPr>
          <a:xfrm>
            <a:off x="548640" y="1234440"/>
            <a:ext cx="5486400" cy="1417320"/>
          </a:xfrm>
          <a:prstGeom prst="roundRect">
            <a:avLst>
              <a:gd name="adj" fmla="val 5161"/>
            </a:avLst>
          </a:prstGeom>
          <a:solidFill>
            <a:srgbClr val="FFFFFF"/>
          </a:solidFill>
          <a:ln w="12700">
            <a:solidFill>
              <a:srgbClr val="C8D5C8"/>
            </a:solidFill>
            <a:prstDash val="solid"/>
          </a:ln>
        </p:spPr>
      </p:sp>
      <p:sp>
        <p:nvSpPr>
          <p:cNvPr id="4" name="Shape 2"/>
          <p:cNvSpPr/>
          <p:nvPr/>
        </p:nvSpPr>
        <p:spPr>
          <a:xfrm>
            <a:off x="777240" y="1463040"/>
            <a:ext cx="548640" cy="548640"/>
          </a:xfrm>
          <a:prstGeom prst="ellipse">
            <a:avLst/>
          </a:prstGeom>
          <a:solidFill>
            <a:srgbClr val="6A4898"/>
          </a:solidFill>
          <a:ln w="12700">
            <a:solidFill>
              <a:srgbClr val="6A4898"/>
            </a:solidFill>
            <a:prstDash val="solid"/>
          </a:ln>
        </p:spPr>
      </p:sp>
      <p:pic>
        <p:nvPicPr>
          <p:cNvPr id="5" name="Image 0" descr="preencoded.png">    </p:cNvPr>
          <p:cNvPicPr>
            <a:picLocks noChangeAspect="1"/>
          </p:cNvPicPr>
          <p:nvPr/>
        </p:nvPicPr>
        <p:blipFill>
          <a:blip r:embed="rId1"/>
          <a:stretch>
            <a:fillRect/>
          </a:stretch>
        </p:blipFill>
        <p:spPr>
          <a:xfrm>
            <a:off x="896112" y="1581912"/>
            <a:ext cx="310896" cy="310896"/>
          </a:xfrm>
          <a:prstGeom prst="rect">
            <a:avLst/>
          </a:prstGeom>
        </p:spPr>
      </p:pic>
      <p:sp>
        <p:nvSpPr>
          <p:cNvPr id="6" name="Text 3"/>
          <p:cNvSpPr txBox="1"/>
          <p:nvPr/>
        </p:nvSpPr>
        <p:spPr>
          <a:xfrm>
            <a:off x="1508760" y="1417320"/>
            <a:ext cx="4389120" cy="320040"/>
          </a:xfrm>
          <a:prstGeom prst="rect">
            <a:avLst/>
          </a:prstGeom>
          <a:noFill/>
          <a:ln/>
        </p:spPr>
        <p:txBody>
          <a:bodyPr wrap="square" lIns="0" tIns="0" rIns="0" bIns="0" rtlCol="0" anchor="ctr"/>
          <a:lstStyle/>
          <a:p>
            <a:pPr indent="0" marL="0">
              <a:buNone/>
            </a:pPr>
            <a:r>
              <a:rPr lang="en-US" sz="1600" b="1" dirty="0">
                <a:solidFill>
                  <a:srgbClr val="6A4898"/>
                </a:solidFill>
                <a:latin typeface="Calibri" pitchFamily="34" charset="0"/>
                <a:ea typeface="Calibri" pitchFamily="34" charset="-122"/>
                <a:cs typeface="Calibri" pitchFamily="34" charset="-120"/>
              </a:rPr>
              <a:t>Authentication: who are you?</a:t>
            </a:r>
            <a:endParaRPr lang="en-US" sz="1600" dirty="0"/>
          </a:p>
        </p:txBody>
      </p:sp>
      <p:sp>
        <p:nvSpPr>
          <p:cNvPr id="7" name="Text 4"/>
          <p:cNvSpPr txBox="1"/>
          <p:nvPr/>
        </p:nvSpPr>
        <p:spPr>
          <a:xfrm>
            <a:off x="1508760" y="1764792"/>
            <a:ext cx="4343400" cy="822960"/>
          </a:xfrm>
          <a:prstGeom prst="rect">
            <a:avLst/>
          </a:prstGeom>
          <a:noFill/>
          <a:ln/>
        </p:spPr>
        <p:txBody>
          <a:bodyPr wrap="square" lIns="0" tIns="0" rIns="0" bIns="0" rtlCol="0" anchor="t"/>
          <a:lstStyle/>
          <a:p>
            <a:pPr indent="0" marL="0">
              <a:buNone/>
            </a:pPr>
            <a:r>
              <a:rPr lang="en-US" sz="1300" dirty="0">
                <a:solidFill>
                  <a:srgbClr val="3E4E3E"/>
                </a:solidFill>
                <a:latin typeface="Calibri" pitchFamily="34" charset="0"/>
                <a:ea typeface="Calibri" pitchFamily="34" charset="-122"/>
                <a:cs typeface="Calibri" pitchFamily="34" charset="-120"/>
              </a:rPr>
              <a:t>Cognito user pool verifies the password and issues a JWT. API Gateway's Cognito authorizer validates that token on every protected call.</a:t>
            </a:r>
            <a:endParaRPr lang="en-US" sz="1300" dirty="0"/>
          </a:p>
        </p:txBody>
      </p:sp>
      <p:sp>
        <p:nvSpPr>
          <p:cNvPr id="8" name="Shape 5"/>
          <p:cNvSpPr/>
          <p:nvPr/>
        </p:nvSpPr>
        <p:spPr>
          <a:xfrm>
            <a:off x="548640" y="2834640"/>
            <a:ext cx="5486400" cy="1417320"/>
          </a:xfrm>
          <a:prstGeom prst="roundRect">
            <a:avLst>
              <a:gd name="adj" fmla="val 5161"/>
            </a:avLst>
          </a:prstGeom>
          <a:solidFill>
            <a:srgbClr val="FFFFFF"/>
          </a:solidFill>
          <a:ln w="12700">
            <a:solidFill>
              <a:srgbClr val="C8D5C8"/>
            </a:solidFill>
            <a:prstDash val="solid"/>
          </a:ln>
        </p:spPr>
      </p:sp>
      <p:sp>
        <p:nvSpPr>
          <p:cNvPr id="9" name="Shape 6"/>
          <p:cNvSpPr/>
          <p:nvPr/>
        </p:nvSpPr>
        <p:spPr>
          <a:xfrm>
            <a:off x="777240" y="3063240"/>
            <a:ext cx="548640" cy="548640"/>
          </a:xfrm>
          <a:prstGeom prst="ellipse">
            <a:avLst/>
          </a:prstGeom>
          <a:solidFill>
            <a:srgbClr val="8A2A2A"/>
          </a:solidFill>
          <a:ln w="12700">
            <a:solidFill>
              <a:srgbClr val="8A2A2A"/>
            </a:solidFill>
            <a:prstDash val="solid"/>
          </a:ln>
        </p:spPr>
      </p:sp>
      <p:pic>
        <p:nvPicPr>
          <p:cNvPr id="10" name="Image 1" descr="preencoded.png">    </p:cNvPr>
          <p:cNvPicPr>
            <a:picLocks noChangeAspect="1"/>
          </p:cNvPicPr>
          <p:nvPr/>
        </p:nvPicPr>
        <p:blipFill>
          <a:blip r:embed="rId2"/>
          <a:stretch>
            <a:fillRect/>
          </a:stretch>
        </p:blipFill>
        <p:spPr>
          <a:xfrm>
            <a:off x="896112" y="3182112"/>
            <a:ext cx="310896" cy="310896"/>
          </a:xfrm>
          <a:prstGeom prst="rect">
            <a:avLst/>
          </a:prstGeom>
        </p:spPr>
      </p:pic>
      <p:sp>
        <p:nvSpPr>
          <p:cNvPr id="11" name="Text 7"/>
          <p:cNvSpPr txBox="1"/>
          <p:nvPr/>
        </p:nvSpPr>
        <p:spPr>
          <a:xfrm>
            <a:off x="1508760" y="3017520"/>
            <a:ext cx="4389120" cy="320040"/>
          </a:xfrm>
          <a:prstGeom prst="rect">
            <a:avLst/>
          </a:prstGeom>
          <a:noFill/>
          <a:ln/>
        </p:spPr>
        <p:txBody>
          <a:bodyPr wrap="square" lIns="0" tIns="0" rIns="0" bIns="0" rtlCol="0" anchor="ctr"/>
          <a:lstStyle/>
          <a:p>
            <a:pPr indent="0" marL="0">
              <a:buNone/>
            </a:pPr>
            <a:r>
              <a:rPr lang="en-US" sz="1600" b="1" dirty="0">
                <a:solidFill>
                  <a:srgbClr val="8A2A2A"/>
                </a:solidFill>
                <a:latin typeface="Calibri" pitchFamily="34" charset="0"/>
                <a:ea typeface="Calibri" pitchFamily="34" charset="-122"/>
                <a:cs typeface="Calibri" pitchFamily="34" charset="-120"/>
              </a:rPr>
              <a:t>Authorization: what may you do?</a:t>
            </a:r>
            <a:endParaRPr lang="en-US" sz="1600" dirty="0"/>
          </a:p>
        </p:txBody>
      </p:sp>
      <p:sp>
        <p:nvSpPr>
          <p:cNvPr id="12" name="Text 8"/>
          <p:cNvSpPr txBox="1"/>
          <p:nvPr/>
        </p:nvSpPr>
        <p:spPr>
          <a:xfrm>
            <a:off x="1508760" y="3364992"/>
            <a:ext cx="4343400" cy="822960"/>
          </a:xfrm>
          <a:prstGeom prst="rect">
            <a:avLst/>
          </a:prstGeom>
          <a:noFill/>
          <a:ln/>
        </p:spPr>
        <p:txBody>
          <a:bodyPr wrap="square" lIns="0" tIns="0" rIns="0" bIns="0" rtlCol="0" anchor="t"/>
          <a:lstStyle/>
          <a:p>
            <a:pPr indent="0" marL="0">
              <a:buNone/>
            </a:pPr>
            <a:r>
              <a:rPr lang="en-US" sz="1300" dirty="0">
                <a:solidFill>
                  <a:srgbClr val="3E4E3E"/>
                </a:solidFill>
                <a:latin typeface="Calibri" pitchFamily="34" charset="0"/>
                <a:ea typeface="Calibri" pitchFamily="34" charset="-122"/>
                <a:cs typeface="Calibri" pitchFamily="34" charset="-120"/>
              </a:rPr>
              <a:t>The JWT carries the user's Cognito group (ADMIN or STAFF). IAM gives each Lambda its own least-privilege role.</a:t>
            </a:r>
            <a:endParaRPr lang="en-US" sz="1300" dirty="0"/>
          </a:p>
        </p:txBody>
      </p:sp>
      <p:sp>
        <p:nvSpPr>
          <p:cNvPr id="13" name="Shape 9"/>
          <p:cNvSpPr/>
          <p:nvPr/>
        </p:nvSpPr>
        <p:spPr>
          <a:xfrm>
            <a:off x="548640" y="4434840"/>
            <a:ext cx="5486400" cy="1737360"/>
          </a:xfrm>
          <a:prstGeom prst="roundRect">
            <a:avLst>
              <a:gd name="adj" fmla="val 4211"/>
            </a:avLst>
          </a:prstGeom>
          <a:solidFill>
            <a:srgbClr val="E8F3EC"/>
          </a:solidFill>
          <a:ln w="12700">
            <a:solidFill>
              <a:srgbClr val="E8F3EC"/>
            </a:solidFill>
            <a:prstDash val="solid"/>
          </a:ln>
        </p:spPr>
      </p:sp>
      <p:sp>
        <p:nvSpPr>
          <p:cNvPr id="14" name="Text 10"/>
          <p:cNvSpPr txBox="1"/>
          <p:nvPr/>
        </p:nvSpPr>
        <p:spPr>
          <a:xfrm>
            <a:off x="777240" y="4553712"/>
            <a:ext cx="5120640" cy="274320"/>
          </a:xfrm>
          <a:prstGeom prst="rect">
            <a:avLst/>
          </a:prstGeom>
          <a:noFill/>
          <a:ln/>
        </p:spPr>
        <p:txBody>
          <a:bodyPr wrap="square" lIns="0" tIns="0" rIns="0" bIns="0" rtlCol="0" anchor="ctr"/>
          <a:lstStyle/>
          <a:p>
            <a:pPr indent="0" marL="0">
              <a:buNone/>
            </a:pPr>
            <a:r>
              <a:rPr lang="en-US" sz="1400" b="1" dirty="0">
                <a:solidFill>
                  <a:srgbClr val="2A7A4A"/>
                </a:solidFill>
                <a:latin typeface="Calibri" pitchFamily="34" charset="0"/>
                <a:ea typeface="Calibri" pitchFamily="34" charset="-122"/>
                <a:cs typeface="Calibri" pitchFamily="34" charset="-120"/>
              </a:rPr>
              <a:t>Least-privilege IAM roles (planned)</a:t>
            </a:r>
            <a:endParaRPr lang="en-US" sz="1400" dirty="0"/>
          </a:p>
        </p:txBody>
      </p:sp>
      <p:sp>
        <p:nvSpPr>
          <p:cNvPr id="15" name="Text 11"/>
          <p:cNvSpPr txBox="1"/>
          <p:nvPr/>
        </p:nvSpPr>
        <p:spPr>
          <a:xfrm>
            <a:off x="777240" y="4873752"/>
            <a:ext cx="5120640" cy="1188720"/>
          </a:xfrm>
          <a:prstGeom prst="rect">
            <a:avLst/>
          </a:prstGeom>
          <a:noFill/>
          <a:ln/>
        </p:spPr>
        <p:txBody>
          <a:bodyPr wrap="square" lIns="0" tIns="0" rIns="0" bIns="0" rtlCol="0" anchor="ctr"/>
          <a:lstStyle/>
          <a:p>
            <a:pPr indent="0" marL="0">
              <a:spcAft>
                <a:spcPts val="300"/>
              </a:spcAft>
              <a:buNone/>
            </a:pPr>
            <a:r>
              <a:rPr lang="en-US" sz="1200" dirty="0">
                <a:solidFill>
                  <a:srgbClr val="1B2E1B"/>
                </a:solidFill>
                <a:latin typeface="Courier New" pitchFamily="34" charset="0"/>
                <a:ea typeface="Courier New" pitchFamily="34" charset="-122"/>
                <a:cs typeface="Courier New" pitchFamily="34" charset="-120"/>
              </a:rPr>
              <a:t>Lambda Ingest → dynamodb:PutItem</a:t>
            </a:r>
            <a:endParaRPr lang="en-US" sz="1200" dirty="0"/>
          </a:p>
          <a:p>
            <a:pPr indent="0" marL="0">
              <a:spcAft>
                <a:spcPts val="300"/>
              </a:spcAft>
              <a:buNone/>
            </a:pPr>
            <a:r>
              <a:rPr lang="en-US" sz="1200" dirty="0">
                <a:solidFill>
                  <a:srgbClr val="1B2E1B"/>
                </a:solidFill>
                <a:latin typeface="Courier New" pitchFamily="34" charset="0"/>
                <a:ea typeface="Courier New" pitchFamily="34" charset="-122"/>
                <a:cs typeface="Courier New" pitchFamily="34" charset="-120"/>
              </a:rPr>
              <a:t>Lambda Query → dynamodb:Query, dynamodb:Scan</a:t>
            </a:r>
            <a:endParaRPr lang="en-US" sz="1200" dirty="0"/>
          </a:p>
          <a:p>
            <a:pPr indent="0" marL="0">
              <a:spcAft>
                <a:spcPts val="300"/>
              </a:spcAft>
              <a:buNone/>
            </a:pPr>
            <a:r>
              <a:rPr lang="en-US" sz="1200" dirty="0">
                <a:solidFill>
                  <a:srgbClr val="1B2E1B"/>
                </a:solidFill>
                <a:latin typeface="Courier New" pitchFamily="34" charset="0"/>
                <a:ea typeface="Courier New" pitchFamily="34" charset="-122"/>
                <a:cs typeface="Courier New" pitchFamily="34" charset="-120"/>
              </a:rPr>
              <a:t>Lambda Auth → cognito-idp:InitiateAuth</a:t>
            </a:r>
            <a:endParaRPr lang="en-US" sz="1200" dirty="0"/>
          </a:p>
          <a:p>
            <a:pPr indent="0" marL="0">
              <a:spcAft>
                <a:spcPts val="300"/>
              </a:spcAft>
              <a:buNone/>
            </a:pPr>
            <a:r>
              <a:rPr lang="en-US" sz="1200" dirty="0">
                <a:solidFill>
                  <a:srgbClr val="1B2E1B"/>
                </a:solidFill>
                <a:latin typeface="Courier New" pitchFamily="34" charset="0"/>
                <a:ea typeface="Courier New" pitchFamily="34" charset="-122"/>
                <a:cs typeface="Courier New" pitchFamily="34" charset="-120"/>
              </a:rPr>
              <a:t>All three → write their own CloudWatch logs</a:t>
            </a:r>
            <a:endParaRPr lang="en-US" sz="1200" dirty="0"/>
          </a:p>
        </p:txBody>
      </p:sp>
      <p:sp>
        <p:nvSpPr>
          <p:cNvPr id="16" name="Text 12"/>
          <p:cNvSpPr txBox="1"/>
          <p:nvPr/>
        </p:nvSpPr>
        <p:spPr>
          <a:xfrm>
            <a:off x="6355080" y="1234440"/>
            <a:ext cx="5212080" cy="320040"/>
          </a:xfrm>
          <a:prstGeom prst="rect">
            <a:avLst/>
          </a:prstGeom>
          <a:noFill/>
          <a:ln/>
        </p:spPr>
        <p:txBody>
          <a:bodyPr wrap="square" lIns="0" tIns="0" rIns="0" bIns="0" rtlCol="0" anchor="ctr"/>
          <a:lstStyle/>
          <a:p>
            <a:pPr indent="0" marL="0">
              <a:buNone/>
            </a:pPr>
            <a:r>
              <a:rPr lang="en-US" sz="1600" b="1" dirty="0">
                <a:solidFill>
                  <a:srgbClr val="1B2E1B"/>
                </a:solidFill>
                <a:latin typeface="Calibri" pitchFamily="34" charset="0"/>
                <a:ea typeface="Calibri" pitchFamily="34" charset="-122"/>
                <a:cs typeface="Calibri" pitchFamily="34" charset="-120"/>
              </a:rPr>
              <a:t>Role-based access</a:t>
            </a:r>
            <a:endParaRPr lang="en-US" sz="1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355080" y="1645920"/>
          <a:ext cx="5257800" cy="914400"/>
        </p:xfrm>
        <a:graphic>
          <a:graphicData uri="http://schemas.openxmlformats.org/drawingml/2006/table">
            <a:tbl>
              <a:tblPr/>
              <a:tblGrid>
                <a:gridCol w="2514600"/>
                <a:gridCol w="1371600"/>
                <a:gridCol w="1371600"/>
              </a:tblGrid>
              <a:tr h="384048">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Action</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2A7A4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ADMIN</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8A2A2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STAFF</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3A6888"/>
                    </a:solidFill>
                  </a:tcPr>
                </a:tc>
              </a:tr>
              <a:tr h="384048">
                <a:tc>
                  <a:txBody>
                    <a:bodyPr/>
                    <a:lstStyle/>
                    <a:p>
                      <a:pPr indent="0" marL="0">
                        <a:buNone/>
                      </a:pPr>
                      <a:r>
                        <a:rPr lang="en-US" sz="1300" dirty="0">
                          <a:solidFill>
                            <a:srgbClr val="1B2E1B"/>
                          </a:solidFill>
                          <a:latin typeface="Courier New" pitchFamily="34" charset="0"/>
                          <a:ea typeface="Courier New" pitchFamily="34" charset="-122"/>
                          <a:cs typeface="Courier New" pitchFamily="34" charset="-120"/>
                        </a:rPr>
                        <a:t>POST /events</a:t>
                      </a:r>
                      <a:endParaRPr lang="en-US" sz="1300" dirty="0">
                        <a:latin typeface="Courier New" charset="0"/>
                        <a:ea typeface="Courier New" charset="0"/>
                        <a:cs typeface="Courier New"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A7A4A"/>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A7A4A"/>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B2E1B"/>
                          </a:solidFill>
                          <a:latin typeface="Courier New" pitchFamily="34" charset="0"/>
                          <a:ea typeface="Courier New" pitchFamily="34" charset="-122"/>
                          <a:cs typeface="Courier New" pitchFamily="34" charset="-120"/>
                        </a:rPr>
                        <a:t>GET /events</a:t>
                      </a:r>
                      <a:endParaRPr lang="en-US" sz="1300" dirty="0">
                        <a:latin typeface="Courier New" charset="0"/>
                        <a:ea typeface="Courier New" charset="0"/>
                        <a:cs typeface="Courier New"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tc>
                  <a:txBody>
                    <a:bodyPr/>
                    <a:lstStyle/>
                    <a:p>
                      <a:pPr algn="ctr" indent="0" marL="0">
                        <a:buNone/>
                      </a:pPr>
                      <a:r>
                        <a:rPr lang="en-US" sz="1300" b="1" dirty="0">
                          <a:solidFill>
                            <a:srgbClr val="2A7A4A"/>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tc>
                  <a:txBody>
                    <a:bodyPr/>
                    <a:lstStyle/>
                    <a:p>
                      <a:pPr algn="ctr" indent="0" marL="0">
                        <a:buNone/>
                      </a:pPr>
                      <a:r>
                        <a:rPr lang="en-US" sz="1300" b="1" dirty="0">
                          <a:solidFill>
                            <a:srgbClr val="2A7A4A"/>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tr>
              <a:tr h="384048">
                <a:tc>
                  <a:txBody>
                    <a:bodyPr/>
                    <a:lstStyle/>
                    <a:p>
                      <a:pPr indent="0" marL="0">
                        <a:buNone/>
                      </a:pPr>
                      <a:r>
                        <a:rPr lang="en-US" sz="1300" dirty="0">
                          <a:solidFill>
                            <a:srgbClr val="1B2E1B"/>
                          </a:solidFill>
                          <a:latin typeface="Courier New" pitchFamily="34" charset="0"/>
                          <a:ea typeface="Courier New" pitchFamily="34" charset="-122"/>
                          <a:cs typeface="Courier New" pitchFamily="34" charset="-120"/>
                        </a:rPr>
                        <a:t>GET /stats</a:t>
                      </a:r>
                      <a:endParaRPr lang="en-US" sz="1300" dirty="0">
                        <a:latin typeface="Courier New" charset="0"/>
                        <a:ea typeface="Courier New" charset="0"/>
                        <a:cs typeface="Courier New"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A7A4A"/>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A7A4A"/>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B2E1B"/>
                          </a:solidFill>
                          <a:latin typeface="Courier New" pitchFamily="34" charset="0"/>
                          <a:ea typeface="Courier New" pitchFamily="34" charset="-122"/>
                          <a:cs typeface="Courier New" pitchFamily="34" charset="-120"/>
                        </a:rPr>
                        <a:t>GET /alerts</a:t>
                      </a:r>
                      <a:endParaRPr lang="en-US" sz="1300" dirty="0">
                        <a:latin typeface="Courier New" charset="0"/>
                        <a:ea typeface="Courier New" charset="0"/>
                        <a:cs typeface="Courier New"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tc>
                  <a:txBody>
                    <a:bodyPr/>
                    <a:lstStyle/>
                    <a:p>
                      <a:pPr algn="ctr" indent="0" marL="0">
                        <a:buNone/>
                      </a:pPr>
                      <a:r>
                        <a:rPr lang="en-US" sz="1300" b="1" dirty="0">
                          <a:solidFill>
                            <a:srgbClr val="2A7A4A"/>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tc>
                  <a:txBody>
                    <a:bodyPr/>
                    <a:lstStyle/>
                    <a:p>
                      <a:pPr algn="ctr" indent="0" marL="0">
                        <a:buNone/>
                      </a:pPr>
                      <a:r>
                        <a:rPr lang="en-US" sz="1300" b="1" dirty="0">
                          <a:solidFill>
                            <a:srgbClr val="2A7A4A"/>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tr>
              <a:tr h="384048">
                <a:tc>
                  <a:txBody>
                    <a:bodyPr/>
                    <a:lstStyle/>
                    <a:p>
                      <a:pPr indent="0" marL="0">
                        <a:buNone/>
                      </a:pPr>
                      <a:r>
                        <a:rPr lang="en-US" sz="1300" dirty="0">
                          <a:solidFill>
                            <a:srgbClr val="1B2E1B"/>
                          </a:solidFill>
                          <a:latin typeface="Courier New" pitchFamily="34" charset="0"/>
                          <a:ea typeface="Courier New" pitchFamily="34" charset="-122"/>
                          <a:cs typeface="Courier New" pitchFamily="34" charset="-120"/>
                        </a:rPr>
                        <a:t>Delete events</a:t>
                      </a:r>
                      <a:endParaRPr lang="en-US" sz="1300" dirty="0">
                        <a:latin typeface="Courier New" charset="0"/>
                        <a:ea typeface="Courier New" charset="0"/>
                        <a:cs typeface="Courier New"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A7A4A"/>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8A2A2A"/>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B2E1B"/>
                          </a:solidFill>
                          <a:latin typeface="Courier New" pitchFamily="34" charset="0"/>
                          <a:ea typeface="Courier New" pitchFamily="34" charset="-122"/>
                          <a:cs typeface="Courier New" pitchFamily="34" charset="-120"/>
                        </a:rPr>
                        <a:t>Manage users</a:t>
                      </a:r>
                      <a:endParaRPr lang="en-US" sz="1300" dirty="0">
                        <a:latin typeface="Courier New" charset="0"/>
                        <a:ea typeface="Courier New" charset="0"/>
                        <a:cs typeface="Courier New"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tc>
                  <a:txBody>
                    <a:bodyPr/>
                    <a:lstStyle/>
                    <a:p>
                      <a:pPr algn="ctr" indent="0" marL="0">
                        <a:buNone/>
                      </a:pPr>
                      <a:r>
                        <a:rPr lang="en-US" sz="1300" b="1" dirty="0">
                          <a:solidFill>
                            <a:srgbClr val="2A7A4A"/>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tc>
                  <a:txBody>
                    <a:bodyPr/>
                    <a:lstStyle/>
                    <a:p>
                      <a:pPr algn="ctr" indent="0" marL="0">
                        <a:buNone/>
                      </a:pPr>
                      <a:r>
                        <a:rPr lang="en-US" sz="1300" b="1" dirty="0">
                          <a:solidFill>
                            <a:srgbClr val="8A2A2A"/>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tr>
            </a:tbl>
          </a:graphicData>
        </a:graphic>
      </p:graphicFrame>
      <p:sp>
        <p:nvSpPr>
          <p:cNvPr id="18" name="Shape 13"/>
          <p:cNvSpPr/>
          <p:nvPr/>
        </p:nvSpPr>
        <p:spPr>
          <a:xfrm>
            <a:off x="6355080" y="4572000"/>
            <a:ext cx="5257800" cy="1600200"/>
          </a:xfrm>
          <a:prstGeom prst="roundRect">
            <a:avLst>
              <a:gd name="adj" fmla="val 4571"/>
            </a:avLst>
          </a:prstGeom>
          <a:solidFill>
            <a:srgbClr val="FFFFFF"/>
          </a:solidFill>
          <a:ln w="12700">
            <a:solidFill>
              <a:srgbClr val="C8D5C8"/>
            </a:solidFill>
            <a:prstDash val="solid"/>
          </a:ln>
        </p:spPr>
      </p:sp>
      <p:sp>
        <p:nvSpPr>
          <p:cNvPr id="19" name="Text 14"/>
          <p:cNvSpPr txBox="1"/>
          <p:nvPr/>
        </p:nvSpPr>
        <p:spPr>
          <a:xfrm>
            <a:off x="6583680" y="4681728"/>
            <a:ext cx="4846320" cy="274320"/>
          </a:xfrm>
          <a:prstGeom prst="rect">
            <a:avLst/>
          </a:prstGeom>
          <a:noFill/>
          <a:ln/>
        </p:spPr>
        <p:txBody>
          <a:bodyPr wrap="square" lIns="0" tIns="0" rIns="0" bIns="0" rtlCol="0" anchor="ctr"/>
          <a:lstStyle/>
          <a:p>
            <a:pPr indent="0" marL="0">
              <a:buNone/>
            </a:pPr>
            <a:r>
              <a:rPr lang="en-US" sz="1400" b="1" dirty="0">
                <a:solidFill>
                  <a:srgbClr val="1B2E1B"/>
                </a:solidFill>
                <a:latin typeface="Calibri" pitchFamily="34" charset="0"/>
                <a:ea typeface="Calibri" pitchFamily="34" charset="-122"/>
                <a:cs typeface="Calibri" pitchFamily="34" charset="-120"/>
              </a:rPr>
              <a:t>Other planned controls</a:t>
            </a:r>
            <a:endParaRPr lang="en-US" sz="1400" dirty="0"/>
          </a:p>
        </p:txBody>
      </p:sp>
      <p:sp>
        <p:nvSpPr>
          <p:cNvPr id="20" name="Text 15"/>
          <p:cNvSpPr txBox="1"/>
          <p:nvPr/>
        </p:nvSpPr>
        <p:spPr>
          <a:xfrm>
            <a:off x="6583680" y="4983480"/>
            <a:ext cx="4846320" cy="1097280"/>
          </a:xfrm>
          <a:prstGeom prst="rect">
            <a:avLst/>
          </a:prstGeom>
          <a:noFill/>
          <a:ln/>
        </p:spPr>
        <p:txBody>
          <a:bodyPr wrap="square" lIns="0" tIns="0" rIns="0" bIns="0" rtlCol="0" anchor="ctr"/>
          <a:lstStyle/>
          <a:p>
            <a:pPr marL="342900" indent="-342900">
              <a:spcAft>
                <a:spcPts val="200"/>
              </a:spcAft>
              <a:buSzPct val="100000"/>
              <a:buChar char="•"/>
            </a:pPr>
            <a:r>
              <a:rPr lang="en-US" sz="1300" dirty="0">
                <a:solidFill>
                  <a:srgbClr val="3E4E3E"/>
                </a:solidFill>
                <a:latin typeface="Calibri" pitchFamily="34" charset="0"/>
                <a:ea typeface="Calibri" pitchFamily="34" charset="-122"/>
                <a:cs typeface="Calibri" pitchFamily="34" charset="-120"/>
              </a:rPr>
              <a:t>HTTPS only (enforced by API Gateway)</a:t>
            </a:r>
            <a:endParaRPr lang="en-US" sz="1300" dirty="0"/>
          </a:p>
          <a:p>
            <a:pPr marL="342900" indent="-342900">
              <a:spcAft>
                <a:spcPts val="200"/>
              </a:spcAft>
              <a:buSzPct val="100000"/>
              <a:buChar char="•"/>
            </a:pPr>
            <a:r>
              <a:rPr lang="en-US" sz="1300" dirty="0">
                <a:solidFill>
                  <a:srgbClr val="3E4E3E"/>
                </a:solidFill>
                <a:latin typeface="Calibri" pitchFamily="34" charset="0"/>
                <a:ea typeface="Calibri" pitchFamily="34" charset="-122"/>
                <a:cs typeface="Calibri" pitchFamily="34" charset="-120"/>
              </a:rPr>
              <a:t>Input validation before any database write</a:t>
            </a:r>
            <a:endParaRPr lang="en-US" sz="1300" dirty="0"/>
          </a:p>
          <a:p>
            <a:pPr marL="342900" indent="-342900">
              <a:spcAft>
                <a:spcPts val="200"/>
              </a:spcAft>
              <a:buSzPct val="100000"/>
              <a:buChar char="•"/>
            </a:pPr>
            <a:r>
              <a:rPr lang="en-US" sz="1300" dirty="0">
                <a:solidFill>
                  <a:srgbClr val="3E4E3E"/>
                </a:solidFill>
                <a:latin typeface="Calibri" pitchFamily="34" charset="0"/>
                <a:ea typeface="Calibri" pitchFamily="34" charset="-122"/>
                <a:cs typeface="Calibri" pitchFamily="34" charset="-120"/>
              </a:rPr>
              <a:t>No hard-coded credentials; roles instead of keys</a:t>
            </a:r>
            <a:endParaRPr lang="en-US" sz="1300" dirty="0"/>
          </a:p>
          <a:p>
            <a:pPr marL="342900" indent="-342900">
              <a:spcAft>
                <a:spcPts val="200"/>
              </a:spcAft>
              <a:buSzPct val="100000"/>
              <a:buChar char="•"/>
            </a:pPr>
            <a:r>
              <a:rPr lang="en-US" sz="1300" dirty="0">
                <a:solidFill>
                  <a:srgbClr val="B05E10"/>
                </a:solidFill>
                <a:latin typeface="Calibri" pitchFamily="34" charset="0"/>
                <a:ea typeface="Calibri" pitchFamily="34" charset="-122"/>
                <a:cs typeface="Calibri" pitchFamily="34" charset="-120"/>
              </a:rPr>
              <a:t>Future: API throttling / WAF rate limits</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5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3400" b="1" dirty="0">
                <a:solidFill>
                  <a:srgbClr val="2A7A4A"/>
                </a:solidFill>
                <a:latin typeface="Cambria" pitchFamily="34" charset="0"/>
                <a:ea typeface="Cambria" pitchFamily="34" charset="-122"/>
                <a:cs typeface="Cambria" pitchFamily="34" charset="-120"/>
              </a:rPr>
              <a:t>Cost, scalability and availability</a:t>
            </a:r>
            <a:endParaRPr lang="en-US" sz="3400" dirty="0"/>
          </a:p>
        </p:txBody>
      </p:sp>
      <p:sp>
        <p:nvSpPr>
          <p:cNvPr id="3" name="Text 1"/>
          <p:cNvSpPr txBox="1"/>
          <p:nvPr/>
        </p:nvSpPr>
        <p:spPr>
          <a:xfrm>
            <a:off x="548640" y="1188720"/>
            <a:ext cx="6035040" cy="320040"/>
          </a:xfrm>
          <a:prstGeom prst="rect">
            <a:avLst/>
          </a:prstGeom>
          <a:noFill/>
          <a:ln/>
        </p:spPr>
        <p:txBody>
          <a:bodyPr wrap="square" lIns="0" tIns="0" rIns="0" bIns="0" rtlCol="0" anchor="ctr"/>
          <a:lstStyle/>
          <a:p>
            <a:pPr indent="0" marL="0">
              <a:buNone/>
            </a:pPr>
            <a:r>
              <a:rPr lang="en-US" sz="1600" b="1" dirty="0">
                <a:solidFill>
                  <a:srgbClr val="1B2E1B"/>
                </a:solidFill>
                <a:latin typeface="Calibri" pitchFamily="34" charset="0"/>
                <a:ea typeface="Calibri" pitchFamily="34" charset="-122"/>
                <a:cs typeface="Calibri" pitchFamily="34" charset="-120"/>
              </a:rPr>
              <a:t>What we pay for</a:t>
            </a:r>
            <a:endParaRPr lang="en-US" sz="1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572768"/>
          <a:ext cx="6035040" cy="914400"/>
        </p:xfrm>
        <a:graphic>
          <a:graphicData uri="http://schemas.openxmlformats.org/drawingml/2006/table">
            <a:tbl>
              <a:tblPr/>
              <a:tblGrid>
                <a:gridCol w="1554480"/>
                <a:gridCol w="2377440"/>
                <a:gridCol w="210312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Service</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2A7A4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Pricing driver</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2A7A4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Expected monthly use</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2A7A4A"/>
                    </a:solidFill>
                  </a:tcPr>
                </a:tc>
              </a:tr>
              <a:tr h="384048">
                <a:tc>
                  <a:txBody>
                    <a:bodyPr/>
                    <a:lstStyle/>
                    <a:p>
                      <a:pPr indent="0" marL="0">
                        <a:buNone/>
                      </a:pPr>
                      <a:r>
                        <a:rPr lang="en-US" sz="1300" b="1" dirty="0">
                          <a:solidFill>
                            <a:srgbClr val="1B2E1B"/>
                          </a:solidFill>
                          <a:latin typeface="Calibri" pitchFamily="34" charset="0"/>
                          <a:ea typeface="Calibri" pitchFamily="34" charset="-122"/>
                          <a:cs typeface="Calibri" pitchFamily="34" charset="-120"/>
                        </a:rPr>
                        <a:t>API Gateway</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c>
                  <a:txBody>
                    <a:bodyPr/>
                    <a:lstStyle/>
                    <a:p>
                      <a:pPr indent="0" marL="0">
                        <a:buNone/>
                      </a:pPr>
                      <a:r>
                        <a:rPr lang="en-US" sz="1300" dirty="0">
                          <a:solidFill>
                            <a:srgbClr val="1B2E1B"/>
                          </a:solidFill>
                          <a:latin typeface="Calibri" pitchFamily="34" charset="0"/>
                          <a:ea typeface="Calibri" pitchFamily="34" charset="-122"/>
                          <a:cs typeface="Calibri" pitchFamily="34" charset="-120"/>
                        </a:rPr>
                        <a:t>Per million requests</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c>
                  <a:txBody>
                    <a:bodyPr/>
                    <a:lstStyle/>
                    <a:p>
                      <a:pPr indent="0" marL="0">
                        <a:buNone/>
                      </a:pPr>
                      <a:r>
                        <a:rPr lang="en-US" sz="1300" dirty="0">
                          <a:solidFill>
                            <a:srgbClr val="1B2E1B"/>
                          </a:solidFill>
                          <a:latin typeface="Calibri" pitchFamily="34" charset="0"/>
                          <a:ea typeface="Calibri" pitchFamily="34" charset="-122"/>
                          <a:cs typeface="Calibri" pitchFamily="34" charset="-120"/>
                        </a:rPr>
                        <a:t>~5,000 requests</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r>
              <a:tr h="384048">
                <a:tc>
                  <a:txBody>
                    <a:bodyPr/>
                    <a:lstStyle/>
                    <a:p>
                      <a:pPr indent="0" marL="0">
                        <a:buNone/>
                      </a:pPr>
                      <a:r>
                        <a:rPr lang="en-US" sz="1300" b="1" dirty="0">
                          <a:solidFill>
                            <a:srgbClr val="1B2E1B"/>
                          </a:solidFill>
                          <a:latin typeface="Calibri" pitchFamily="34" charset="0"/>
                          <a:ea typeface="Calibri" pitchFamily="34" charset="-122"/>
                          <a:cs typeface="Calibri" pitchFamily="34" charset="-120"/>
                        </a:rPr>
                        <a:t>Lambda</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tc>
                  <a:txBody>
                    <a:bodyPr/>
                    <a:lstStyle/>
                    <a:p>
                      <a:pPr indent="0" marL="0">
                        <a:buNone/>
                      </a:pPr>
                      <a:r>
                        <a:rPr lang="en-US" sz="1300" dirty="0">
                          <a:solidFill>
                            <a:srgbClr val="1B2E1B"/>
                          </a:solidFill>
                          <a:latin typeface="Calibri" pitchFamily="34" charset="0"/>
                          <a:ea typeface="Calibri" pitchFamily="34" charset="-122"/>
                          <a:cs typeface="Calibri" pitchFamily="34" charset="-120"/>
                        </a:rPr>
                        <a:t>Requests + GB-seconds</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tc>
                  <a:txBody>
                    <a:bodyPr/>
                    <a:lstStyle/>
                    <a:p>
                      <a:pPr indent="0" marL="0">
                        <a:buNone/>
                      </a:pPr>
                      <a:r>
                        <a:rPr lang="en-US" sz="1300" dirty="0">
                          <a:solidFill>
                            <a:srgbClr val="1B2E1B"/>
                          </a:solidFill>
                          <a:latin typeface="Calibri" pitchFamily="34" charset="0"/>
                          <a:ea typeface="Calibri" pitchFamily="34" charset="-122"/>
                          <a:cs typeface="Calibri" pitchFamily="34" charset="-120"/>
                        </a:rPr>
                        <a:t>~5,000 invocations</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tr>
              <a:tr h="384048">
                <a:tc>
                  <a:txBody>
                    <a:bodyPr/>
                    <a:lstStyle/>
                    <a:p>
                      <a:pPr indent="0" marL="0">
                        <a:buNone/>
                      </a:pPr>
                      <a:r>
                        <a:rPr lang="en-US" sz="1300" b="1" dirty="0">
                          <a:solidFill>
                            <a:srgbClr val="1B2E1B"/>
                          </a:solidFill>
                          <a:latin typeface="Calibri" pitchFamily="34" charset="0"/>
                          <a:ea typeface="Calibri" pitchFamily="34" charset="-122"/>
                          <a:cs typeface="Calibri" pitchFamily="34" charset="-120"/>
                        </a:rPr>
                        <a:t>DynamoDB</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c>
                  <a:txBody>
                    <a:bodyPr/>
                    <a:lstStyle/>
                    <a:p>
                      <a:pPr indent="0" marL="0">
                        <a:buNone/>
                      </a:pPr>
                      <a:r>
                        <a:rPr lang="en-US" sz="1300" dirty="0">
                          <a:solidFill>
                            <a:srgbClr val="1B2E1B"/>
                          </a:solidFill>
                          <a:latin typeface="Calibri" pitchFamily="34" charset="0"/>
                          <a:ea typeface="Calibri" pitchFamily="34" charset="-122"/>
                          <a:cs typeface="Calibri" pitchFamily="34" charset="-120"/>
                        </a:rPr>
                        <a:t>Reads/writes + GB stored</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c>
                  <a:txBody>
                    <a:bodyPr/>
                    <a:lstStyle/>
                    <a:p>
                      <a:pPr indent="0" marL="0">
                        <a:buNone/>
                      </a:pPr>
                      <a:r>
                        <a:rPr lang="en-US" sz="1300" dirty="0">
                          <a:solidFill>
                            <a:srgbClr val="1B2E1B"/>
                          </a:solidFill>
                          <a:latin typeface="Calibri" pitchFamily="34" charset="0"/>
                          <a:ea typeface="Calibri" pitchFamily="34" charset="-122"/>
                          <a:cs typeface="Calibri" pitchFamily="34" charset="-120"/>
                        </a:rPr>
                        <a:t>&lt; 1 GB</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r>
              <a:tr h="384048">
                <a:tc>
                  <a:txBody>
                    <a:bodyPr/>
                    <a:lstStyle/>
                    <a:p>
                      <a:pPr indent="0" marL="0">
                        <a:buNone/>
                      </a:pPr>
                      <a:r>
                        <a:rPr lang="en-US" sz="1300" b="1" dirty="0">
                          <a:solidFill>
                            <a:srgbClr val="1B2E1B"/>
                          </a:solidFill>
                          <a:latin typeface="Calibri" pitchFamily="34" charset="0"/>
                          <a:ea typeface="Calibri" pitchFamily="34" charset="-122"/>
                          <a:cs typeface="Calibri" pitchFamily="34" charset="-120"/>
                        </a:rPr>
                        <a:t>Cognito</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tc>
                  <a:txBody>
                    <a:bodyPr/>
                    <a:lstStyle/>
                    <a:p>
                      <a:pPr indent="0" marL="0">
                        <a:buNone/>
                      </a:pPr>
                      <a:r>
                        <a:rPr lang="en-US" sz="1300" dirty="0">
                          <a:solidFill>
                            <a:srgbClr val="1B2E1B"/>
                          </a:solidFill>
                          <a:latin typeface="Calibri" pitchFamily="34" charset="0"/>
                          <a:ea typeface="Calibri" pitchFamily="34" charset="-122"/>
                          <a:cs typeface="Calibri" pitchFamily="34" charset="-120"/>
                        </a:rPr>
                        <a:t>Monthly active users</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tc>
                  <a:txBody>
                    <a:bodyPr/>
                    <a:lstStyle/>
                    <a:p>
                      <a:pPr indent="0" marL="0">
                        <a:buNone/>
                      </a:pPr>
                      <a:r>
                        <a:rPr lang="en-US" sz="1300" dirty="0">
                          <a:solidFill>
                            <a:srgbClr val="1B2E1B"/>
                          </a:solidFill>
                          <a:latin typeface="Calibri" pitchFamily="34" charset="0"/>
                          <a:ea typeface="Calibri" pitchFamily="34" charset="-122"/>
                          <a:cs typeface="Calibri" pitchFamily="34" charset="-120"/>
                        </a:rPr>
                        <a:t>&lt; 10 users</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tr>
              <a:tr h="384048">
                <a:tc>
                  <a:txBody>
                    <a:bodyPr/>
                    <a:lstStyle/>
                    <a:p>
                      <a:pPr indent="0" marL="0">
                        <a:buNone/>
                      </a:pPr>
                      <a:r>
                        <a:rPr lang="en-US" sz="1300" b="1" dirty="0">
                          <a:solidFill>
                            <a:srgbClr val="1B2E1B"/>
                          </a:solidFill>
                          <a:latin typeface="Calibri" pitchFamily="34" charset="0"/>
                          <a:ea typeface="Calibri" pitchFamily="34" charset="-122"/>
                          <a:cs typeface="Calibri" pitchFamily="34" charset="-120"/>
                        </a:rPr>
                        <a:t>S3</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c>
                  <a:txBody>
                    <a:bodyPr/>
                    <a:lstStyle/>
                    <a:p>
                      <a:pPr indent="0" marL="0">
                        <a:buNone/>
                      </a:pPr>
                      <a:r>
                        <a:rPr lang="en-US" sz="1300" dirty="0">
                          <a:solidFill>
                            <a:srgbClr val="1B2E1B"/>
                          </a:solidFill>
                          <a:latin typeface="Calibri" pitchFamily="34" charset="0"/>
                          <a:ea typeface="Calibri" pitchFamily="34" charset="-122"/>
                          <a:cs typeface="Calibri" pitchFamily="34" charset="-120"/>
                        </a:rPr>
                        <a:t>GB stored + requests</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c>
                  <a:txBody>
                    <a:bodyPr/>
                    <a:lstStyle/>
                    <a:p>
                      <a:pPr indent="0" marL="0">
                        <a:buNone/>
                      </a:pPr>
                      <a:r>
                        <a:rPr lang="en-US" sz="1300" dirty="0">
                          <a:solidFill>
                            <a:srgbClr val="1B2E1B"/>
                          </a:solidFill>
                          <a:latin typeface="Calibri" pitchFamily="34" charset="0"/>
                          <a:ea typeface="Calibri" pitchFamily="34" charset="-122"/>
                          <a:cs typeface="Calibri" pitchFamily="34" charset="-120"/>
                        </a:rPr>
                        <a:t>&lt; 1 MB of files</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r>
              <a:tr h="384048">
                <a:tc>
                  <a:txBody>
                    <a:bodyPr/>
                    <a:lstStyle/>
                    <a:p>
                      <a:pPr indent="0" marL="0">
                        <a:buNone/>
                      </a:pPr>
                      <a:r>
                        <a:rPr lang="en-US" sz="1300" b="1" dirty="0">
                          <a:solidFill>
                            <a:srgbClr val="1B2E1B"/>
                          </a:solidFill>
                          <a:latin typeface="Calibri" pitchFamily="34" charset="0"/>
                          <a:ea typeface="Calibri" pitchFamily="34" charset="-122"/>
                          <a:cs typeface="Calibri" pitchFamily="34" charset="-120"/>
                        </a:rPr>
                        <a:t>CloudWatch</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tc>
                  <a:txBody>
                    <a:bodyPr/>
                    <a:lstStyle/>
                    <a:p>
                      <a:pPr indent="0" marL="0">
                        <a:buNone/>
                      </a:pPr>
                      <a:r>
                        <a:rPr lang="en-US" sz="1300" dirty="0">
                          <a:solidFill>
                            <a:srgbClr val="1B2E1B"/>
                          </a:solidFill>
                          <a:latin typeface="Calibri" pitchFamily="34" charset="0"/>
                          <a:ea typeface="Calibri" pitchFamily="34" charset="-122"/>
                          <a:cs typeface="Calibri" pitchFamily="34" charset="-120"/>
                        </a:rPr>
                        <a:t>GB of logs ingested</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tc>
                  <a:txBody>
                    <a:bodyPr/>
                    <a:lstStyle/>
                    <a:p>
                      <a:pPr indent="0" marL="0">
                        <a:buNone/>
                      </a:pPr>
                      <a:r>
                        <a:rPr lang="en-US" sz="1300" dirty="0">
                          <a:solidFill>
                            <a:srgbClr val="1B2E1B"/>
                          </a:solidFill>
                          <a:latin typeface="Calibri" pitchFamily="34" charset="0"/>
                          <a:ea typeface="Calibri" pitchFamily="34" charset="-122"/>
                          <a:cs typeface="Calibri" pitchFamily="34" charset="-120"/>
                        </a:rPr>
                        <a:t>&lt; 100 MB</a:t>
                      </a:r>
                      <a:endParaRPr lang="en-US" sz="1300" dirty="0">
                        <a:latin typeface="Calibri" charset="0"/>
                        <a:ea typeface="Calibri" charset="0"/>
                        <a:cs typeface="Calibri" charset="0"/>
                      </a:endParaRPr>
                    </a:p>
                  </a:txBody>
                  <a:tcPr marL="109728" marR="109728"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tr>
            </a:tbl>
          </a:graphicData>
        </a:graphic>
      </p:graphicFrame>
      <p:sp>
        <p:nvSpPr>
          <p:cNvPr id="5" name="Shape 2"/>
          <p:cNvSpPr/>
          <p:nvPr/>
        </p:nvSpPr>
        <p:spPr>
          <a:xfrm>
            <a:off x="548640" y="4434840"/>
            <a:ext cx="6035040" cy="777240"/>
          </a:xfrm>
          <a:prstGeom prst="roundRect">
            <a:avLst>
              <a:gd name="adj" fmla="val 9412"/>
            </a:avLst>
          </a:prstGeom>
          <a:solidFill>
            <a:srgbClr val="E8F3EC"/>
          </a:solidFill>
          <a:ln w="12700">
            <a:solidFill>
              <a:srgbClr val="E8F3EC"/>
            </a:solidFill>
            <a:prstDash val="solid"/>
          </a:ln>
        </p:spPr>
      </p:sp>
      <p:sp>
        <p:nvSpPr>
          <p:cNvPr id="6" name="Text 3"/>
          <p:cNvSpPr txBox="1"/>
          <p:nvPr/>
        </p:nvSpPr>
        <p:spPr>
          <a:xfrm>
            <a:off x="777240" y="4498848"/>
            <a:ext cx="5669280" cy="640080"/>
          </a:xfrm>
          <a:prstGeom prst="rect">
            <a:avLst/>
          </a:prstGeom>
          <a:noFill/>
          <a:ln/>
        </p:spPr>
        <p:txBody>
          <a:bodyPr wrap="square" lIns="0" tIns="0" rIns="0" bIns="0" rtlCol="0" anchor="ctr"/>
          <a:lstStyle/>
          <a:p>
            <a:pPr indent="0" marL="0">
              <a:buNone/>
            </a:pPr>
            <a:r>
              <a:rPr lang="en-US" sz="1300" b="1" dirty="0">
                <a:solidFill>
                  <a:srgbClr val="2A7A4A"/>
                </a:solidFill>
                <a:latin typeface="Calibri" pitchFamily="34" charset="0"/>
                <a:ea typeface="Calibri" pitchFamily="34" charset="-122"/>
                <a:cs typeface="Calibri" pitchFamily="34" charset="-120"/>
              </a:rPr>
              <a:t>Estimate: a few dollars per month at most, covered by our course credits. </a:t>
            </a:r>
            <a:pPr indent="0" marL="0">
              <a:buNone/>
            </a:pPr>
            <a:r>
              <a:rPr lang="en-US" sz="1300" dirty="0">
                <a:solidFill>
                  <a:srgbClr val="3E4E3E"/>
                </a:solidFill>
                <a:latin typeface="Calibri" pitchFamily="34" charset="0"/>
                <a:ea typeface="Calibri" pitchFamily="34" charset="-122"/>
                <a:cs typeface="Calibri" pitchFamily="34" charset="-120"/>
              </a:rPr>
              <a:t>To be confirmed with the AWS Pricing Calculator and real billing data.</a:t>
            </a:r>
            <a:endParaRPr lang="en-US" sz="1300" dirty="0"/>
          </a:p>
        </p:txBody>
      </p:sp>
      <p:sp>
        <p:nvSpPr>
          <p:cNvPr id="7" name="Shape 4"/>
          <p:cNvSpPr/>
          <p:nvPr/>
        </p:nvSpPr>
        <p:spPr>
          <a:xfrm>
            <a:off x="548640" y="5349240"/>
            <a:ext cx="6035040" cy="822960"/>
          </a:xfrm>
          <a:prstGeom prst="roundRect">
            <a:avLst>
              <a:gd name="adj" fmla="val 8889"/>
            </a:avLst>
          </a:prstGeom>
          <a:solidFill>
            <a:srgbClr val="FBEFE2"/>
          </a:solidFill>
          <a:ln w="12700">
            <a:solidFill>
              <a:srgbClr val="E8CFA0"/>
            </a:solidFill>
            <a:prstDash val="solid"/>
          </a:ln>
        </p:spPr>
      </p:sp>
      <p:sp>
        <p:nvSpPr>
          <p:cNvPr id="8" name="Text 5"/>
          <p:cNvSpPr txBox="1"/>
          <p:nvPr/>
        </p:nvSpPr>
        <p:spPr>
          <a:xfrm>
            <a:off x="777240" y="5413248"/>
            <a:ext cx="5669280" cy="685800"/>
          </a:xfrm>
          <a:prstGeom prst="rect">
            <a:avLst/>
          </a:prstGeom>
          <a:noFill/>
          <a:ln/>
        </p:spPr>
        <p:txBody>
          <a:bodyPr wrap="square" lIns="0" tIns="0" rIns="0" bIns="0" rtlCol="0" anchor="ctr"/>
          <a:lstStyle/>
          <a:p>
            <a:pPr indent="0" marL="0">
              <a:buNone/>
            </a:pPr>
            <a:r>
              <a:rPr lang="en-US" sz="1300" b="1" dirty="0">
                <a:solidFill>
                  <a:srgbClr val="B05E10"/>
                </a:solidFill>
                <a:latin typeface="Calibri" pitchFamily="34" charset="0"/>
                <a:ea typeface="Calibri" pitchFamily="34" charset="-122"/>
                <a:cs typeface="Calibri" pitchFamily="34" charset="-120"/>
              </a:rPr>
              <a:t>Avoided on purpose: </a:t>
            </a:r>
            <a:pPr indent="0" marL="0">
              <a:buNone/>
            </a:pPr>
            <a:r>
              <a:rPr lang="en-US" sz="1300" dirty="0">
                <a:solidFill>
                  <a:srgbClr val="5A4A3A"/>
                </a:solidFill>
                <a:latin typeface="Calibri" pitchFamily="34" charset="0"/>
                <a:ea typeface="Calibri" pitchFamily="34" charset="-122"/>
                <a:cs typeface="Calibri" pitchFamily="34" charset="-120"/>
              </a:rPr>
              <a:t>NAT Gateway, EC2, RDS and load balancers bill by the hour even when idle.</a:t>
            </a:r>
            <a:endParaRPr lang="en-US" sz="1300" dirty="0"/>
          </a:p>
        </p:txBody>
      </p:sp>
      <p:sp>
        <p:nvSpPr>
          <p:cNvPr id="9" name="Shape 6"/>
          <p:cNvSpPr/>
          <p:nvPr/>
        </p:nvSpPr>
        <p:spPr>
          <a:xfrm>
            <a:off x="6903720" y="1188720"/>
            <a:ext cx="4709160" cy="2331720"/>
          </a:xfrm>
          <a:prstGeom prst="roundRect">
            <a:avLst>
              <a:gd name="adj" fmla="val 3137"/>
            </a:avLst>
          </a:prstGeom>
          <a:solidFill>
            <a:srgbClr val="FFFFFF"/>
          </a:solidFill>
          <a:ln w="12700">
            <a:solidFill>
              <a:srgbClr val="C8D5C8"/>
            </a:solidFill>
            <a:prstDash val="solid"/>
          </a:ln>
        </p:spPr>
      </p:sp>
      <p:sp>
        <p:nvSpPr>
          <p:cNvPr id="10" name="Shape 7"/>
          <p:cNvSpPr/>
          <p:nvPr/>
        </p:nvSpPr>
        <p:spPr>
          <a:xfrm>
            <a:off x="7132320" y="1389888"/>
            <a:ext cx="502920" cy="502920"/>
          </a:xfrm>
          <a:prstGeom prst="ellipse">
            <a:avLst/>
          </a:prstGeom>
          <a:solidFill>
            <a:srgbClr val="3A6888"/>
          </a:solidFill>
          <a:ln w="12700">
            <a:solidFill>
              <a:srgbClr val="3A6888"/>
            </a:solidFill>
            <a:prstDash val="solid"/>
          </a:ln>
        </p:spPr>
      </p:sp>
      <p:pic>
        <p:nvPicPr>
          <p:cNvPr id="11" name="Image 0" descr="preencoded.png">    </p:cNvPr>
          <p:cNvPicPr>
            <a:picLocks noChangeAspect="1"/>
          </p:cNvPicPr>
          <p:nvPr/>
        </p:nvPicPr>
        <p:blipFill>
          <a:blip r:embed="rId1"/>
          <a:stretch>
            <a:fillRect/>
          </a:stretch>
        </p:blipFill>
        <p:spPr>
          <a:xfrm>
            <a:off x="7242048" y="1499616"/>
            <a:ext cx="283464" cy="283464"/>
          </a:xfrm>
          <a:prstGeom prst="rect">
            <a:avLst/>
          </a:prstGeom>
        </p:spPr>
      </p:pic>
      <p:sp>
        <p:nvSpPr>
          <p:cNvPr id="12" name="Text 8"/>
          <p:cNvSpPr txBox="1"/>
          <p:nvPr/>
        </p:nvSpPr>
        <p:spPr>
          <a:xfrm>
            <a:off x="7772400" y="1435608"/>
            <a:ext cx="3657600" cy="411480"/>
          </a:xfrm>
          <a:prstGeom prst="rect">
            <a:avLst/>
          </a:prstGeom>
          <a:noFill/>
          <a:ln/>
        </p:spPr>
        <p:txBody>
          <a:bodyPr wrap="square" lIns="0" tIns="0" rIns="0" bIns="0" rtlCol="0" anchor="ctr"/>
          <a:lstStyle/>
          <a:p>
            <a:pPr indent="0" marL="0">
              <a:buNone/>
            </a:pPr>
            <a:r>
              <a:rPr lang="en-US" sz="1600" b="1" dirty="0">
                <a:solidFill>
                  <a:srgbClr val="3A6888"/>
                </a:solidFill>
                <a:latin typeface="Calibri" pitchFamily="34" charset="0"/>
                <a:ea typeface="Calibri" pitchFamily="34" charset="-122"/>
                <a:cs typeface="Calibri" pitchFamily="34" charset="-120"/>
              </a:rPr>
              <a:t>Scales automatically</a:t>
            </a:r>
            <a:endParaRPr lang="en-US" sz="1600" dirty="0"/>
          </a:p>
        </p:txBody>
      </p:sp>
      <p:sp>
        <p:nvSpPr>
          <p:cNvPr id="13" name="Text 9"/>
          <p:cNvSpPr txBox="1"/>
          <p:nvPr/>
        </p:nvSpPr>
        <p:spPr>
          <a:xfrm>
            <a:off x="7178040" y="2057400"/>
            <a:ext cx="4251960" cy="13258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3E4E3E"/>
                </a:solidFill>
                <a:latin typeface="Calibri" pitchFamily="34" charset="0"/>
                <a:ea typeface="Calibri" pitchFamily="34" charset="-122"/>
                <a:cs typeface="Calibri" pitchFamily="34" charset="-120"/>
              </a:rPr>
              <a:t>API Gateway: default limit of 10,000 requests/s per region</a:t>
            </a:r>
            <a:endParaRPr lang="en-US" sz="1300" dirty="0"/>
          </a:p>
          <a:p>
            <a:pPr marL="342900" indent="-342900">
              <a:spcAft>
                <a:spcPts val="600"/>
              </a:spcAft>
              <a:buSzPct val="100000"/>
              <a:buChar char="•"/>
            </a:pPr>
            <a:r>
              <a:rPr lang="en-US" sz="1300" dirty="0">
                <a:solidFill>
                  <a:srgbClr val="3E4E3E"/>
                </a:solidFill>
                <a:latin typeface="Calibri" pitchFamily="34" charset="0"/>
                <a:ea typeface="Calibri" pitchFamily="34" charset="-122"/>
                <a:cs typeface="Calibri" pitchFamily="34" charset="-120"/>
              </a:rPr>
              <a:t>Lambda: 1,000 concurrent executions by default</a:t>
            </a:r>
            <a:endParaRPr lang="en-US" sz="1300" dirty="0"/>
          </a:p>
          <a:p>
            <a:pPr marL="342900" indent="-342900">
              <a:spcAft>
                <a:spcPts val="600"/>
              </a:spcAft>
              <a:buSzPct val="100000"/>
              <a:buChar char="•"/>
            </a:pPr>
            <a:r>
              <a:rPr lang="en-US" sz="1300" dirty="0">
                <a:solidFill>
                  <a:srgbClr val="3E4E3E"/>
                </a:solidFill>
                <a:latin typeface="Calibri" pitchFamily="34" charset="0"/>
                <a:ea typeface="Calibri" pitchFamily="34" charset="-122"/>
                <a:cs typeface="Calibri" pitchFamily="34" charset="-120"/>
              </a:rPr>
              <a:t>DynamoDB on-demand: capacity follows traffic</a:t>
            </a:r>
            <a:endParaRPr lang="en-US" sz="1300" dirty="0"/>
          </a:p>
        </p:txBody>
      </p:sp>
      <p:sp>
        <p:nvSpPr>
          <p:cNvPr id="14" name="Shape 10"/>
          <p:cNvSpPr/>
          <p:nvPr/>
        </p:nvSpPr>
        <p:spPr>
          <a:xfrm>
            <a:off x="6903720" y="3703320"/>
            <a:ext cx="4709160" cy="2331720"/>
          </a:xfrm>
          <a:prstGeom prst="roundRect">
            <a:avLst>
              <a:gd name="adj" fmla="val 3137"/>
            </a:avLst>
          </a:prstGeom>
          <a:solidFill>
            <a:srgbClr val="FFFFFF"/>
          </a:solidFill>
          <a:ln w="12700">
            <a:solidFill>
              <a:srgbClr val="C8D5C8"/>
            </a:solidFill>
            <a:prstDash val="solid"/>
          </a:ln>
        </p:spPr>
      </p:sp>
      <p:sp>
        <p:nvSpPr>
          <p:cNvPr id="15" name="Shape 11"/>
          <p:cNvSpPr/>
          <p:nvPr/>
        </p:nvSpPr>
        <p:spPr>
          <a:xfrm>
            <a:off x="7132320" y="3904488"/>
            <a:ext cx="502920" cy="502920"/>
          </a:xfrm>
          <a:prstGeom prst="ellipse">
            <a:avLst/>
          </a:prstGeom>
          <a:solidFill>
            <a:srgbClr val="2A7A4A"/>
          </a:solidFill>
          <a:ln w="12700">
            <a:solidFill>
              <a:srgbClr val="2A7A4A"/>
            </a:solidFill>
            <a:prstDash val="solid"/>
          </a:ln>
        </p:spPr>
      </p:sp>
      <p:pic>
        <p:nvPicPr>
          <p:cNvPr id="16" name="Image 1" descr="preencoded.png">    </p:cNvPr>
          <p:cNvPicPr>
            <a:picLocks noChangeAspect="1"/>
          </p:cNvPicPr>
          <p:nvPr/>
        </p:nvPicPr>
        <p:blipFill>
          <a:blip r:embed="rId2"/>
          <a:stretch>
            <a:fillRect/>
          </a:stretch>
        </p:blipFill>
        <p:spPr>
          <a:xfrm>
            <a:off x="7242048" y="4014216"/>
            <a:ext cx="283464" cy="283464"/>
          </a:xfrm>
          <a:prstGeom prst="rect">
            <a:avLst/>
          </a:prstGeom>
        </p:spPr>
      </p:pic>
      <p:sp>
        <p:nvSpPr>
          <p:cNvPr id="17" name="Text 12"/>
          <p:cNvSpPr txBox="1"/>
          <p:nvPr/>
        </p:nvSpPr>
        <p:spPr>
          <a:xfrm>
            <a:off x="7772400" y="3950208"/>
            <a:ext cx="3657600" cy="411480"/>
          </a:xfrm>
          <a:prstGeom prst="rect">
            <a:avLst/>
          </a:prstGeom>
          <a:noFill/>
          <a:ln/>
        </p:spPr>
        <p:txBody>
          <a:bodyPr wrap="square" lIns="0" tIns="0" rIns="0" bIns="0" rtlCol="0" anchor="ctr"/>
          <a:lstStyle/>
          <a:p>
            <a:pPr indent="0" marL="0">
              <a:buNone/>
            </a:pPr>
            <a:r>
              <a:rPr lang="en-US" sz="1600" b="1" dirty="0">
                <a:solidFill>
                  <a:srgbClr val="2A7A4A"/>
                </a:solidFill>
                <a:latin typeface="Calibri" pitchFamily="34" charset="0"/>
                <a:ea typeface="Calibri" pitchFamily="34" charset="-122"/>
                <a:cs typeface="Calibri" pitchFamily="34" charset="-120"/>
              </a:rPr>
              <a:t>Highly available by design</a:t>
            </a:r>
            <a:endParaRPr lang="en-US" sz="1600" dirty="0"/>
          </a:p>
        </p:txBody>
      </p:sp>
      <p:sp>
        <p:nvSpPr>
          <p:cNvPr id="18" name="Text 13"/>
          <p:cNvSpPr txBox="1"/>
          <p:nvPr/>
        </p:nvSpPr>
        <p:spPr>
          <a:xfrm>
            <a:off x="7178040" y="4572000"/>
            <a:ext cx="4251960" cy="13258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3E4E3E"/>
                </a:solidFill>
                <a:latin typeface="Calibri" pitchFamily="34" charset="0"/>
                <a:ea typeface="Calibri" pitchFamily="34" charset="-122"/>
                <a:cs typeface="Calibri" pitchFamily="34" charset="-120"/>
              </a:rPr>
              <a:t>Lambda and API Gateway run across several Availability Zones</a:t>
            </a:r>
            <a:endParaRPr lang="en-US" sz="1300" dirty="0"/>
          </a:p>
          <a:p>
            <a:pPr marL="342900" indent="-342900">
              <a:spcAft>
                <a:spcPts val="600"/>
              </a:spcAft>
              <a:buSzPct val="100000"/>
              <a:buChar char="•"/>
            </a:pPr>
            <a:r>
              <a:rPr lang="en-US" sz="1300" dirty="0">
                <a:solidFill>
                  <a:srgbClr val="3E4E3E"/>
                </a:solidFill>
                <a:latin typeface="Calibri" pitchFamily="34" charset="0"/>
                <a:ea typeface="Calibri" pitchFamily="34" charset="-122"/>
                <a:cs typeface="Calibri" pitchFamily="34" charset="-120"/>
              </a:rPr>
              <a:t>DynamoDB replicates data across three AZs</a:t>
            </a:r>
            <a:endParaRPr lang="en-US" sz="1300" dirty="0"/>
          </a:p>
          <a:p>
            <a:pPr marL="342900" indent="-342900">
              <a:spcAft>
                <a:spcPts val="600"/>
              </a:spcAft>
              <a:buSzPct val="100000"/>
              <a:buChar char="•"/>
            </a:pPr>
            <a:r>
              <a:rPr lang="en-US" sz="1300" dirty="0">
                <a:solidFill>
                  <a:srgbClr val="3E4E3E"/>
                </a:solidFill>
                <a:latin typeface="Calibri" pitchFamily="34" charset="0"/>
                <a:ea typeface="Calibri" pitchFamily="34" charset="-122"/>
                <a:cs typeface="Calibri" pitchFamily="34" charset="-120"/>
              </a:rPr>
              <a:t>Stateless functions: a failed call is simply retried</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5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8961120" y="-1280160"/>
            <a:ext cx="4572000" cy="4572000"/>
          </a:xfrm>
          <a:prstGeom prst="ellipse">
            <a:avLst/>
          </a:prstGeom>
          <a:solidFill>
            <a:srgbClr val="2A7A4A">
              <a:alpha val="40000"/>
            </a:srgbClr>
          </a:solidFill>
          <a:ln w="12700">
            <a:solidFill>
              <a:srgbClr val="2A7A4A">
                <a:alpha val="0"/>
              </a:srgbClr>
            </a:solidFill>
            <a:prstDash val="solid"/>
          </a:ln>
        </p:spPr>
      </p:sp>
      <p:sp>
        <p:nvSpPr>
          <p:cNvPr id="3" name="Text 1"/>
          <p:cNvSpPr txBox="1"/>
          <p:nvPr/>
        </p:nvSpPr>
        <p:spPr>
          <a:xfrm>
            <a:off x="731520" y="822960"/>
            <a:ext cx="9144000" cy="822960"/>
          </a:xfrm>
          <a:prstGeom prst="rect">
            <a:avLst/>
          </a:prstGeom>
          <a:noFill/>
          <a:ln/>
        </p:spPr>
        <p:txBody>
          <a:bodyPr wrap="square" lIns="0" tIns="0" rIns="0" bIns="0" rtlCol="0" anchor="ctr"/>
          <a:lstStyle/>
          <a:p>
            <a:pPr indent="0" marL="0">
              <a:buNone/>
            </a:pPr>
            <a:r>
              <a:rPr lang="en-US" sz="4400" b="1" dirty="0">
                <a:solidFill>
                  <a:srgbClr val="F2F7F2"/>
                </a:solidFill>
                <a:latin typeface="Cambria" pitchFamily="34" charset="0"/>
                <a:ea typeface="Cambria" pitchFamily="34" charset="-122"/>
                <a:cs typeface="Cambria" pitchFamily="34" charset="-120"/>
              </a:rPr>
              <a:t>Architecture ready.</a:t>
            </a:r>
            <a:endParaRPr lang="en-US" sz="4400" dirty="0"/>
          </a:p>
        </p:txBody>
      </p:sp>
      <p:sp>
        <p:nvSpPr>
          <p:cNvPr id="4" name="Text 2"/>
          <p:cNvSpPr txBox="1"/>
          <p:nvPr/>
        </p:nvSpPr>
        <p:spPr>
          <a:xfrm>
            <a:off x="731520" y="1600200"/>
            <a:ext cx="9144000" cy="822960"/>
          </a:xfrm>
          <a:prstGeom prst="rect">
            <a:avLst/>
          </a:prstGeom>
          <a:noFill/>
          <a:ln/>
        </p:spPr>
        <p:txBody>
          <a:bodyPr wrap="square" lIns="0" tIns="0" rIns="0" bIns="0" rtlCol="0" anchor="ctr"/>
          <a:lstStyle/>
          <a:p>
            <a:pPr indent="0" marL="0">
              <a:buNone/>
            </a:pPr>
            <a:r>
              <a:rPr lang="en-US" sz="4400" b="1" dirty="0">
                <a:solidFill>
                  <a:srgbClr val="A8D5B8"/>
                </a:solidFill>
                <a:latin typeface="Cambria" pitchFamily="34" charset="0"/>
                <a:ea typeface="Cambria" pitchFamily="34" charset="-122"/>
                <a:cs typeface="Cambria" pitchFamily="34" charset="-120"/>
              </a:rPr>
              <a:t>Next: implementation.</a:t>
            </a:r>
            <a:endParaRPr lang="en-US" sz="4400" dirty="0"/>
          </a:p>
        </p:txBody>
      </p:sp>
      <p:sp>
        <p:nvSpPr>
          <p:cNvPr id="5" name="Shape 3"/>
          <p:cNvSpPr/>
          <p:nvPr/>
        </p:nvSpPr>
        <p:spPr>
          <a:xfrm>
            <a:off x="731520" y="3017520"/>
            <a:ext cx="3429000" cy="1417320"/>
          </a:xfrm>
          <a:prstGeom prst="roundRect">
            <a:avLst>
              <a:gd name="adj" fmla="val 5161"/>
            </a:avLst>
          </a:prstGeom>
          <a:solidFill>
            <a:srgbClr val="263D26"/>
          </a:solidFill>
          <a:ln w="12700">
            <a:solidFill>
              <a:srgbClr val="4A7A4A"/>
            </a:solidFill>
            <a:prstDash val="solid"/>
          </a:ln>
        </p:spPr>
      </p:sp>
      <p:sp>
        <p:nvSpPr>
          <p:cNvPr id="6" name="Text 4"/>
          <p:cNvSpPr txBox="1"/>
          <p:nvPr/>
        </p:nvSpPr>
        <p:spPr>
          <a:xfrm>
            <a:off x="960120" y="3200400"/>
            <a:ext cx="3017520" cy="365760"/>
          </a:xfrm>
          <a:prstGeom prst="rect">
            <a:avLst/>
          </a:prstGeom>
          <a:noFill/>
          <a:ln/>
        </p:spPr>
        <p:txBody>
          <a:bodyPr wrap="square" lIns="0" tIns="0" rIns="0" bIns="0" rtlCol="0" anchor="ctr"/>
          <a:lstStyle/>
          <a:p>
            <a:pPr indent="0" marL="0">
              <a:buNone/>
            </a:pPr>
            <a:r>
              <a:rPr lang="en-US" sz="1800" b="1" dirty="0">
                <a:solidFill>
                  <a:srgbClr val="A8D5B8"/>
                </a:solidFill>
                <a:latin typeface="Calibri" pitchFamily="34" charset="0"/>
                <a:ea typeface="Calibri" pitchFamily="34" charset="-122"/>
                <a:cs typeface="Calibri" pitchFamily="34" charset="-120"/>
              </a:rPr>
              <a:t>Phase 1 · Done</a:t>
            </a:r>
            <a:endParaRPr lang="en-US" sz="1800" dirty="0"/>
          </a:p>
        </p:txBody>
      </p:sp>
      <p:sp>
        <p:nvSpPr>
          <p:cNvPr id="7" name="Text 5"/>
          <p:cNvSpPr txBox="1"/>
          <p:nvPr/>
        </p:nvSpPr>
        <p:spPr>
          <a:xfrm>
            <a:off x="960120" y="3611880"/>
            <a:ext cx="3017520" cy="1097280"/>
          </a:xfrm>
          <a:prstGeom prst="rect">
            <a:avLst/>
          </a:prstGeom>
          <a:noFill/>
          <a:ln/>
        </p:spPr>
        <p:txBody>
          <a:bodyPr wrap="square" lIns="0" tIns="0" rIns="0" bIns="0" rtlCol="0" anchor="t"/>
          <a:lstStyle/>
          <a:p>
            <a:pPr indent="0" marL="0">
              <a:buNone/>
            </a:pPr>
            <a:r>
              <a:rPr lang="en-US" sz="1400" dirty="0">
                <a:solidFill>
                  <a:srgbClr val="C9DCC9"/>
                </a:solidFill>
                <a:latin typeface="Calibri" pitchFamily="34" charset="0"/>
                <a:ea typeface="Calibri" pitchFamily="34" charset="-122"/>
                <a:cs typeface="Calibri" pitchFamily="34" charset="-120"/>
              </a:rPr>
              <a:t>Requirements extracted from the official PDF; scope and out-of-scope list agreed.</a:t>
            </a:r>
            <a:endParaRPr lang="en-US" sz="1400" dirty="0"/>
          </a:p>
        </p:txBody>
      </p:sp>
      <p:sp>
        <p:nvSpPr>
          <p:cNvPr id="8" name="Shape 6"/>
          <p:cNvSpPr/>
          <p:nvPr/>
        </p:nvSpPr>
        <p:spPr>
          <a:xfrm>
            <a:off x="4389120" y="3017520"/>
            <a:ext cx="3429000" cy="1417320"/>
          </a:xfrm>
          <a:prstGeom prst="roundRect">
            <a:avLst>
              <a:gd name="adj" fmla="val 5161"/>
            </a:avLst>
          </a:prstGeom>
          <a:solidFill>
            <a:srgbClr val="263D26"/>
          </a:solidFill>
          <a:ln w="12700">
            <a:solidFill>
              <a:srgbClr val="4A7A4A"/>
            </a:solidFill>
            <a:prstDash val="solid"/>
          </a:ln>
        </p:spPr>
      </p:sp>
      <p:sp>
        <p:nvSpPr>
          <p:cNvPr id="9" name="Text 7"/>
          <p:cNvSpPr txBox="1"/>
          <p:nvPr/>
        </p:nvSpPr>
        <p:spPr>
          <a:xfrm>
            <a:off x="4617720" y="3200400"/>
            <a:ext cx="3017520" cy="365760"/>
          </a:xfrm>
          <a:prstGeom prst="rect">
            <a:avLst/>
          </a:prstGeom>
          <a:noFill/>
          <a:ln/>
        </p:spPr>
        <p:txBody>
          <a:bodyPr wrap="square" lIns="0" tIns="0" rIns="0" bIns="0" rtlCol="0" anchor="ctr"/>
          <a:lstStyle/>
          <a:p>
            <a:pPr indent="0" marL="0">
              <a:buNone/>
            </a:pPr>
            <a:r>
              <a:rPr lang="en-US" sz="1800" b="1" dirty="0">
                <a:solidFill>
                  <a:srgbClr val="A8D5B8"/>
                </a:solidFill>
                <a:latin typeface="Calibri" pitchFamily="34" charset="0"/>
                <a:ea typeface="Calibri" pitchFamily="34" charset="-122"/>
                <a:cs typeface="Calibri" pitchFamily="34" charset="-120"/>
              </a:rPr>
              <a:t>Phase 2 · Done</a:t>
            </a:r>
            <a:endParaRPr lang="en-US" sz="1800" dirty="0"/>
          </a:p>
        </p:txBody>
      </p:sp>
      <p:sp>
        <p:nvSpPr>
          <p:cNvPr id="10" name="Text 8"/>
          <p:cNvSpPr txBox="1"/>
          <p:nvPr/>
        </p:nvSpPr>
        <p:spPr>
          <a:xfrm>
            <a:off x="4617720" y="3611880"/>
            <a:ext cx="3017520" cy="1097280"/>
          </a:xfrm>
          <a:prstGeom prst="rect">
            <a:avLst/>
          </a:prstGeom>
          <a:noFill/>
          <a:ln/>
        </p:spPr>
        <p:txBody>
          <a:bodyPr wrap="square" lIns="0" tIns="0" rIns="0" bIns="0" rtlCol="0" anchor="t"/>
          <a:lstStyle/>
          <a:p>
            <a:pPr indent="0" marL="0">
              <a:buNone/>
            </a:pPr>
            <a:r>
              <a:rPr lang="en-US" sz="1400" dirty="0">
                <a:solidFill>
                  <a:srgbClr val="C9DCC9"/>
                </a:solidFill>
                <a:latin typeface="Calibri" pitchFamily="34" charset="0"/>
                <a:ea typeface="Calibri" pitchFamily="34" charset="-122"/>
                <a:cs typeface="Calibri" pitchFamily="34" charset="-120"/>
              </a:rPr>
              <a:t>Architecture, AWS services, data model, API and security model designed.</a:t>
            </a:r>
            <a:endParaRPr lang="en-US" sz="1400" dirty="0"/>
          </a:p>
        </p:txBody>
      </p:sp>
      <p:sp>
        <p:nvSpPr>
          <p:cNvPr id="11" name="Shape 9"/>
          <p:cNvSpPr/>
          <p:nvPr/>
        </p:nvSpPr>
        <p:spPr>
          <a:xfrm>
            <a:off x="8046720" y="3017520"/>
            <a:ext cx="3429000" cy="1417320"/>
          </a:xfrm>
          <a:prstGeom prst="roundRect">
            <a:avLst>
              <a:gd name="adj" fmla="val 5161"/>
            </a:avLst>
          </a:prstGeom>
          <a:solidFill>
            <a:srgbClr val="263D26"/>
          </a:solidFill>
          <a:ln w="12700">
            <a:solidFill>
              <a:srgbClr val="4A7A4A"/>
            </a:solidFill>
            <a:prstDash val="solid"/>
          </a:ln>
        </p:spPr>
      </p:sp>
      <p:sp>
        <p:nvSpPr>
          <p:cNvPr id="12" name="Text 10"/>
          <p:cNvSpPr txBox="1"/>
          <p:nvPr/>
        </p:nvSpPr>
        <p:spPr>
          <a:xfrm>
            <a:off x="8275320" y="3200400"/>
            <a:ext cx="3017520" cy="365760"/>
          </a:xfrm>
          <a:prstGeom prst="rect">
            <a:avLst/>
          </a:prstGeom>
          <a:noFill/>
          <a:ln/>
        </p:spPr>
        <p:txBody>
          <a:bodyPr wrap="square" lIns="0" tIns="0" rIns="0" bIns="0" rtlCol="0" anchor="ctr"/>
          <a:lstStyle/>
          <a:p>
            <a:pPr indent="0" marL="0">
              <a:buNone/>
            </a:pPr>
            <a:r>
              <a:rPr lang="en-US" sz="1800" b="1" dirty="0">
                <a:solidFill>
                  <a:srgbClr val="E8C08A"/>
                </a:solidFill>
                <a:latin typeface="Calibri" pitchFamily="34" charset="0"/>
                <a:ea typeface="Calibri" pitchFamily="34" charset="-122"/>
                <a:cs typeface="Calibri" pitchFamily="34" charset="-120"/>
              </a:rPr>
              <a:t>Phase 3 · Next</a:t>
            </a:r>
            <a:endParaRPr lang="en-US" sz="1800" dirty="0"/>
          </a:p>
        </p:txBody>
      </p:sp>
      <p:sp>
        <p:nvSpPr>
          <p:cNvPr id="13" name="Text 11"/>
          <p:cNvSpPr txBox="1"/>
          <p:nvPr/>
        </p:nvSpPr>
        <p:spPr>
          <a:xfrm>
            <a:off x="8275320" y="3611880"/>
            <a:ext cx="3017520" cy="1097280"/>
          </a:xfrm>
          <a:prstGeom prst="rect">
            <a:avLst/>
          </a:prstGeom>
          <a:noFill/>
          <a:ln/>
        </p:spPr>
        <p:txBody>
          <a:bodyPr wrap="square" lIns="0" tIns="0" rIns="0" bIns="0" rtlCol="0" anchor="t"/>
          <a:lstStyle/>
          <a:p>
            <a:pPr indent="0" marL="0">
              <a:buNone/>
            </a:pPr>
            <a:r>
              <a:rPr lang="en-US" sz="1400" dirty="0">
                <a:solidFill>
                  <a:srgbClr val="C9DCC9"/>
                </a:solidFill>
                <a:latin typeface="Calibri" pitchFamily="34" charset="0"/>
                <a:ea typeface="Calibri" pitchFamily="34" charset="-122"/>
                <a:cs typeface="Calibri" pitchFamily="34" charset="-120"/>
              </a:rPr>
              <a:t>Repository structure, README, first Terraform resources, Lambda skeleton.</a:t>
            </a:r>
            <a:endParaRPr lang="en-US" sz="1400" dirty="0"/>
          </a:p>
        </p:txBody>
      </p:sp>
      <p:sp>
        <p:nvSpPr>
          <p:cNvPr id="14" name="Text 12"/>
          <p:cNvSpPr txBox="1"/>
          <p:nvPr/>
        </p:nvSpPr>
        <p:spPr>
          <a:xfrm>
            <a:off x="731520" y="5394960"/>
            <a:ext cx="5486400" cy="548640"/>
          </a:xfrm>
          <a:prstGeom prst="rect">
            <a:avLst/>
          </a:prstGeom>
          <a:noFill/>
          <a:ln/>
        </p:spPr>
        <p:txBody>
          <a:bodyPr wrap="square" lIns="0" tIns="0" rIns="0" bIns="0" rtlCol="0" anchor="ctr"/>
          <a:lstStyle/>
          <a:p>
            <a:pPr indent="0" marL="0">
              <a:buNone/>
            </a:pPr>
            <a:r>
              <a:rPr lang="en-US" sz="2800" i="1" dirty="0">
                <a:solidFill>
                  <a:srgbClr val="E8C08A"/>
                </a:solidFill>
                <a:latin typeface="Cambria" pitchFamily="34" charset="0"/>
                <a:ea typeface="Cambria" pitchFamily="34" charset="-122"/>
                <a:cs typeface="Cambria" pitchFamily="34" charset="-120"/>
              </a:rPr>
              <a:t>Questions?</a:t>
            </a:r>
            <a:endParaRPr lang="en-US" sz="2800" dirty="0"/>
          </a:p>
        </p:txBody>
      </p:sp>
      <p:sp>
        <p:nvSpPr>
          <p:cNvPr id="15" name="Text 13"/>
          <p:cNvSpPr txBox="1"/>
          <p:nvPr/>
        </p:nvSpPr>
        <p:spPr>
          <a:xfrm>
            <a:off x="5943600" y="5532120"/>
            <a:ext cx="5486400" cy="365760"/>
          </a:xfrm>
          <a:prstGeom prst="rect">
            <a:avLst/>
          </a:prstGeom>
          <a:noFill/>
          <a:ln/>
        </p:spPr>
        <p:txBody>
          <a:bodyPr wrap="square" lIns="0" tIns="0" rIns="0" bIns="0" rtlCol="0" anchor="ctr"/>
          <a:lstStyle/>
          <a:p>
            <a:pPr algn="r" indent="0" marL="0">
              <a:buNone/>
            </a:pPr>
            <a:r>
              <a:rPr lang="en-US" sz="1400" dirty="0">
                <a:solidFill>
                  <a:srgbClr val="C9DCC9"/>
                </a:solidFill>
                <a:latin typeface="Calibri" pitchFamily="34" charset="0"/>
                <a:ea typeface="Calibri" pitchFamily="34" charset="-122"/>
                <a:cs typeface="Calibri" pitchFamily="34" charset="-120"/>
              </a:rPr>
              <a:t>Team 4 · Somitha Gudivada · Meha · Madhavan · MD</a:t>
            </a:r>
            <a:endParaRPr lang="en-US" sz="1400" dirty="0"/>
          </a:p>
        </p:txBody>
      </p:sp>
    </p:spTree>
  </p:cSld>
  <p:clrMapOvr>
    <a:masterClrMapping/>
  </p:clrMapOvr>
</p:sld>
</file>

<file path=ppt/theme/theme1.xml><?xml version="1.0" encoding="utf-8"?>
<a:theme xmlns:a="http://schemas.openxmlformats.org/drawingml/2006/main" name="CampusPulse Natural">
  <a:themeElements>
    <a:clrScheme name="CampusPulse Natural">
      <a:dk1>
        <a:srgbClr val="1B2E1B"/>
      </a:dk1>
      <a:lt1>
        <a:srgbClr val="FFFFFF"/>
      </a:lt1>
      <a:dk2>
        <a:srgbClr val="2A7A4A"/>
      </a:dk2>
      <a:lt2>
        <a:srgbClr val="F5F6F1"/>
      </a:lt2>
      <a:accent1>
        <a:srgbClr val="2A7A4A"/>
      </a:accent1>
      <a:accent2>
        <a:srgbClr val="B05E10"/>
      </a:accent2>
      <a:accent3>
        <a:srgbClr val="3A6888"/>
      </a:accent3>
      <a:accent4>
        <a:srgbClr val="6A4898"/>
      </a:accent4>
      <a:accent5>
        <a:srgbClr val="8A2A2A"/>
      </a:accent5>
      <a:accent6>
        <a:srgbClr val="1168B8"/>
      </a:accent6>
      <a:hlink>
        <a:srgbClr val="1168B8"/>
      </a:hlink>
      <a:folHlink>
        <a:srgbClr val="6A4898"/>
      </a:folHlink>
    </a:clrScheme>
    <a:fontScheme name="CampusPulse Natur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CampusPulse 2026 — Architecture</dc:title>
  <dc:subject>PptxGenJS Presentation</dc:subject>
  <dc:creator>Team 4</dc:creator>
  <cp:lastModifiedBy>Team 4</cp:lastModifiedBy>
  <cp:revision>1</cp:revision>
  <dcterms:created xsi:type="dcterms:W3CDTF">2026-10-09T18:06:07Z</dcterms:created>
  <dcterms:modified xsi:type="dcterms:W3CDTF">2026-10-09T18:06:07Z</dcterms:modified>
</cp:coreProperties>
</file>